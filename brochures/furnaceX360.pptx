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7562850" cy="10688638"/>
  <p:notesSz cx="10688638" cy="756285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6" userDrawn="1">
          <p15:clr>
            <a:srgbClr val="A4A3A4"/>
          </p15:clr>
        </p15:guide>
        <p15:guide id="2" pos="238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70" d="100"/>
          <a:sy n="170" d="100"/>
        </p:scale>
        <p:origin x="20" y="-4400"/>
      </p:cViewPr>
      <p:guideLst>
        <p:guide orient="horz" pos="3366"/>
        <p:guide pos="238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kur Karverya" userId="S::akarverya@ingenero.com::16717f05-162e-4c3b-9935-de130faed598" providerId="AD" clId="Web-{634046CE-DC61-EDCB-DE31-D7351BE682C9}"/>
    <pc:docChg chg="modSld">
      <pc:chgData name="Ankur Karverya" userId="S::akarverya@ingenero.com::16717f05-162e-4c3b-9935-de130faed598" providerId="AD" clId="Web-{634046CE-DC61-EDCB-DE31-D7351BE682C9}" dt="2026-08-24T11:21:56.232" v="0" actId="1076"/>
      <pc:docMkLst>
        <pc:docMk/>
      </pc:docMkLst>
      <pc:sldChg chg="modSp">
        <pc:chgData name="Ankur Karverya" userId="S::akarverya@ingenero.com::16717f05-162e-4c3b-9935-de130faed598" providerId="AD" clId="Web-{634046CE-DC61-EDCB-DE31-D7351BE682C9}" dt="2026-08-24T11:21:56.232" v="0" actId="1076"/>
        <pc:sldMkLst>
          <pc:docMk/>
          <pc:sldMk cId="0" sldId="256"/>
        </pc:sldMkLst>
        <pc:spChg chg="mod">
          <ac:chgData name="Ankur Karverya" userId="S::akarverya@ingenero.com::16717f05-162e-4c3b-9935-de130faed598" providerId="AD" clId="Web-{634046CE-DC61-EDCB-DE31-D7351BE682C9}" dt="2026-08-24T11:21:56.232" v="0" actId="1076"/>
          <ac:spMkLst>
            <pc:docMk/>
            <pc:sldMk cId="0" sldId="256"/>
            <ac:spMk id="26" creationId="{00000000-0000-0000-0000-000000000000}"/>
          </ac:spMkLst>
        </pc:spChg>
      </pc:sldChg>
    </pc:docChg>
  </pc:docChgLst>
  <pc:docChgLst>
    <pc:chgData name="Ashish Chandak" userId="S::achandak@ingenero.com::333cb254-d729-460a-ba16-bb709d45848c" providerId="AD" clId="Web-{DC1CBEC5-3961-3307-0411-4595F475FB77}"/>
    <pc:docChg chg="modSld">
      <pc:chgData name="Ashish Chandak" userId="S::achandak@ingenero.com::333cb254-d729-460a-ba16-bb709d45848c" providerId="AD" clId="Web-{DC1CBEC5-3961-3307-0411-4595F475FB77}" dt="2026-08-19T12:03:45.926" v="1" actId="1076"/>
      <pc:docMkLst>
        <pc:docMk/>
      </pc:docMkLst>
      <pc:sldChg chg="modSp">
        <pc:chgData name="Ashish Chandak" userId="S::achandak@ingenero.com::333cb254-d729-460a-ba16-bb709d45848c" providerId="AD" clId="Web-{DC1CBEC5-3961-3307-0411-4595F475FB77}" dt="2026-08-19T12:03:45.926" v="1" actId="1076"/>
        <pc:sldMkLst>
          <pc:docMk/>
          <pc:sldMk cId="0" sldId="256"/>
        </pc:sldMkLst>
        <pc:spChg chg="mod">
          <ac:chgData name="Ashish Chandak" userId="S::achandak@ingenero.com::333cb254-d729-460a-ba16-bb709d45848c" providerId="AD" clId="Web-{DC1CBEC5-3961-3307-0411-4595F475FB77}" dt="2026-08-19T12:03:45.926" v="1" actId="1076"/>
          <ac:spMkLst>
            <pc:docMk/>
            <pc:sldMk cId="0" sldId="256"/>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5125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CokerX360 A4 one-pager. Sections: 01 Unit Configuration, 02 Plant Data and Model Execution, 03 Model Suite (full width, twelve models), 04 Reported Gains and Operator Actions, 05 Platform. Contact name to be filled before issue.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wmf"/><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wmf"/><Relationship Id="rId11" Type="http://schemas.openxmlformats.org/officeDocument/2006/relationships/image" Target="../media/image9.wmf"/><Relationship Id="rId24" Type="http://schemas.openxmlformats.org/officeDocument/2006/relationships/image" Target="../media/image22.wmf"/><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wmf"/><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wmf"/><Relationship Id="rId14" Type="http://schemas.openxmlformats.org/officeDocument/2006/relationships/image" Target="../media/image12.png"/><Relationship Id="rId22"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7562088" cy="947318"/>
          </a:xfrm>
          <a:prstGeom prst="rect">
            <a:avLst/>
          </a:prstGeom>
          <a:solidFill>
            <a:srgbClr val="152232"/>
          </a:solidFill>
          <a:ln/>
        </p:spPr>
        <p:txBody>
          <a:bodyPr/>
          <a:lstStyle/>
          <a:p>
            <a:endParaRPr/>
          </a:p>
        </p:txBody>
      </p:sp>
      <p:sp>
        <p:nvSpPr>
          <p:cNvPr id="5" name="Text 2"/>
          <p:cNvSpPr/>
          <p:nvPr/>
        </p:nvSpPr>
        <p:spPr>
          <a:xfrm>
            <a:off x="-762" y="566928"/>
            <a:ext cx="7562850" cy="237744"/>
          </a:xfrm>
          <a:prstGeom prst="rect">
            <a:avLst/>
          </a:prstGeom>
          <a:noFill/>
          <a:ln/>
        </p:spPr>
        <p:txBody>
          <a:bodyPr wrap="square" lIns="0" tIns="0" rIns="0" bIns="0" rtlCol="0" anchor="t"/>
          <a:lstStyle/>
          <a:p>
            <a:pPr marL="0" indent="0" algn="ctr">
              <a:buNone/>
            </a:pPr>
            <a:r>
              <a:rPr lang="en-US" sz="1000" dirty="0">
                <a:solidFill>
                  <a:srgbClr val="C9D3DF"/>
                </a:solidFill>
                <a:latin typeface="Calibri" pitchFamily="34" charset="0"/>
                <a:ea typeface="Calibri" pitchFamily="34" charset="-122"/>
                <a:cs typeface="Calibri" pitchFamily="34" charset="-120"/>
              </a:rPr>
              <a:t>Predictive decision support for the olefin furnace unit</a:t>
            </a:r>
            <a:endParaRPr lang="en-US" sz="1000" dirty="0"/>
          </a:p>
        </p:txBody>
      </p:sp>
      <p:sp>
        <p:nvSpPr>
          <p:cNvPr id="6" name="Text 3"/>
          <p:cNvSpPr/>
          <p:nvPr/>
        </p:nvSpPr>
        <p:spPr>
          <a:xfrm>
            <a:off x="5359082" y="-23272"/>
            <a:ext cx="2148840" cy="420624"/>
          </a:xfrm>
          <a:prstGeom prst="rect">
            <a:avLst/>
          </a:prstGeom>
          <a:noFill/>
          <a:ln/>
        </p:spPr>
        <p:txBody>
          <a:bodyPr wrap="square" lIns="0" tIns="0" rIns="0" bIns="0" rtlCol="0" anchor="ctr"/>
          <a:lstStyle/>
          <a:p>
            <a:pPr marL="0" indent="0" algn="r">
              <a:lnSpc>
                <a:spcPct val="110000"/>
              </a:lnSpc>
              <a:buNone/>
            </a:pPr>
            <a:r>
              <a:rPr lang="en-US" sz="700" b="1" kern="0" spc="130" dirty="0">
                <a:solidFill>
                  <a:srgbClr val="E87A22"/>
                </a:solidFill>
                <a:latin typeface="Calibri" pitchFamily="34" charset="0"/>
                <a:ea typeface="Calibri" pitchFamily="34" charset="-122"/>
                <a:cs typeface="Calibri" pitchFamily="34" charset="-120"/>
              </a:rPr>
              <a:t>MODULE OF THE</a:t>
            </a:r>
            <a:endParaRPr lang="en-US" sz="700" dirty="0"/>
          </a:p>
          <a:p>
            <a:pPr marL="0" indent="0" algn="r">
              <a:lnSpc>
                <a:spcPct val="110000"/>
              </a:lnSpc>
              <a:buNone/>
            </a:pPr>
            <a:r>
              <a:rPr lang="en-US" sz="700" b="1" kern="0" spc="130" dirty="0">
                <a:solidFill>
                  <a:srgbClr val="E87A22"/>
                </a:solidFill>
                <a:latin typeface="Calibri" pitchFamily="34" charset="0"/>
                <a:ea typeface="Calibri" pitchFamily="34" charset="-122"/>
                <a:cs typeface="Calibri" pitchFamily="34" charset="-120"/>
              </a:rPr>
              <a:t>INGENEROX360 AI SUITE</a:t>
            </a:r>
            <a:endParaRPr lang="en-US" sz="700" dirty="0"/>
          </a:p>
        </p:txBody>
      </p:sp>
      <p:sp>
        <p:nvSpPr>
          <p:cNvPr id="7" name="Text 4"/>
          <p:cNvSpPr/>
          <p:nvPr/>
        </p:nvSpPr>
        <p:spPr>
          <a:xfrm>
            <a:off x="432185" y="966156"/>
            <a:ext cx="6739128" cy="146304"/>
          </a:xfrm>
          <a:prstGeom prst="rect">
            <a:avLst/>
          </a:prstGeom>
          <a:noFill/>
          <a:ln/>
        </p:spPr>
        <p:txBody>
          <a:bodyPr wrap="square" lIns="0" tIns="0" rIns="0" bIns="0" rtlCol="0" anchor="ctr"/>
          <a:lstStyle/>
          <a:p>
            <a:pPr marL="0" indent="0">
              <a:buNone/>
            </a:pPr>
            <a:r>
              <a:rPr lang="en-US" sz="800" b="1" kern="0" spc="140" dirty="0">
                <a:solidFill>
                  <a:srgbClr val="E87A22"/>
                </a:solidFill>
                <a:latin typeface="Calibri" pitchFamily="34" charset="0"/>
                <a:ea typeface="Calibri" pitchFamily="34" charset="-122"/>
                <a:cs typeface="Calibri" pitchFamily="34" charset="-120"/>
              </a:rPr>
              <a:t>PRODUCT OVERVIEW</a:t>
            </a:r>
            <a:endParaRPr lang="en-US" sz="800" dirty="0"/>
          </a:p>
        </p:txBody>
      </p:sp>
      <p:sp>
        <p:nvSpPr>
          <p:cNvPr id="8" name="Text 5"/>
          <p:cNvSpPr/>
          <p:nvPr/>
        </p:nvSpPr>
        <p:spPr>
          <a:xfrm>
            <a:off x="431038" y="1114196"/>
            <a:ext cx="6709410" cy="726034"/>
          </a:xfrm>
          <a:prstGeom prst="rect">
            <a:avLst/>
          </a:prstGeom>
          <a:noFill/>
          <a:ln/>
        </p:spPr>
        <p:txBody>
          <a:bodyPr wrap="square" lIns="0" tIns="0" rIns="0" bIns="0" rtlCol="0" anchor="t"/>
          <a:lstStyle/>
          <a:p>
            <a:pPr algn="just"/>
            <a:r>
              <a:rPr lang="en-US" sz="800" dirty="0">
                <a:solidFill>
                  <a:srgbClr val="56646F"/>
                </a:solidFill>
                <a:latin typeface="Calibri" pitchFamily="34" charset="0"/>
                <a:ea typeface="Calibri" pitchFamily="34" charset="-122"/>
                <a:cs typeface="Calibri" pitchFamily="34" charset="-120"/>
              </a:rPr>
              <a:t>FurnaceX360 is a decision-support application for the Olefin Unit. Domain and ML agents are configured on the unit's own historian and Sensor tag data, covering the Optimization – Overall yield maximization and furnace run length optimization along with the forecast, Furnace critical KPIs calculation, Draft &amp; Damper Optimization, Burner performance optimization, Tube Plugging probability, TLE &amp; convection bank performances and Decoke effectiveness improvement. Output reaches the process engineer as ranked, quantified actions, each reported against the parameter that caused it. Every model agent is configured, validated and commissioned per site by Ingenero process engineers, so the deployment reflects that unit's configuration and operating envelope.</a:t>
            </a:r>
            <a:endParaRPr lang="en-US" sz="800" dirty="0"/>
          </a:p>
          <a:p>
            <a:pPr marL="0" indent="0" algn="just">
              <a:lnSpc>
                <a:spcPct val="100000"/>
              </a:lnSpc>
              <a:buNone/>
            </a:pPr>
            <a:endParaRPr lang="en-US" sz="800" dirty="0"/>
          </a:p>
        </p:txBody>
      </p:sp>
      <p:sp>
        <p:nvSpPr>
          <p:cNvPr id="10" name="Shape 7"/>
          <p:cNvSpPr/>
          <p:nvPr/>
        </p:nvSpPr>
        <p:spPr>
          <a:xfrm>
            <a:off x="411480" y="1773936"/>
            <a:ext cx="3300984" cy="3364992"/>
          </a:xfrm>
          <a:prstGeom prst="roundRect">
            <a:avLst>
              <a:gd name="adj" fmla="val 1108"/>
            </a:avLst>
          </a:prstGeom>
          <a:solidFill>
            <a:srgbClr val="FFFFFF"/>
          </a:solidFill>
          <a:ln w="9525">
            <a:solidFill>
              <a:srgbClr val="DFE5EC"/>
            </a:solidFill>
            <a:prstDash val="solid"/>
          </a:ln>
        </p:spPr>
        <p:txBody>
          <a:bodyPr/>
          <a:lstStyle/>
          <a:p>
            <a:endParaRPr/>
          </a:p>
        </p:txBody>
      </p:sp>
      <p:sp>
        <p:nvSpPr>
          <p:cNvPr id="11" name="Shape 8"/>
          <p:cNvSpPr/>
          <p:nvPr/>
        </p:nvSpPr>
        <p:spPr>
          <a:xfrm>
            <a:off x="576072" y="1865376"/>
            <a:ext cx="237744" cy="237744"/>
          </a:xfrm>
          <a:prstGeom prst="ellipse">
            <a:avLst/>
          </a:prstGeom>
          <a:solidFill>
            <a:srgbClr val="E87A22"/>
          </a:solidFill>
          <a:ln/>
        </p:spPr>
        <p:txBody>
          <a:bodyPr/>
          <a:lstStyle/>
          <a:p>
            <a:endParaRPr/>
          </a:p>
        </p:txBody>
      </p:sp>
      <p:pic>
        <p:nvPicPr>
          <p:cNvPr id="12" name="Image 1" descr="preencoded.png"/>
          <p:cNvPicPr>
            <a:picLocks noChangeAspect="1"/>
          </p:cNvPicPr>
          <p:nvPr/>
        </p:nvPicPr>
        <p:blipFill>
          <a:blip r:embed="rId3"/>
          <a:stretch>
            <a:fillRect/>
          </a:stretch>
        </p:blipFill>
        <p:spPr>
          <a:xfrm>
            <a:off x="635508" y="1924812"/>
            <a:ext cx="133502" cy="133502"/>
          </a:xfrm>
          <a:prstGeom prst="rect">
            <a:avLst/>
          </a:prstGeom>
        </p:spPr>
      </p:pic>
      <p:sp>
        <p:nvSpPr>
          <p:cNvPr id="13" name="Text 9"/>
          <p:cNvSpPr/>
          <p:nvPr/>
        </p:nvSpPr>
        <p:spPr>
          <a:xfrm>
            <a:off x="905256" y="1837944"/>
            <a:ext cx="2642616" cy="292608"/>
          </a:xfrm>
          <a:prstGeom prst="rect">
            <a:avLst/>
          </a:prstGeom>
          <a:noFill/>
          <a:ln/>
        </p:spPr>
        <p:txBody>
          <a:bodyPr wrap="square" lIns="0" tIns="0" rIns="0" bIns="0" rtlCol="0" anchor="ctr"/>
          <a:lstStyle/>
          <a:p>
            <a:pPr marL="0" indent="0">
              <a:buNone/>
            </a:pPr>
            <a:r>
              <a:rPr lang="en-US" sz="800" b="1" kern="0" spc="120">
                <a:solidFill>
                  <a:srgbClr val="E87A22"/>
                </a:solidFill>
                <a:latin typeface="Calibri" pitchFamily="34" charset="0"/>
                <a:ea typeface="Calibri" pitchFamily="34" charset="-122"/>
                <a:cs typeface="Calibri" pitchFamily="34" charset="-120"/>
              </a:rPr>
              <a:t>01   </a:t>
            </a:r>
            <a:r>
              <a:rPr lang="en-US" sz="1050" b="1">
                <a:solidFill>
                  <a:srgbClr val="152232"/>
                </a:solidFill>
                <a:latin typeface="Calibri" pitchFamily="34" charset="0"/>
                <a:ea typeface="Calibri" pitchFamily="34" charset="-122"/>
                <a:cs typeface="Calibri" pitchFamily="34" charset="-120"/>
              </a:rPr>
              <a:t>Unit Configuration</a:t>
            </a:r>
            <a:endParaRPr lang="en-US" sz="800"/>
          </a:p>
        </p:txBody>
      </p:sp>
      <p:sp>
        <p:nvSpPr>
          <p:cNvPr id="14" name="Text 10"/>
          <p:cNvSpPr/>
          <p:nvPr/>
        </p:nvSpPr>
        <p:spPr>
          <a:xfrm>
            <a:off x="905256" y="2093976"/>
            <a:ext cx="2752344" cy="146304"/>
          </a:xfrm>
          <a:prstGeom prst="rect">
            <a:avLst/>
          </a:prstGeom>
          <a:noFill/>
          <a:ln/>
        </p:spPr>
        <p:txBody>
          <a:bodyPr wrap="square" lIns="0" tIns="0" rIns="0" bIns="0" rtlCol="0" anchor="ctr"/>
          <a:lstStyle/>
          <a:p>
            <a:pPr marL="0" indent="0">
              <a:buNone/>
            </a:pPr>
            <a:r>
              <a:rPr lang="en-US" sz="650" i="1" dirty="0">
                <a:solidFill>
                  <a:srgbClr val="56646F"/>
                </a:solidFill>
                <a:latin typeface="Calibri" pitchFamily="34" charset="0"/>
                <a:ea typeface="Calibri" pitchFamily="34" charset="-122"/>
                <a:cs typeface="Calibri" pitchFamily="34" charset="-120"/>
              </a:rPr>
              <a:t>Shown: Olefin furnace suite – interactive configuration, modules and sensor entry</a:t>
            </a:r>
            <a:endParaRPr lang="en-US" sz="650" dirty="0"/>
          </a:p>
        </p:txBody>
      </p:sp>
      <p:sp>
        <p:nvSpPr>
          <p:cNvPr id="19" name="Text 13"/>
          <p:cNvSpPr/>
          <p:nvPr/>
        </p:nvSpPr>
        <p:spPr>
          <a:xfrm>
            <a:off x="594360" y="4498848"/>
            <a:ext cx="676656" cy="146304"/>
          </a:xfrm>
          <a:prstGeom prst="rect">
            <a:avLst/>
          </a:prstGeom>
          <a:noFill/>
          <a:ln/>
        </p:spPr>
        <p:txBody>
          <a:bodyPr wrap="square" lIns="0" tIns="0" rIns="0" bIns="0" rtlCol="0" anchor="ctr"/>
          <a:lstStyle/>
          <a:p>
            <a:pPr marL="0" indent="0">
              <a:lnSpc>
                <a:spcPct val="100000"/>
              </a:lnSpc>
              <a:buNone/>
            </a:pPr>
            <a:r>
              <a:rPr lang="en-US" sz="650" b="1" dirty="0">
                <a:solidFill>
                  <a:srgbClr val="152232"/>
                </a:solidFill>
                <a:latin typeface="Calibri" pitchFamily="34" charset="0"/>
                <a:ea typeface="Calibri" pitchFamily="34" charset="-122"/>
                <a:cs typeface="Calibri" pitchFamily="34" charset="-120"/>
              </a:rPr>
              <a:t>Know Your Case</a:t>
            </a:r>
            <a:endParaRPr lang="en-US" sz="650" dirty="0"/>
          </a:p>
        </p:txBody>
      </p:sp>
      <p:sp>
        <p:nvSpPr>
          <p:cNvPr id="20" name="Text 14"/>
          <p:cNvSpPr/>
          <p:nvPr/>
        </p:nvSpPr>
        <p:spPr>
          <a:xfrm>
            <a:off x="1307592" y="4498848"/>
            <a:ext cx="2267712" cy="173736"/>
          </a:xfrm>
          <a:prstGeom prst="rect">
            <a:avLst/>
          </a:prstGeom>
          <a:noFill/>
          <a:ln/>
        </p:spPr>
        <p:txBody>
          <a:bodyPr wrap="square" lIns="0" tIns="0" rIns="0" bIns="0" rtlCol="0" anchor="ctr"/>
          <a:lstStyle/>
          <a:p>
            <a:pPr marL="0" indent="0">
              <a:lnSpc>
                <a:spcPct val="100000"/>
              </a:lnSpc>
              <a:buNone/>
            </a:pPr>
            <a:r>
              <a:rPr lang="en-US" sz="550" i="1" dirty="0">
                <a:solidFill>
                  <a:srgbClr val="56646F"/>
                </a:solidFill>
                <a:latin typeface="Calibri" pitchFamily="34" charset="0"/>
                <a:ea typeface="Calibri" pitchFamily="34" charset="-122"/>
                <a:cs typeface="Calibri" pitchFamily="34" charset="-120"/>
              </a:rPr>
              <a:t>Configure your furnaces from feed type, radiation, convection, burner and coils </a:t>
            </a:r>
            <a:endParaRPr lang="en-US" sz="550" dirty="0"/>
          </a:p>
        </p:txBody>
      </p:sp>
      <p:sp>
        <p:nvSpPr>
          <p:cNvPr id="21" name="Text 15"/>
          <p:cNvSpPr/>
          <p:nvPr/>
        </p:nvSpPr>
        <p:spPr>
          <a:xfrm>
            <a:off x="594360" y="4645152"/>
            <a:ext cx="676656" cy="146304"/>
          </a:xfrm>
          <a:prstGeom prst="rect">
            <a:avLst/>
          </a:prstGeom>
          <a:noFill/>
          <a:ln/>
        </p:spPr>
        <p:txBody>
          <a:bodyPr wrap="square" lIns="0" tIns="0" rIns="0" bIns="0" rtlCol="0" anchor="ctr"/>
          <a:lstStyle/>
          <a:p>
            <a:pPr marL="0" indent="0">
              <a:lnSpc>
                <a:spcPct val="100000"/>
              </a:lnSpc>
              <a:buNone/>
            </a:pPr>
            <a:r>
              <a:rPr lang="en-US" sz="650" b="1" dirty="0">
                <a:solidFill>
                  <a:srgbClr val="152232"/>
                </a:solidFill>
                <a:latin typeface="Calibri" pitchFamily="34" charset="0"/>
                <a:ea typeface="Calibri" pitchFamily="34" charset="-122"/>
                <a:cs typeface="Calibri" pitchFamily="34" charset="-120"/>
              </a:rPr>
              <a:t>Module Selection</a:t>
            </a:r>
            <a:endParaRPr lang="en-US" sz="650" dirty="0"/>
          </a:p>
        </p:txBody>
      </p:sp>
      <p:sp>
        <p:nvSpPr>
          <p:cNvPr id="22" name="Text 16"/>
          <p:cNvSpPr/>
          <p:nvPr/>
        </p:nvSpPr>
        <p:spPr>
          <a:xfrm>
            <a:off x="1307592" y="4645152"/>
            <a:ext cx="2221992" cy="146304"/>
          </a:xfrm>
          <a:prstGeom prst="rect">
            <a:avLst/>
          </a:prstGeom>
          <a:noFill/>
          <a:ln/>
        </p:spPr>
        <p:txBody>
          <a:bodyPr wrap="square" lIns="0" tIns="0" rIns="0" bIns="0" rtlCol="0" anchor="ctr"/>
          <a:lstStyle/>
          <a:p>
            <a:pPr marL="0" indent="0">
              <a:lnSpc>
                <a:spcPct val="100000"/>
              </a:lnSpc>
              <a:buNone/>
            </a:pPr>
            <a:r>
              <a:rPr lang="en-US" sz="550" i="1" dirty="0">
                <a:solidFill>
                  <a:srgbClr val="56646F"/>
                </a:solidFill>
                <a:latin typeface="Calibri" pitchFamily="34" charset="0"/>
                <a:ea typeface="Calibri" pitchFamily="34" charset="-122"/>
                <a:cs typeface="Calibri" pitchFamily="34" charset="-120"/>
              </a:rPr>
              <a:t>After configuring all furnaces, select the modules – Domain &amp; AI agents</a:t>
            </a:r>
            <a:endParaRPr lang="en-US" sz="550" dirty="0"/>
          </a:p>
        </p:txBody>
      </p:sp>
      <p:sp>
        <p:nvSpPr>
          <p:cNvPr id="23" name="Text 17"/>
          <p:cNvSpPr/>
          <p:nvPr/>
        </p:nvSpPr>
        <p:spPr>
          <a:xfrm>
            <a:off x="594360" y="4791456"/>
            <a:ext cx="676656" cy="146304"/>
          </a:xfrm>
          <a:prstGeom prst="rect">
            <a:avLst/>
          </a:prstGeom>
          <a:noFill/>
          <a:ln/>
        </p:spPr>
        <p:txBody>
          <a:bodyPr wrap="square" lIns="0" tIns="0" rIns="0" bIns="0" rtlCol="0" anchor="ctr"/>
          <a:lstStyle/>
          <a:p>
            <a:pPr marL="0" indent="0">
              <a:lnSpc>
                <a:spcPct val="100000"/>
              </a:lnSpc>
              <a:buNone/>
            </a:pPr>
            <a:r>
              <a:rPr lang="en-US" sz="650" b="1" dirty="0">
                <a:solidFill>
                  <a:srgbClr val="152232"/>
                </a:solidFill>
                <a:latin typeface="Calibri" pitchFamily="34" charset="0"/>
                <a:ea typeface="Calibri" pitchFamily="34" charset="-122"/>
                <a:cs typeface="Calibri" pitchFamily="34" charset="-120"/>
              </a:rPr>
              <a:t>Input Sheet</a:t>
            </a:r>
            <a:endParaRPr lang="en-US" sz="650" dirty="0"/>
          </a:p>
        </p:txBody>
      </p:sp>
      <p:sp>
        <p:nvSpPr>
          <p:cNvPr id="24" name="Text 18"/>
          <p:cNvSpPr/>
          <p:nvPr/>
        </p:nvSpPr>
        <p:spPr>
          <a:xfrm>
            <a:off x="1307592" y="4791456"/>
            <a:ext cx="2359152" cy="141732"/>
          </a:xfrm>
          <a:prstGeom prst="rect">
            <a:avLst/>
          </a:prstGeom>
          <a:noFill/>
          <a:ln/>
        </p:spPr>
        <p:txBody>
          <a:bodyPr wrap="square" lIns="0" tIns="0" rIns="0" bIns="0" rtlCol="0" anchor="ctr"/>
          <a:lstStyle/>
          <a:p>
            <a:pPr marL="0" indent="0">
              <a:lnSpc>
                <a:spcPct val="100000"/>
              </a:lnSpc>
              <a:buNone/>
            </a:pPr>
            <a:r>
              <a:rPr lang="en-US" sz="550" i="1" dirty="0">
                <a:solidFill>
                  <a:srgbClr val="56646F"/>
                </a:solidFill>
                <a:latin typeface="Calibri" pitchFamily="34" charset="0"/>
                <a:ea typeface="Calibri" pitchFamily="34" charset="-122"/>
                <a:cs typeface="Calibri" pitchFamily="34" charset="-120"/>
              </a:rPr>
              <a:t>Based on configuration &amp; Module selection – relevant sensor info needs to be filled</a:t>
            </a:r>
            <a:endParaRPr lang="en-US" sz="550" dirty="0"/>
          </a:p>
        </p:txBody>
      </p:sp>
      <p:sp>
        <p:nvSpPr>
          <p:cNvPr id="25" name="Text 19"/>
          <p:cNvSpPr/>
          <p:nvPr/>
        </p:nvSpPr>
        <p:spPr>
          <a:xfrm>
            <a:off x="594360" y="4937760"/>
            <a:ext cx="676656" cy="146304"/>
          </a:xfrm>
          <a:prstGeom prst="rect">
            <a:avLst/>
          </a:prstGeom>
          <a:noFill/>
          <a:ln/>
        </p:spPr>
        <p:txBody>
          <a:bodyPr wrap="square" lIns="0" tIns="0" rIns="0" bIns="0" rtlCol="0" anchor="ctr"/>
          <a:lstStyle/>
          <a:p>
            <a:pPr marL="0" indent="0">
              <a:lnSpc>
                <a:spcPct val="100000"/>
              </a:lnSpc>
              <a:buNone/>
            </a:pPr>
            <a:r>
              <a:rPr lang="en-US" sz="650" b="1" dirty="0">
                <a:solidFill>
                  <a:srgbClr val="152232"/>
                </a:solidFill>
                <a:latin typeface="Calibri" pitchFamily="34" charset="0"/>
                <a:ea typeface="Calibri" pitchFamily="34" charset="-122"/>
                <a:cs typeface="Calibri" pitchFamily="34" charset="-120"/>
              </a:rPr>
              <a:t>Interactive Config</a:t>
            </a:r>
            <a:endParaRPr lang="en-US" sz="650" dirty="0"/>
          </a:p>
        </p:txBody>
      </p:sp>
      <p:sp>
        <p:nvSpPr>
          <p:cNvPr id="26" name="Text 20"/>
          <p:cNvSpPr/>
          <p:nvPr/>
        </p:nvSpPr>
        <p:spPr>
          <a:xfrm>
            <a:off x="-12548973" y="2657634"/>
            <a:ext cx="2221992" cy="146304"/>
          </a:xfrm>
          <a:prstGeom prst="rect">
            <a:avLst/>
          </a:prstGeom>
          <a:noFill/>
          <a:ln/>
        </p:spPr>
        <p:txBody>
          <a:bodyPr wrap="square" lIns="0" tIns="0" rIns="0" bIns="0" rtlCol="0" anchor="ctr"/>
          <a:lstStyle/>
          <a:p>
            <a:pPr marL="0" indent="0">
              <a:lnSpc>
                <a:spcPct val="100000"/>
              </a:lnSpc>
              <a:buNone/>
            </a:pPr>
            <a:r>
              <a:rPr lang="en-US" sz="550" i="1" dirty="0">
                <a:solidFill>
                  <a:srgbClr val="56646F"/>
                </a:solidFill>
                <a:latin typeface="Calibri" pitchFamily="34" charset="0"/>
                <a:ea typeface="Calibri" pitchFamily="34" charset="-122"/>
                <a:cs typeface="Calibri" pitchFamily="34" charset="-120"/>
              </a:rPr>
              <a:t>Radiation, Convection, Feed header and Saturator interactive PFD available</a:t>
            </a:r>
            <a:endParaRPr lang="en-US" sz="550" dirty="0"/>
          </a:p>
        </p:txBody>
      </p:sp>
      <p:sp>
        <p:nvSpPr>
          <p:cNvPr id="27" name="Shape 21"/>
          <p:cNvSpPr/>
          <p:nvPr/>
        </p:nvSpPr>
        <p:spPr>
          <a:xfrm>
            <a:off x="3849624" y="1773936"/>
            <a:ext cx="3300984" cy="3364992"/>
          </a:xfrm>
          <a:prstGeom prst="roundRect">
            <a:avLst>
              <a:gd name="adj" fmla="val 1108"/>
            </a:avLst>
          </a:prstGeom>
          <a:solidFill>
            <a:srgbClr val="FFFFFF"/>
          </a:solidFill>
          <a:ln w="9525">
            <a:solidFill>
              <a:srgbClr val="DFE5EC"/>
            </a:solidFill>
            <a:prstDash val="solid"/>
          </a:ln>
        </p:spPr>
        <p:txBody>
          <a:bodyPr/>
          <a:lstStyle/>
          <a:p>
            <a:endParaRPr/>
          </a:p>
        </p:txBody>
      </p:sp>
      <p:sp>
        <p:nvSpPr>
          <p:cNvPr id="28" name="Shape 22"/>
          <p:cNvSpPr/>
          <p:nvPr/>
        </p:nvSpPr>
        <p:spPr>
          <a:xfrm>
            <a:off x="4014216" y="1865376"/>
            <a:ext cx="237744" cy="237744"/>
          </a:xfrm>
          <a:prstGeom prst="ellipse">
            <a:avLst/>
          </a:prstGeom>
          <a:solidFill>
            <a:srgbClr val="E87A22"/>
          </a:solidFill>
          <a:ln/>
        </p:spPr>
        <p:txBody>
          <a:bodyPr/>
          <a:lstStyle/>
          <a:p>
            <a:endParaRPr/>
          </a:p>
        </p:txBody>
      </p:sp>
      <p:pic>
        <p:nvPicPr>
          <p:cNvPr id="29" name="Image 4" descr="preencoded.png"/>
          <p:cNvPicPr>
            <a:picLocks noChangeAspect="1"/>
          </p:cNvPicPr>
          <p:nvPr/>
        </p:nvPicPr>
        <p:blipFill>
          <a:blip r:embed="rId4"/>
          <a:stretch>
            <a:fillRect/>
          </a:stretch>
        </p:blipFill>
        <p:spPr>
          <a:xfrm>
            <a:off x="4073652" y="1924812"/>
            <a:ext cx="133502" cy="133502"/>
          </a:xfrm>
          <a:prstGeom prst="rect">
            <a:avLst/>
          </a:prstGeom>
        </p:spPr>
      </p:pic>
      <p:sp>
        <p:nvSpPr>
          <p:cNvPr id="30" name="Text 23"/>
          <p:cNvSpPr/>
          <p:nvPr/>
        </p:nvSpPr>
        <p:spPr>
          <a:xfrm>
            <a:off x="4343400" y="1837944"/>
            <a:ext cx="2642616" cy="292608"/>
          </a:xfrm>
          <a:prstGeom prst="rect">
            <a:avLst/>
          </a:prstGeom>
          <a:noFill/>
          <a:ln/>
        </p:spPr>
        <p:txBody>
          <a:bodyPr wrap="square" lIns="0" tIns="0" rIns="0" bIns="0" rtlCol="0" anchor="ctr"/>
          <a:lstStyle/>
          <a:p>
            <a:pPr marL="0" indent="0">
              <a:buNone/>
            </a:pPr>
            <a:r>
              <a:rPr lang="en-US" sz="800" b="1" kern="0" spc="120">
                <a:solidFill>
                  <a:srgbClr val="E87A22"/>
                </a:solidFill>
                <a:latin typeface="Calibri" pitchFamily="34" charset="0"/>
                <a:ea typeface="Calibri" pitchFamily="34" charset="-122"/>
                <a:cs typeface="Calibri" pitchFamily="34" charset="-120"/>
              </a:rPr>
              <a:t>02   </a:t>
            </a:r>
            <a:r>
              <a:rPr lang="en-US" sz="1050" b="1">
                <a:solidFill>
                  <a:srgbClr val="152232"/>
                </a:solidFill>
                <a:latin typeface="Calibri" pitchFamily="34" charset="0"/>
                <a:ea typeface="Calibri" pitchFamily="34" charset="-122"/>
                <a:cs typeface="Calibri" pitchFamily="34" charset="-120"/>
              </a:rPr>
              <a:t>Plant Data and Model Execution</a:t>
            </a:r>
            <a:endParaRPr lang="en-US" sz="800"/>
          </a:p>
        </p:txBody>
      </p:sp>
      <p:sp>
        <p:nvSpPr>
          <p:cNvPr id="31" name="Text 24"/>
          <p:cNvSpPr/>
          <p:nvPr/>
        </p:nvSpPr>
        <p:spPr>
          <a:xfrm>
            <a:off x="4343400" y="2093976"/>
            <a:ext cx="2734056" cy="138313"/>
          </a:xfrm>
          <a:prstGeom prst="rect">
            <a:avLst/>
          </a:prstGeom>
          <a:noFill/>
          <a:ln/>
        </p:spPr>
        <p:txBody>
          <a:bodyPr wrap="square" lIns="0" tIns="0" rIns="0" bIns="0" rtlCol="0" anchor="ctr"/>
          <a:lstStyle/>
          <a:p>
            <a:pPr marL="0" indent="0">
              <a:buNone/>
            </a:pPr>
            <a:r>
              <a:rPr lang="en-US" sz="650" i="1" dirty="0">
                <a:solidFill>
                  <a:srgbClr val="56646F"/>
                </a:solidFill>
                <a:latin typeface="Calibri" pitchFamily="34" charset="0"/>
                <a:ea typeface="Calibri" pitchFamily="34" charset="-122"/>
                <a:cs typeface="Calibri" pitchFamily="34" charset="-120"/>
              </a:rPr>
              <a:t>Shown: coke thickness &amp; coking model, run length forecast current vs optimum.</a:t>
            </a:r>
            <a:endParaRPr lang="en-US" sz="650" dirty="0"/>
          </a:p>
        </p:txBody>
      </p:sp>
      <p:grpSp>
        <p:nvGrpSpPr>
          <p:cNvPr id="158" name="Group 157"/>
          <p:cNvGrpSpPr/>
          <p:nvPr/>
        </p:nvGrpSpPr>
        <p:grpSpPr>
          <a:xfrm>
            <a:off x="3977428" y="4689285"/>
            <a:ext cx="2632963" cy="390068"/>
            <a:chOff x="4032504" y="4498847"/>
            <a:chExt cx="3615319" cy="438913"/>
          </a:xfrm>
        </p:grpSpPr>
        <p:sp>
          <p:nvSpPr>
            <p:cNvPr id="36" name="Text 27"/>
            <p:cNvSpPr/>
            <p:nvPr/>
          </p:nvSpPr>
          <p:spPr>
            <a:xfrm>
              <a:off x="4032504" y="4498848"/>
              <a:ext cx="676656" cy="146304"/>
            </a:xfrm>
            <a:prstGeom prst="rect">
              <a:avLst/>
            </a:prstGeom>
            <a:noFill/>
            <a:ln/>
          </p:spPr>
          <p:txBody>
            <a:bodyPr wrap="square" lIns="0" tIns="0" rIns="0" bIns="0" rtlCol="0" anchor="ctr"/>
            <a:lstStyle/>
            <a:p>
              <a:pPr marL="0" indent="0">
                <a:lnSpc>
                  <a:spcPct val="100000"/>
                </a:lnSpc>
                <a:buNone/>
              </a:pPr>
              <a:r>
                <a:rPr lang="en-US" sz="650" b="1" dirty="0">
                  <a:solidFill>
                    <a:srgbClr val="152232"/>
                  </a:solidFill>
                  <a:latin typeface="Calibri" pitchFamily="34" charset="0"/>
                  <a:ea typeface="Calibri" pitchFamily="34" charset="-122"/>
                  <a:cs typeface="Calibri" pitchFamily="34" charset="-120"/>
                </a:rPr>
                <a:t>Inputs</a:t>
              </a:r>
              <a:endParaRPr lang="en-US" sz="650" dirty="0"/>
            </a:p>
          </p:txBody>
        </p:sp>
        <p:sp>
          <p:nvSpPr>
            <p:cNvPr id="37" name="Text 28"/>
            <p:cNvSpPr/>
            <p:nvPr/>
          </p:nvSpPr>
          <p:spPr>
            <a:xfrm>
              <a:off x="4745735" y="4498847"/>
              <a:ext cx="2902088" cy="169140"/>
            </a:xfrm>
            <a:prstGeom prst="rect">
              <a:avLst/>
            </a:prstGeom>
            <a:noFill/>
            <a:ln/>
          </p:spPr>
          <p:txBody>
            <a:bodyPr wrap="square" lIns="0" tIns="0" rIns="0" bIns="0" rtlCol="0" anchor="ctr"/>
            <a:lstStyle/>
            <a:p>
              <a:pPr marL="0" indent="0">
                <a:lnSpc>
                  <a:spcPct val="100000"/>
                </a:lnSpc>
                <a:buNone/>
              </a:pPr>
              <a:r>
                <a:rPr lang="en-US" sz="550" i="1" dirty="0">
                  <a:solidFill>
                    <a:srgbClr val="56646F"/>
                  </a:solidFill>
                  <a:latin typeface="Calibri" pitchFamily="34" charset="0"/>
                  <a:ea typeface="Calibri" pitchFamily="34" charset="-122"/>
                  <a:cs typeface="Calibri" pitchFamily="34" charset="-120"/>
                </a:rPr>
                <a:t>Sensor tag entry along with design tag values with configuration details</a:t>
              </a:r>
              <a:endParaRPr lang="en-US" sz="550" dirty="0"/>
            </a:p>
          </p:txBody>
        </p:sp>
        <p:sp>
          <p:nvSpPr>
            <p:cNvPr id="38" name="Text 29"/>
            <p:cNvSpPr/>
            <p:nvPr/>
          </p:nvSpPr>
          <p:spPr>
            <a:xfrm>
              <a:off x="4032504" y="4645152"/>
              <a:ext cx="676656" cy="146304"/>
            </a:xfrm>
            <a:prstGeom prst="rect">
              <a:avLst/>
            </a:prstGeom>
            <a:noFill/>
            <a:ln/>
          </p:spPr>
          <p:txBody>
            <a:bodyPr wrap="square" lIns="0" tIns="0" rIns="0" bIns="0" rtlCol="0" anchor="ctr"/>
            <a:lstStyle/>
            <a:p>
              <a:pPr marL="0" indent="0">
                <a:lnSpc>
                  <a:spcPct val="100000"/>
                </a:lnSpc>
                <a:buNone/>
              </a:pPr>
              <a:r>
                <a:rPr lang="en-US" sz="650" b="1" dirty="0">
                  <a:solidFill>
                    <a:srgbClr val="152232"/>
                  </a:solidFill>
                  <a:latin typeface="Calibri" pitchFamily="34" charset="0"/>
                  <a:ea typeface="Calibri" pitchFamily="34" charset="-122"/>
                  <a:cs typeface="Calibri" pitchFamily="34" charset="-120"/>
                </a:rPr>
                <a:t>Processing</a:t>
              </a:r>
              <a:endParaRPr lang="en-US" sz="650" dirty="0"/>
            </a:p>
          </p:txBody>
        </p:sp>
        <p:sp>
          <p:nvSpPr>
            <p:cNvPr id="39" name="Text 30"/>
            <p:cNvSpPr/>
            <p:nvPr/>
          </p:nvSpPr>
          <p:spPr>
            <a:xfrm>
              <a:off x="4745736" y="4645152"/>
              <a:ext cx="2902087" cy="140269"/>
            </a:xfrm>
            <a:prstGeom prst="rect">
              <a:avLst/>
            </a:prstGeom>
            <a:noFill/>
            <a:ln/>
          </p:spPr>
          <p:txBody>
            <a:bodyPr wrap="square" lIns="0" tIns="0" rIns="0" bIns="0" rtlCol="0" anchor="ctr"/>
            <a:lstStyle/>
            <a:p>
              <a:pPr marL="0" indent="0">
                <a:lnSpc>
                  <a:spcPct val="100000"/>
                </a:lnSpc>
                <a:buNone/>
              </a:pPr>
              <a:r>
                <a:rPr lang="en-US" sz="550" i="1" dirty="0">
                  <a:solidFill>
                    <a:srgbClr val="56646F"/>
                  </a:solidFill>
                  <a:latin typeface="Calibri" pitchFamily="34" charset="0"/>
                  <a:ea typeface="Calibri" pitchFamily="34" charset="-122"/>
                  <a:cs typeface="Calibri" pitchFamily="34" charset="-120"/>
                </a:rPr>
                <a:t>tag validation, steady state framing and furnace run identification</a:t>
              </a:r>
              <a:endParaRPr lang="en-US" sz="550" dirty="0"/>
            </a:p>
          </p:txBody>
        </p:sp>
        <p:sp>
          <p:nvSpPr>
            <p:cNvPr id="40" name="Text 31"/>
            <p:cNvSpPr/>
            <p:nvPr/>
          </p:nvSpPr>
          <p:spPr>
            <a:xfrm>
              <a:off x="4032504" y="4791456"/>
              <a:ext cx="676656" cy="146304"/>
            </a:xfrm>
            <a:prstGeom prst="rect">
              <a:avLst/>
            </a:prstGeom>
            <a:noFill/>
            <a:ln/>
          </p:spPr>
          <p:txBody>
            <a:bodyPr wrap="square" lIns="0" tIns="0" rIns="0" bIns="0" rtlCol="0" anchor="ctr"/>
            <a:lstStyle/>
            <a:p>
              <a:pPr marL="0" indent="0">
                <a:lnSpc>
                  <a:spcPct val="100000"/>
                </a:lnSpc>
                <a:buNone/>
              </a:pPr>
              <a:r>
                <a:rPr lang="en-US" sz="650" b="1">
                  <a:solidFill>
                    <a:srgbClr val="152232"/>
                  </a:solidFill>
                  <a:latin typeface="Calibri" pitchFamily="34" charset="0"/>
                  <a:ea typeface="Calibri" pitchFamily="34" charset="-122"/>
                  <a:cs typeface="Calibri" pitchFamily="34" charset="-120"/>
                </a:rPr>
                <a:t>Outputs</a:t>
              </a:r>
              <a:endParaRPr lang="en-US" sz="650"/>
            </a:p>
          </p:txBody>
        </p:sp>
        <p:sp>
          <p:nvSpPr>
            <p:cNvPr id="41" name="Text 32"/>
            <p:cNvSpPr/>
            <p:nvPr/>
          </p:nvSpPr>
          <p:spPr>
            <a:xfrm>
              <a:off x="4745736" y="4791456"/>
              <a:ext cx="2902087" cy="115436"/>
            </a:xfrm>
            <a:prstGeom prst="rect">
              <a:avLst/>
            </a:prstGeom>
            <a:noFill/>
            <a:ln/>
          </p:spPr>
          <p:txBody>
            <a:bodyPr wrap="square" lIns="0" tIns="0" rIns="0" bIns="0" rtlCol="0" anchor="ctr"/>
            <a:lstStyle/>
            <a:p>
              <a:pPr marL="0" indent="0">
                <a:lnSpc>
                  <a:spcPct val="100000"/>
                </a:lnSpc>
                <a:buNone/>
              </a:pPr>
              <a:r>
                <a:rPr lang="en-US" sz="550" i="1" dirty="0">
                  <a:solidFill>
                    <a:srgbClr val="56646F"/>
                  </a:solidFill>
                  <a:latin typeface="Calibri" pitchFamily="34" charset="0"/>
                  <a:ea typeface="Calibri" pitchFamily="34" charset="-122"/>
                  <a:cs typeface="Calibri" pitchFamily="34" charset="-120"/>
                </a:rPr>
                <a:t>predicted KPIs, ranked actionable with cause, trends, alerts</a:t>
              </a:r>
              <a:endParaRPr lang="en-US" sz="550" dirty="0"/>
            </a:p>
          </p:txBody>
        </p:sp>
      </p:grpSp>
      <p:sp>
        <p:nvSpPr>
          <p:cNvPr id="42" name="Shape 33"/>
          <p:cNvSpPr/>
          <p:nvPr/>
        </p:nvSpPr>
        <p:spPr>
          <a:xfrm>
            <a:off x="411480" y="5202936"/>
            <a:ext cx="6739128" cy="1472184"/>
          </a:xfrm>
          <a:prstGeom prst="roundRect">
            <a:avLst>
              <a:gd name="adj" fmla="val 2484"/>
            </a:avLst>
          </a:prstGeom>
          <a:solidFill>
            <a:srgbClr val="FFFFFF"/>
          </a:solidFill>
          <a:ln w="9525">
            <a:solidFill>
              <a:srgbClr val="DFE5EC"/>
            </a:solidFill>
            <a:prstDash val="solid"/>
          </a:ln>
        </p:spPr>
        <p:txBody>
          <a:bodyPr/>
          <a:lstStyle/>
          <a:p>
            <a:endParaRPr/>
          </a:p>
        </p:txBody>
      </p:sp>
      <p:sp>
        <p:nvSpPr>
          <p:cNvPr id="43" name="Shape 34"/>
          <p:cNvSpPr/>
          <p:nvPr/>
        </p:nvSpPr>
        <p:spPr>
          <a:xfrm>
            <a:off x="576072" y="5294376"/>
            <a:ext cx="237744" cy="237744"/>
          </a:xfrm>
          <a:prstGeom prst="ellipse">
            <a:avLst/>
          </a:prstGeom>
          <a:solidFill>
            <a:srgbClr val="E87A22"/>
          </a:solidFill>
          <a:ln/>
        </p:spPr>
        <p:txBody>
          <a:bodyPr/>
          <a:lstStyle/>
          <a:p>
            <a:endParaRPr/>
          </a:p>
        </p:txBody>
      </p:sp>
      <p:pic>
        <p:nvPicPr>
          <p:cNvPr id="44" name="Image 7" descr="preencoded.png"/>
          <p:cNvPicPr>
            <a:picLocks noChangeAspect="1"/>
          </p:cNvPicPr>
          <p:nvPr/>
        </p:nvPicPr>
        <p:blipFill>
          <a:blip r:embed="rId5"/>
          <a:stretch>
            <a:fillRect/>
          </a:stretch>
        </p:blipFill>
        <p:spPr>
          <a:xfrm>
            <a:off x="635508" y="5353812"/>
            <a:ext cx="133502" cy="133502"/>
          </a:xfrm>
          <a:prstGeom prst="rect">
            <a:avLst/>
          </a:prstGeom>
        </p:spPr>
      </p:pic>
      <p:sp>
        <p:nvSpPr>
          <p:cNvPr id="45" name="Text 35"/>
          <p:cNvSpPr/>
          <p:nvPr/>
        </p:nvSpPr>
        <p:spPr>
          <a:xfrm>
            <a:off x="905256" y="5266944"/>
            <a:ext cx="6080760" cy="292608"/>
          </a:xfrm>
          <a:prstGeom prst="rect">
            <a:avLst/>
          </a:prstGeom>
          <a:noFill/>
          <a:ln/>
        </p:spPr>
        <p:txBody>
          <a:bodyPr wrap="square" lIns="0" tIns="0" rIns="0" bIns="0" rtlCol="0" anchor="ctr"/>
          <a:lstStyle/>
          <a:p>
            <a:r>
              <a:rPr lang="en-US" sz="800" b="1" kern="0" spc="120">
                <a:solidFill>
                  <a:srgbClr val="E87A22"/>
                </a:solidFill>
                <a:latin typeface="Calibri" pitchFamily="34" charset="0"/>
                <a:ea typeface="Calibri" pitchFamily="34" charset="-122"/>
                <a:cs typeface="Calibri" pitchFamily="34" charset="-120"/>
              </a:rPr>
              <a:t>03   </a:t>
            </a:r>
            <a:r>
              <a:rPr lang="en-US" sz="1050" b="1">
                <a:solidFill>
                  <a:srgbClr val="152232"/>
                </a:solidFill>
                <a:latin typeface="Calibri" pitchFamily="34" charset="0"/>
                <a:ea typeface="Calibri" pitchFamily="34" charset="-122"/>
                <a:cs typeface="Calibri" pitchFamily="34" charset="-120"/>
              </a:rPr>
              <a:t>AI-Powered Model Agent Suite</a:t>
            </a:r>
            <a:endParaRPr lang="en-US" sz="800"/>
          </a:p>
        </p:txBody>
      </p:sp>
      <p:sp>
        <p:nvSpPr>
          <p:cNvPr id="46" name="Text 36"/>
          <p:cNvSpPr/>
          <p:nvPr/>
        </p:nvSpPr>
        <p:spPr>
          <a:xfrm>
            <a:off x="905256" y="5522976"/>
            <a:ext cx="2896493" cy="164592"/>
          </a:xfrm>
          <a:prstGeom prst="rect">
            <a:avLst/>
          </a:prstGeom>
          <a:noFill/>
          <a:ln/>
        </p:spPr>
        <p:txBody>
          <a:bodyPr wrap="square" lIns="0" tIns="0" rIns="0" bIns="0" rtlCol="0" anchor="ctr"/>
          <a:lstStyle/>
          <a:p>
            <a:pPr marL="0" indent="0">
              <a:buNone/>
            </a:pPr>
            <a:r>
              <a:rPr lang="en-US" sz="650" i="1" dirty="0">
                <a:solidFill>
                  <a:srgbClr val="56646F"/>
                </a:solidFill>
                <a:latin typeface="Calibri" pitchFamily="34" charset="0"/>
                <a:ea typeface="Calibri" pitchFamily="34" charset="-122"/>
                <a:cs typeface="Calibri" pitchFamily="34" charset="-120"/>
              </a:rPr>
              <a:t>Agent/Module selection shared along with detailing of the olefin specific details </a:t>
            </a:r>
            <a:endParaRPr lang="en-US" sz="650" dirty="0"/>
          </a:p>
        </p:txBody>
      </p:sp>
      <p:sp>
        <p:nvSpPr>
          <p:cNvPr id="47" name="Shape 37"/>
          <p:cNvSpPr/>
          <p:nvPr/>
        </p:nvSpPr>
        <p:spPr>
          <a:xfrm>
            <a:off x="557784" y="5712714"/>
            <a:ext cx="3099816" cy="141732"/>
          </a:xfrm>
          <a:prstGeom prst="rect">
            <a:avLst/>
          </a:prstGeom>
          <a:solidFill>
            <a:srgbClr val="F7F9FB"/>
          </a:solidFill>
          <a:ln w="3175">
            <a:solidFill>
              <a:srgbClr val="F7F9FB"/>
            </a:solidFill>
            <a:prstDash val="solid"/>
          </a:ln>
        </p:spPr>
        <p:txBody>
          <a:bodyPr/>
          <a:lstStyle/>
          <a:p>
            <a:endParaRPr/>
          </a:p>
        </p:txBody>
      </p:sp>
      <p:sp>
        <p:nvSpPr>
          <p:cNvPr id="903" name="Shape 60"/>
          <p:cNvSpPr/>
          <p:nvPr/>
        </p:nvSpPr>
        <p:spPr>
          <a:xfrm>
            <a:off x="557784" y="6487668"/>
            <a:ext cx="3099816" cy="141732"/>
          </a:xfrm>
          <a:prstGeom prst="rect">
            <a:avLst/>
          </a:prstGeom>
          <a:solidFill>
            <a:srgbClr val="F7F9FB"/>
          </a:solidFill>
          <a:ln w="3175">
            <a:solidFill>
              <a:srgbClr val="F7F9FB"/>
            </a:solidFill>
            <a:prstDash val="solid"/>
          </a:ln>
        </p:spPr>
        <p:txBody>
          <a:bodyPr/>
          <a:lstStyle/>
          <a:p>
            <a:endParaRPr/>
          </a:p>
        </p:txBody>
      </p:sp>
      <p:pic>
        <p:nvPicPr>
          <p:cNvPr id="48" name="Image 8" descr="preencoded.png"/>
          <p:cNvPicPr>
            <a:picLocks noChangeAspect="1"/>
          </p:cNvPicPr>
          <p:nvPr/>
        </p:nvPicPr>
        <p:blipFill>
          <a:blip r:embed="rId6"/>
          <a:stretch>
            <a:fillRect/>
          </a:stretch>
        </p:blipFill>
        <p:spPr>
          <a:xfrm>
            <a:off x="630936" y="5732831"/>
            <a:ext cx="105156" cy="105156"/>
          </a:xfrm>
          <a:prstGeom prst="rect">
            <a:avLst/>
          </a:prstGeom>
        </p:spPr>
      </p:pic>
      <p:sp>
        <p:nvSpPr>
          <p:cNvPr id="49" name="Text 38"/>
          <p:cNvSpPr/>
          <p:nvPr/>
        </p:nvSpPr>
        <p:spPr>
          <a:xfrm>
            <a:off x="786384" y="5712714"/>
            <a:ext cx="969264" cy="141732"/>
          </a:xfrm>
          <a:prstGeom prst="rect">
            <a:avLst/>
          </a:prstGeom>
          <a:noFill/>
          <a:ln/>
        </p:spPr>
        <p:txBody>
          <a:bodyPr wrap="square" lIns="0" tIns="0" rIns="0" bIns="0" rtlCol="0" anchor="ctr"/>
          <a:lstStyle/>
          <a:p>
            <a:pPr marL="0" indent="0">
              <a:lnSpc>
                <a:spcPct val="100000"/>
              </a:lnSpc>
              <a:buNone/>
            </a:pPr>
            <a:r>
              <a:rPr lang="en-US" sz="600" b="1" dirty="0">
                <a:solidFill>
                  <a:srgbClr val="152232"/>
                </a:solidFill>
                <a:latin typeface="Calibri" pitchFamily="34" charset="0"/>
                <a:ea typeface="Calibri" pitchFamily="34" charset="-122"/>
                <a:cs typeface="Calibri" pitchFamily="34" charset="-120"/>
              </a:rPr>
              <a:t>Thermal &amp; Fuel Efficiency</a:t>
            </a:r>
            <a:endParaRPr lang="en-US" sz="600" dirty="0"/>
          </a:p>
        </p:txBody>
      </p:sp>
      <p:sp>
        <p:nvSpPr>
          <p:cNvPr id="50" name="Text 39"/>
          <p:cNvSpPr/>
          <p:nvPr/>
        </p:nvSpPr>
        <p:spPr>
          <a:xfrm>
            <a:off x="1792224" y="5712714"/>
            <a:ext cx="1938528" cy="141732"/>
          </a:xfrm>
          <a:prstGeom prst="rect">
            <a:avLst/>
          </a:prstGeom>
          <a:noFill/>
          <a:ln/>
        </p:spPr>
        <p:txBody>
          <a:bodyPr wrap="square" lIns="0" tIns="0" rIns="0" bIns="0" rtlCol="0" anchor="ctr"/>
          <a:lstStyle/>
          <a:p>
            <a:pPr marL="0" indent="0">
              <a:lnSpc>
                <a:spcPct val="100000"/>
              </a:lnSpc>
              <a:buNone/>
            </a:pPr>
            <a:r>
              <a:rPr lang="en-US" sz="500" i="1" dirty="0">
                <a:solidFill>
                  <a:srgbClr val="56646F"/>
                </a:solidFill>
                <a:latin typeface="Calibri" pitchFamily="34" charset="0"/>
                <a:ea typeface="Calibri" pitchFamily="34" charset="-122"/>
                <a:cs typeface="Calibri" pitchFamily="34" charset="-120"/>
              </a:rPr>
              <a:t>Helps to compare the energy efficiency among the furnaces.</a:t>
            </a:r>
            <a:endParaRPr lang="en-US" sz="500" dirty="0"/>
          </a:p>
        </p:txBody>
      </p:sp>
      <p:pic>
        <p:nvPicPr>
          <p:cNvPr id="51" name="Image 9" descr="preencoded.png"/>
          <p:cNvPicPr>
            <a:picLocks noChangeAspect="1"/>
          </p:cNvPicPr>
          <p:nvPr/>
        </p:nvPicPr>
        <p:blipFill>
          <a:blip r:embed="rId7"/>
          <a:stretch>
            <a:fillRect/>
          </a:stretch>
        </p:blipFill>
        <p:spPr>
          <a:xfrm>
            <a:off x="630936" y="5861990"/>
            <a:ext cx="105156" cy="105156"/>
          </a:xfrm>
          <a:prstGeom prst="rect">
            <a:avLst/>
          </a:prstGeom>
        </p:spPr>
      </p:pic>
      <p:sp>
        <p:nvSpPr>
          <p:cNvPr id="52" name="Text 40"/>
          <p:cNvSpPr/>
          <p:nvPr/>
        </p:nvSpPr>
        <p:spPr>
          <a:xfrm>
            <a:off x="786384" y="5841873"/>
            <a:ext cx="969264" cy="141732"/>
          </a:xfrm>
          <a:prstGeom prst="rect">
            <a:avLst/>
          </a:prstGeom>
          <a:noFill/>
          <a:ln/>
        </p:spPr>
        <p:txBody>
          <a:bodyPr wrap="square" lIns="0" tIns="0" rIns="0" bIns="0" rtlCol="0" anchor="ctr"/>
          <a:lstStyle/>
          <a:p>
            <a:pPr marL="0" indent="0">
              <a:lnSpc>
                <a:spcPct val="100000"/>
              </a:lnSpc>
              <a:buNone/>
            </a:pPr>
            <a:r>
              <a:rPr lang="en-US" sz="600" b="1" dirty="0">
                <a:solidFill>
                  <a:srgbClr val="152232"/>
                </a:solidFill>
                <a:latin typeface="Calibri" pitchFamily="34" charset="0"/>
                <a:ea typeface="Calibri" pitchFamily="34" charset="-122"/>
                <a:cs typeface="Calibri" pitchFamily="34" charset="-120"/>
              </a:rPr>
              <a:t>Environment KPIs</a:t>
            </a:r>
            <a:endParaRPr lang="en-US" sz="600" dirty="0"/>
          </a:p>
        </p:txBody>
      </p:sp>
      <p:sp>
        <p:nvSpPr>
          <p:cNvPr id="53" name="Text 41"/>
          <p:cNvSpPr/>
          <p:nvPr/>
        </p:nvSpPr>
        <p:spPr>
          <a:xfrm>
            <a:off x="1792224" y="5841873"/>
            <a:ext cx="1938528" cy="141732"/>
          </a:xfrm>
          <a:prstGeom prst="rect">
            <a:avLst/>
          </a:prstGeom>
          <a:noFill/>
          <a:ln/>
        </p:spPr>
        <p:txBody>
          <a:bodyPr wrap="square" lIns="0" tIns="0" rIns="0" bIns="0" rtlCol="0" anchor="ctr"/>
          <a:lstStyle/>
          <a:p>
            <a:pPr marL="0" indent="0">
              <a:lnSpc>
                <a:spcPct val="100000"/>
              </a:lnSpc>
              <a:buNone/>
            </a:pPr>
            <a:r>
              <a:rPr lang="en-US" sz="500" i="1" dirty="0">
                <a:solidFill>
                  <a:srgbClr val="56646F"/>
                </a:solidFill>
                <a:latin typeface="Calibri" pitchFamily="34" charset="0"/>
                <a:ea typeface="Calibri" pitchFamily="34" charset="-122"/>
                <a:cs typeface="Calibri" pitchFamily="34" charset="-120"/>
              </a:rPr>
              <a:t>Estimate thermal and fuel NOx and warns for higher limit breach.</a:t>
            </a:r>
            <a:endParaRPr lang="en-US" sz="500" dirty="0"/>
          </a:p>
        </p:txBody>
      </p:sp>
      <p:sp>
        <p:nvSpPr>
          <p:cNvPr id="54" name="Shape 42"/>
          <p:cNvSpPr/>
          <p:nvPr/>
        </p:nvSpPr>
        <p:spPr>
          <a:xfrm>
            <a:off x="557784" y="5971032"/>
            <a:ext cx="3099816" cy="141732"/>
          </a:xfrm>
          <a:prstGeom prst="rect">
            <a:avLst/>
          </a:prstGeom>
          <a:solidFill>
            <a:srgbClr val="F7F9FB"/>
          </a:solidFill>
          <a:ln w="3175">
            <a:solidFill>
              <a:srgbClr val="F7F9FB"/>
            </a:solidFill>
            <a:prstDash val="solid"/>
          </a:ln>
        </p:spPr>
        <p:txBody>
          <a:bodyPr/>
          <a:lstStyle/>
          <a:p>
            <a:endParaRPr/>
          </a:p>
        </p:txBody>
      </p:sp>
      <p:pic>
        <p:nvPicPr>
          <p:cNvPr id="55" name="Image 10" descr="preencoded.png"/>
          <p:cNvPicPr>
            <a:picLocks noChangeAspect="1"/>
          </p:cNvPicPr>
          <p:nvPr/>
        </p:nvPicPr>
        <p:blipFill>
          <a:blip r:embed="rId8"/>
          <a:stretch>
            <a:fillRect/>
          </a:stretch>
        </p:blipFill>
        <p:spPr>
          <a:xfrm>
            <a:off x="630936" y="5991149"/>
            <a:ext cx="105156" cy="105156"/>
          </a:xfrm>
          <a:prstGeom prst="rect">
            <a:avLst/>
          </a:prstGeom>
        </p:spPr>
      </p:pic>
      <p:sp>
        <p:nvSpPr>
          <p:cNvPr id="56" name="Text 43"/>
          <p:cNvSpPr/>
          <p:nvPr/>
        </p:nvSpPr>
        <p:spPr>
          <a:xfrm>
            <a:off x="786384" y="5971032"/>
            <a:ext cx="969264" cy="141732"/>
          </a:xfrm>
          <a:prstGeom prst="rect">
            <a:avLst/>
          </a:prstGeom>
          <a:noFill/>
          <a:ln/>
        </p:spPr>
        <p:txBody>
          <a:bodyPr wrap="square" lIns="0" tIns="0" rIns="0" bIns="0" rtlCol="0" anchor="ctr"/>
          <a:lstStyle/>
          <a:p>
            <a:pPr marL="0" indent="0">
              <a:lnSpc>
                <a:spcPct val="100000"/>
              </a:lnSpc>
              <a:buNone/>
            </a:pPr>
            <a:r>
              <a:rPr lang="en-US" sz="600" b="1" dirty="0">
                <a:solidFill>
                  <a:srgbClr val="152232"/>
                </a:solidFill>
                <a:latin typeface="Calibri" pitchFamily="34" charset="0"/>
                <a:ea typeface="Calibri" pitchFamily="34" charset="-122"/>
                <a:cs typeface="Calibri" pitchFamily="34" charset="-120"/>
              </a:rPr>
              <a:t>Decoke Efficiency</a:t>
            </a:r>
            <a:endParaRPr lang="en-US" sz="600" dirty="0"/>
          </a:p>
        </p:txBody>
      </p:sp>
      <p:sp>
        <p:nvSpPr>
          <p:cNvPr id="57" name="Text 44"/>
          <p:cNvSpPr/>
          <p:nvPr/>
        </p:nvSpPr>
        <p:spPr>
          <a:xfrm>
            <a:off x="1792224" y="5971032"/>
            <a:ext cx="1938528" cy="141732"/>
          </a:xfrm>
          <a:prstGeom prst="rect">
            <a:avLst/>
          </a:prstGeom>
          <a:noFill/>
          <a:ln/>
        </p:spPr>
        <p:txBody>
          <a:bodyPr wrap="square" lIns="0" tIns="0" rIns="0" bIns="0" rtlCol="0" anchor="ctr"/>
          <a:lstStyle/>
          <a:p>
            <a:pPr marL="0" indent="0">
              <a:lnSpc>
                <a:spcPct val="100000"/>
              </a:lnSpc>
              <a:buNone/>
            </a:pPr>
            <a:r>
              <a:rPr lang="en-US" sz="500" i="1" dirty="0">
                <a:solidFill>
                  <a:srgbClr val="56646F"/>
                </a:solidFill>
                <a:latin typeface="Calibri" pitchFamily="34" charset="0"/>
                <a:cs typeface="Calibri" pitchFamily="34" charset="-120"/>
              </a:rPr>
              <a:t>Provide efficient decoke tracking and suggestions for improvement</a:t>
            </a:r>
            <a:endParaRPr lang="en-US" sz="500" dirty="0"/>
          </a:p>
        </p:txBody>
      </p:sp>
      <p:pic>
        <p:nvPicPr>
          <p:cNvPr id="58" name="Image 11" descr="preencoded.png"/>
          <p:cNvPicPr>
            <a:picLocks noChangeAspect="1"/>
          </p:cNvPicPr>
          <p:nvPr/>
        </p:nvPicPr>
        <p:blipFill>
          <a:blip r:embed="rId9"/>
          <a:stretch>
            <a:fillRect/>
          </a:stretch>
        </p:blipFill>
        <p:spPr>
          <a:xfrm>
            <a:off x="630936" y="6120308"/>
            <a:ext cx="105156" cy="105156"/>
          </a:xfrm>
          <a:prstGeom prst="rect">
            <a:avLst/>
          </a:prstGeom>
        </p:spPr>
      </p:pic>
      <p:sp>
        <p:nvSpPr>
          <p:cNvPr id="59" name="Text 45"/>
          <p:cNvSpPr/>
          <p:nvPr/>
        </p:nvSpPr>
        <p:spPr>
          <a:xfrm>
            <a:off x="786384" y="6100191"/>
            <a:ext cx="969264" cy="141732"/>
          </a:xfrm>
          <a:prstGeom prst="rect">
            <a:avLst/>
          </a:prstGeom>
          <a:noFill/>
          <a:ln/>
        </p:spPr>
        <p:txBody>
          <a:bodyPr wrap="square" lIns="0" tIns="0" rIns="0" bIns="0" rtlCol="0" anchor="ctr"/>
          <a:lstStyle/>
          <a:p>
            <a:pPr marL="0" indent="0">
              <a:lnSpc>
                <a:spcPct val="100000"/>
              </a:lnSpc>
              <a:buNone/>
            </a:pPr>
            <a:r>
              <a:rPr lang="en-US" sz="600" b="1" dirty="0">
                <a:solidFill>
                  <a:srgbClr val="152232"/>
                </a:solidFill>
                <a:latin typeface="Calibri" pitchFamily="34" charset="0"/>
                <a:ea typeface="Calibri" pitchFamily="34" charset="-122"/>
                <a:cs typeface="Calibri" pitchFamily="34" charset="-120"/>
              </a:rPr>
              <a:t>Tube Plugging</a:t>
            </a:r>
            <a:endParaRPr lang="en-US" sz="600" dirty="0"/>
          </a:p>
        </p:txBody>
      </p:sp>
      <p:sp>
        <p:nvSpPr>
          <p:cNvPr id="60" name="Text 46"/>
          <p:cNvSpPr/>
          <p:nvPr/>
        </p:nvSpPr>
        <p:spPr>
          <a:xfrm>
            <a:off x="1792224" y="6100191"/>
            <a:ext cx="1938528" cy="141732"/>
          </a:xfrm>
          <a:prstGeom prst="rect">
            <a:avLst/>
          </a:prstGeom>
          <a:noFill/>
          <a:ln/>
        </p:spPr>
        <p:txBody>
          <a:bodyPr wrap="square" lIns="0" tIns="0" rIns="0" bIns="0" rtlCol="0" anchor="ctr"/>
          <a:lstStyle/>
          <a:p>
            <a:pPr marL="0" indent="0">
              <a:lnSpc>
                <a:spcPct val="100000"/>
              </a:lnSpc>
              <a:buNone/>
            </a:pPr>
            <a:r>
              <a:rPr lang="en-US" sz="500" i="1" dirty="0">
                <a:solidFill>
                  <a:srgbClr val="56646F"/>
                </a:solidFill>
                <a:latin typeface="Calibri" pitchFamily="34" charset="0"/>
                <a:ea typeface="Calibri" pitchFamily="34" charset="-122"/>
                <a:cs typeface="Calibri" pitchFamily="34" charset="-120"/>
              </a:rPr>
              <a:t>Estimates plugged tubes and warns early for the corrective action.</a:t>
            </a:r>
            <a:endParaRPr lang="en-US" sz="500" dirty="0"/>
          </a:p>
        </p:txBody>
      </p:sp>
      <p:sp>
        <p:nvSpPr>
          <p:cNvPr id="61" name="Shape 47"/>
          <p:cNvSpPr/>
          <p:nvPr/>
        </p:nvSpPr>
        <p:spPr>
          <a:xfrm>
            <a:off x="557784" y="6229350"/>
            <a:ext cx="3099816" cy="141732"/>
          </a:xfrm>
          <a:prstGeom prst="rect">
            <a:avLst/>
          </a:prstGeom>
          <a:solidFill>
            <a:srgbClr val="F7F9FB"/>
          </a:solidFill>
          <a:ln w="3175">
            <a:solidFill>
              <a:srgbClr val="F7F9FB"/>
            </a:solidFill>
            <a:prstDash val="solid"/>
          </a:ln>
        </p:spPr>
        <p:txBody>
          <a:bodyPr/>
          <a:lstStyle/>
          <a:p>
            <a:endParaRPr/>
          </a:p>
        </p:txBody>
      </p:sp>
      <p:pic>
        <p:nvPicPr>
          <p:cNvPr id="62" name="Image 12" descr="preencoded.png"/>
          <p:cNvPicPr>
            <a:picLocks noChangeAspect="1"/>
          </p:cNvPicPr>
          <p:nvPr/>
        </p:nvPicPr>
        <p:blipFill>
          <a:blip r:embed="rId10"/>
          <a:stretch>
            <a:fillRect/>
          </a:stretch>
        </p:blipFill>
        <p:spPr>
          <a:xfrm>
            <a:off x="630936" y="6249467"/>
            <a:ext cx="105156" cy="105156"/>
          </a:xfrm>
          <a:prstGeom prst="rect">
            <a:avLst/>
          </a:prstGeom>
        </p:spPr>
      </p:pic>
      <p:sp>
        <p:nvSpPr>
          <p:cNvPr id="63" name="Text 48"/>
          <p:cNvSpPr/>
          <p:nvPr/>
        </p:nvSpPr>
        <p:spPr>
          <a:xfrm>
            <a:off x="786384" y="6229350"/>
            <a:ext cx="969264" cy="141732"/>
          </a:xfrm>
          <a:prstGeom prst="rect">
            <a:avLst/>
          </a:prstGeom>
          <a:noFill/>
          <a:ln/>
        </p:spPr>
        <p:txBody>
          <a:bodyPr wrap="square" lIns="0" tIns="0" rIns="0" bIns="0" rtlCol="0" anchor="ctr"/>
          <a:lstStyle/>
          <a:p>
            <a:pPr marL="0" indent="0">
              <a:lnSpc>
                <a:spcPct val="100000"/>
              </a:lnSpc>
              <a:buNone/>
            </a:pPr>
            <a:r>
              <a:rPr lang="en-US" sz="600" b="1" dirty="0">
                <a:solidFill>
                  <a:srgbClr val="152232"/>
                </a:solidFill>
                <a:latin typeface="Calibri" pitchFamily="34" charset="0"/>
                <a:ea typeface="Calibri" pitchFamily="34" charset="-122"/>
                <a:cs typeface="Calibri" pitchFamily="34" charset="-120"/>
              </a:rPr>
              <a:t>Run Length Forecasting</a:t>
            </a:r>
            <a:endParaRPr lang="en-US" sz="600" dirty="0"/>
          </a:p>
        </p:txBody>
      </p:sp>
      <p:sp>
        <p:nvSpPr>
          <p:cNvPr id="64" name="Text 49"/>
          <p:cNvSpPr/>
          <p:nvPr/>
        </p:nvSpPr>
        <p:spPr>
          <a:xfrm>
            <a:off x="1792224" y="6229350"/>
            <a:ext cx="1938528" cy="141732"/>
          </a:xfrm>
          <a:prstGeom prst="rect">
            <a:avLst/>
          </a:prstGeom>
          <a:noFill/>
          <a:ln/>
        </p:spPr>
        <p:txBody>
          <a:bodyPr wrap="square" lIns="0" tIns="0" rIns="0" bIns="0" rtlCol="0" anchor="ctr"/>
          <a:lstStyle/>
          <a:p>
            <a:pPr marL="0" indent="0">
              <a:lnSpc>
                <a:spcPct val="100000"/>
              </a:lnSpc>
              <a:buNone/>
            </a:pPr>
            <a:r>
              <a:rPr lang="en-US" sz="500" i="1" dirty="0">
                <a:solidFill>
                  <a:srgbClr val="56646F"/>
                </a:solidFill>
                <a:latin typeface="Calibri" pitchFamily="34" charset="0"/>
                <a:ea typeface="Calibri" pitchFamily="34" charset="-122"/>
                <a:cs typeface="Calibri" pitchFamily="34" charset="-120"/>
              </a:rPr>
              <a:t>Forecasted value helps to do decoke scheduling along with biasing option</a:t>
            </a:r>
            <a:endParaRPr lang="en-US" sz="500" dirty="0"/>
          </a:p>
        </p:txBody>
      </p:sp>
      <p:pic>
        <p:nvPicPr>
          <p:cNvPr id="65" name="Image 13" descr="preencoded.png"/>
          <p:cNvPicPr>
            <a:picLocks noChangeAspect="1"/>
          </p:cNvPicPr>
          <p:nvPr/>
        </p:nvPicPr>
        <p:blipFill>
          <a:blip r:embed="rId11"/>
          <a:stretch>
            <a:fillRect/>
          </a:stretch>
        </p:blipFill>
        <p:spPr>
          <a:xfrm>
            <a:off x="630936" y="6378626"/>
            <a:ext cx="105156" cy="105156"/>
          </a:xfrm>
          <a:prstGeom prst="rect">
            <a:avLst/>
          </a:prstGeom>
        </p:spPr>
      </p:pic>
      <p:sp>
        <p:nvSpPr>
          <p:cNvPr id="66" name="Text 50"/>
          <p:cNvSpPr/>
          <p:nvPr/>
        </p:nvSpPr>
        <p:spPr>
          <a:xfrm>
            <a:off x="786384" y="6358509"/>
            <a:ext cx="969264" cy="141732"/>
          </a:xfrm>
          <a:prstGeom prst="rect">
            <a:avLst/>
          </a:prstGeom>
          <a:noFill/>
          <a:ln/>
        </p:spPr>
        <p:txBody>
          <a:bodyPr wrap="square" lIns="0" tIns="0" rIns="0" bIns="0" rtlCol="0" anchor="ctr"/>
          <a:lstStyle/>
          <a:p>
            <a:pPr marL="0" indent="0">
              <a:lnSpc>
                <a:spcPct val="100000"/>
              </a:lnSpc>
              <a:buNone/>
            </a:pPr>
            <a:r>
              <a:rPr lang="en-US" sz="600" b="1" dirty="0">
                <a:solidFill>
                  <a:srgbClr val="152232"/>
                </a:solidFill>
                <a:latin typeface="Calibri" pitchFamily="34" charset="0"/>
                <a:ea typeface="Calibri" pitchFamily="34" charset="-122"/>
                <a:cs typeface="Calibri" pitchFamily="34" charset="-120"/>
              </a:rPr>
              <a:t>Feed Planner</a:t>
            </a:r>
            <a:endParaRPr lang="en-US" sz="600" dirty="0"/>
          </a:p>
        </p:txBody>
      </p:sp>
      <p:sp>
        <p:nvSpPr>
          <p:cNvPr id="67" name="Text 51"/>
          <p:cNvSpPr/>
          <p:nvPr/>
        </p:nvSpPr>
        <p:spPr>
          <a:xfrm>
            <a:off x="1792224" y="6358509"/>
            <a:ext cx="1938528" cy="141732"/>
          </a:xfrm>
          <a:prstGeom prst="rect">
            <a:avLst/>
          </a:prstGeom>
          <a:noFill/>
          <a:ln/>
        </p:spPr>
        <p:txBody>
          <a:bodyPr wrap="square" lIns="0" tIns="0" rIns="0" bIns="0" rtlCol="0" anchor="ctr"/>
          <a:lstStyle/>
          <a:p>
            <a:pPr marL="0" indent="0">
              <a:lnSpc>
                <a:spcPct val="100000"/>
              </a:lnSpc>
              <a:buNone/>
            </a:pPr>
            <a:r>
              <a:rPr lang="en-US" sz="500" i="1" dirty="0">
                <a:solidFill>
                  <a:srgbClr val="56646F"/>
                </a:solidFill>
                <a:latin typeface="Calibri" pitchFamily="34" charset="0"/>
                <a:ea typeface="Calibri" pitchFamily="34" charset="-122"/>
                <a:cs typeface="Calibri" pitchFamily="34" charset="-120"/>
              </a:rPr>
              <a:t>Helps to plan feed based on future feed availability</a:t>
            </a:r>
            <a:endParaRPr lang="en-US" sz="500" dirty="0"/>
          </a:p>
        </p:txBody>
      </p:sp>
      <p:sp>
        <p:nvSpPr>
          <p:cNvPr id="89" name="Shape 67"/>
          <p:cNvSpPr/>
          <p:nvPr/>
        </p:nvSpPr>
        <p:spPr>
          <a:xfrm>
            <a:off x="411480" y="6739128"/>
            <a:ext cx="6739128" cy="2167128"/>
          </a:xfrm>
          <a:prstGeom prst="roundRect">
            <a:avLst>
              <a:gd name="adj" fmla="val 1688"/>
            </a:avLst>
          </a:prstGeom>
          <a:solidFill>
            <a:srgbClr val="FFFFFF"/>
          </a:solidFill>
          <a:ln w="9525">
            <a:solidFill>
              <a:srgbClr val="DFE5EC"/>
            </a:solidFill>
            <a:prstDash val="solid"/>
          </a:ln>
        </p:spPr>
        <p:txBody>
          <a:bodyPr/>
          <a:lstStyle/>
          <a:p>
            <a:endParaRPr/>
          </a:p>
        </p:txBody>
      </p:sp>
      <p:sp>
        <p:nvSpPr>
          <p:cNvPr id="90" name="Shape 68"/>
          <p:cNvSpPr/>
          <p:nvPr/>
        </p:nvSpPr>
        <p:spPr>
          <a:xfrm>
            <a:off x="576072" y="6830568"/>
            <a:ext cx="237744" cy="237744"/>
          </a:xfrm>
          <a:prstGeom prst="ellipse">
            <a:avLst/>
          </a:prstGeom>
          <a:solidFill>
            <a:srgbClr val="E87A22"/>
          </a:solidFill>
          <a:ln/>
        </p:spPr>
        <p:txBody>
          <a:bodyPr/>
          <a:lstStyle/>
          <a:p>
            <a:endParaRPr/>
          </a:p>
        </p:txBody>
      </p:sp>
      <p:pic>
        <p:nvPicPr>
          <p:cNvPr id="91" name="Image 20" descr="preencoded.png"/>
          <p:cNvPicPr>
            <a:picLocks noChangeAspect="1"/>
          </p:cNvPicPr>
          <p:nvPr/>
        </p:nvPicPr>
        <p:blipFill>
          <a:blip r:embed="rId12"/>
          <a:stretch>
            <a:fillRect/>
          </a:stretch>
        </p:blipFill>
        <p:spPr>
          <a:xfrm>
            <a:off x="635508" y="6890004"/>
            <a:ext cx="133502" cy="133502"/>
          </a:xfrm>
          <a:prstGeom prst="rect">
            <a:avLst/>
          </a:prstGeom>
        </p:spPr>
      </p:pic>
      <p:sp>
        <p:nvSpPr>
          <p:cNvPr id="92" name="Text 69"/>
          <p:cNvSpPr/>
          <p:nvPr/>
        </p:nvSpPr>
        <p:spPr>
          <a:xfrm>
            <a:off x="905256" y="6803136"/>
            <a:ext cx="6080760" cy="292608"/>
          </a:xfrm>
          <a:prstGeom prst="rect">
            <a:avLst/>
          </a:prstGeom>
          <a:noFill/>
          <a:ln/>
        </p:spPr>
        <p:txBody>
          <a:bodyPr wrap="square" lIns="0" tIns="0" rIns="0" bIns="0" rtlCol="0" anchor="ctr"/>
          <a:lstStyle/>
          <a:p>
            <a:pPr marL="0" indent="0">
              <a:buNone/>
            </a:pPr>
            <a:r>
              <a:rPr lang="en-US" sz="800" b="1" kern="0" spc="120">
                <a:solidFill>
                  <a:srgbClr val="E87A22"/>
                </a:solidFill>
                <a:latin typeface="Calibri" pitchFamily="34" charset="0"/>
                <a:ea typeface="Calibri" pitchFamily="34" charset="-122"/>
                <a:cs typeface="Calibri" pitchFamily="34" charset="-120"/>
              </a:rPr>
              <a:t>04   </a:t>
            </a:r>
            <a:r>
              <a:rPr lang="en-US" sz="1050" b="1">
                <a:solidFill>
                  <a:srgbClr val="152232"/>
                </a:solidFill>
                <a:latin typeface="Calibri" pitchFamily="34" charset="0"/>
                <a:ea typeface="Calibri" pitchFamily="34" charset="-122"/>
                <a:cs typeface="Calibri" pitchFamily="34" charset="-120"/>
              </a:rPr>
              <a:t>Opportunity and Operator Actions</a:t>
            </a:r>
            <a:endParaRPr lang="en-US" sz="800"/>
          </a:p>
        </p:txBody>
      </p:sp>
      <p:grpSp>
        <p:nvGrpSpPr>
          <p:cNvPr id="149" name="Group 148"/>
          <p:cNvGrpSpPr/>
          <p:nvPr/>
        </p:nvGrpSpPr>
        <p:grpSpPr>
          <a:xfrm>
            <a:off x="542691" y="8412480"/>
            <a:ext cx="6543909" cy="300354"/>
            <a:chOff x="594360" y="8321040"/>
            <a:chExt cx="6373368" cy="292608"/>
          </a:xfrm>
        </p:grpSpPr>
        <p:sp>
          <p:nvSpPr>
            <p:cNvPr id="97" name="Shape 72"/>
            <p:cNvSpPr/>
            <p:nvPr/>
          </p:nvSpPr>
          <p:spPr>
            <a:xfrm>
              <a:off x="594360" y="8321040"/>
              <a:ext cx="2057400" cy="292608"/>
            </a:xfrm>
            <a:prstGeom prst="roundRect">
              <a:avLst>
                <a:gd name="adj" fmla="val 9375"/>
              </a:avLst>
            </a:prstGeom>
            <a:solidFill>
              <a:srgbClr val="FAFBFD"/>
            </a:solidFill>
            <a:ln w="9525">
              <a:solidFill>
                <a:srgbClr val="DFE5EC"/>
              </a:solidFill>
              <a:prstDash val="solid"/>
            </a:ln>
          </p:spPr>
          <p:txBody>
            <a:bodyPr/>
            <a:lstStyle/>
            <a:p>
              <a:endParaRPr/>
            </a:p>
          </p:txBody>
        </p:sp>
        <p:sp>
          <p:nvSpPr>
            <p:cNvPr id="98" name="Text 73"/>
            <p:cNvSpPr/>
            <p:nvPr/>
          </p:nvSpPr>
          <p:spPr>
            <a:xfrm>
              <a:off x="704088" y="8321040"/>
              <a:ext cx="530352" cy="292608"/>
            </a:xfrm>
            <a:prstGeom prst="rect">
              <a:avLst/>
            </a:prstGeom>
            <a:noFill/>
            <a:ln/>
          </p:spPr>
          <p:txBody>
            <a:bodyPr wrap="square" lIns="0" tIns="0" rIns="0" bIns="0" rtlCol="0" anchor="ctr"/>
            <a:lstStyle/>
            <a:p>
              <a:pPr marL="0" indent="0">
                <a:buNone/>
              </a:pPr>
              <a:r>
                <a:rPr lang="en-US" sz="1050" b="1" dirty="0">
                  <a:solidFill>
                    <a:srgbClr val="E87A22"/>
                  </a:solidFill>
                  <a:latin typeface="Calibri" pitchFamily="34" charset="0"/>
                  <a:ea typeface="Calibri" pitchFamily="34" charset="-122"/>
                  <a:cs typeface="Calibri" pitchFamily="34" charset="-120"/>
                </a:rPr>
                <a:t>+1-2%</a:t>
              </a:r>
              <a:endParaRPr lang="en-US" sz="1050" dirty="0"/>
            </a:p>
          </p:txBody>
        </p:sp>
        <p:sp>
          <p:nvSpPr>
            <p:cNvPr id="99" name="Text 74"/>
            <p:cNvSpPr/>
            <p:nvPr/>
          </p:nvSpPr>
          <p:spPr>
            <a:xfrm>
              <a:off x="1271016" y="8362188"/>
              <a:ext cx="1298448" cy="128016"/>
            </a:xfrm>
            <a:prstGeom prst="rect">
              <a:avLst/>
            </a:prstGeom>
            <a:noFill/>
            <a:ln/>
          </p:spPr>
          <p:txBody>
            <a:bodyPr wrap="square" lIns="0" tIns="0" rIns="0" bIns="0" rtlCol="0" anchor="ctr"/>
            <a:lstStyle/>
            <a:p>
              <a:pPr marL="0" indent="0">
                <a:buNone/>
              </a:pPr>
              <a:r>
                <a:rPr lang="en-US" sz="650" b="1" dirty="0">
                  <a:solidFill>
                    <a:srgbClr val="152232"/>
                  </a:solidFill>
                  <a:latin typeface="Calibri" pitchFamily="34" charset="0"/>
                  <a:ea typeface="Calibri" pitchFamily="34" charset="-122"/>
                  <a:cs typeface="Calibri" pitchFamily="34" charset="-120"/>
                </a:rPr>
                <a:t>Overall Ethylene Yield</a:t>
              </a:r>
              <a:endParaRPr lang="en-US" sz="650" dirty="0"/>
            </a:p>
          </p:txBody>
        </p:sp>
        <p:sp>
          <p:nvSpPr>
            <p:cNvPr id="100" name="Text 75"/>
            <p:cNvSpPr/>
            <p:nvPr/>
          </p:nvSpPr>
          <p:spPr>
            <a:xfrm>
              <a:off x="1271016" y="8481060"/>
              <a:ext cx="1298448" cy="118872"/>
            </a:xfrm>
            <a:prstGeom prst="rect">
              <a:avLst/>
            </a:prstGeom>
            <a:noFill/>
            <a:ln/>
          </p:spPr>
          <p:txBody>
            <a:bodyPr wrap="square" lIns="0" tIns="0" rIns="0" bIns="0" rtlCol="0" anchor="ctr"/>
            <a:lstStyle/>
            <a:p>
              <a:pPr marL="0" indent="0">
                <a:buNone/>
              </a:pPr>
              <a:r>
                <a:rPr lang="en-US" sz="550" dirty="0">
                  <a:solidFill>
                    <a:srgbClr val="56646F"/>
                  </a:solidFill>
                  <a:latin typeface="Calibri" pitchFamily="34" charset="0"/>
                  <a:ea typeface="Calibri" pitchFamily="34" charset="-122"/>
                  <a:cs typeface="Calibri" pitchFamily="34" charset="-120"/>
                </a:rPr>
                <a:t>from overall furnace system optimization</a:t>
              </a:r>
              <a:endParaRPr lang="en-US" sz="550" dirty="0"/>
            </a:p>
          </p:txBody>
        </p:sp>
        <p:sp>
          <p:nvSpPr>
            <p:cNvPr id="101" name="Shape 76"/>
            <p:cNvSpPr/>
            <p:nvPr/>
          </p:nvSpPr>
          <p:spPr>
            <a:xfrm>
              <a:off x="2752344" y="8321040"/>
              <a:ext cx="2057400" cy="292608"/>
            </a:xfrm>
            <a:prstGeom prst="roundRect">
              <a:avLst>
                <a:gd name="adj" fmla="val 9375"/>
              </a:avLst>
            </a:prstGeom>
            <a:solidFill>
              <a:srgbClr val="FAFBFD"/>
            </a:solidFill>
            <a:ln w="9525">
              <a:solidFill>
                <a:srgbClr val="DFE5EC"/>
              </a:solidFill>
              <a:prstDash val="solid"/>
            </a:ln>
          </p:spPr>
          <p:txBody>
            <a:bodyPr/>
            <a:lstStyle/>
            <a:p>
              <a:endParaRPr/>
            </a:p>
          </p:txBody>
        </p:sp>
        <p:sp>
          <p:nvSpPr>
            <p:cNvPr id="102" name="Text 77"/>
            <p:cNvSpPr/>
            <p:nvPr/>
          </p:nvSpPr>
          <p:spPr>
            <a:xfrm>
              <a:off x="2862072" y="8321040"/>
              <a:ext cx="530352" cy="292608"/>
            </a:xfrm>
            <a:prstGeom prst="rect">
              <a:avLst/>
            </a:prstGeom>
            <a:noFill/>
            <a:ln/>
          </p:spPr>
          <p:txBody>
            <a:bodyPr wrap="square" lIns="0" tIns="0" rIns="0" bIns="0" rtlCol="0" anchor="ctr"/>
            <a:lstStyle/>
            <a:p>
              <a:pPr marL="0" indent="0">
                <a:buNone/>
              </a:pPr>
              <a:r>
                <a:rPr lang="en-US" sz="1050" b="1" dirty="0">
                  <a:solidFill>
                    <a:srgbClr val="E87A22"/>
                  </a:solidFill>
                  <a:latin typeface="Calibri" pitchFamily="34" charset="0"/>
                  <a:ea typeface="Calibri" pitchFamily="34" charset="-122"/>
                  <a:cs typeface="Calibri" pitchFamily="34" charset="-120"/>
                </a:rPr>
                <a:t>+10%</a:t>
              </a:r>
              <a:endParaRPr lang="en-US" sz="1050" dirty="0"/>
            </a:p>
          </p:txBody>
        </p:sp>
        <p:sp>
          <p:nvSpPr>
            <p:cNvPr id="103" name="Text 78"/>
            <p:cNvSpPr/>
            <p:nvPr/>
          </p:nvSpPr>
          <p:spPr>
            <a:xfrm>
              <a:off x="3429000" y="8362188"/>
              <a:ext cx="1298448" cy="128016"/>
            </a:xfrm>
            <a:prstGeom prst="rect">
              <a:avLst/>
            </a:prstGeom>
            <a:noFill/>
            <a:ln/>
          </p:spPr>
          <p:txBody>
            <a:bodyPr wrap="square" lIns="0" tIns="0" rIns="0" bIns="0" rtlCol="0" anchor="ctr"/>
            <a:lstStyle/>
            <a:p>
              <a:pPr marL="0" indent="0">
                <a:buNone/>
              </a:pPr>
              <a:r>
                <a:rPr lang="en-US" sz="650" b="1" dirty="0">
                  <a:solidFill>
                    <a:srgbClr val="152232"/>
                  </a:solidFill>
                  <a:latin typeface="Calibri" pitchFamily="34" charset="0"/>
                  <a:ea typeface="Calibri" pitchFamily="34" charset="-122"/>
                  <a:cs typeface="Calibri" pitchFamily="34" charset="-120"/>
                </a:rPr>
                <a:t>Furnace run length</a:t>
              </a:r>
              <a:endParaRPr lang="en-US" sz="650" dirty="0"/>
            </a:p>
          </p:txBody>
        </p:sp>
        <p:sp>
          <p:nvSpPr>
            <p:cNvPr id="104" name="Text 79"/>
            <p:cNvSpPr/>
            <p:nvPr/>
          </p:nvSpPr>
          <p:spPr>
            <a:xfrm>
              <a:off x="3429000" y="8481060"/>
              <a:ext cx="1298448" cy="118872"/>
            </a:xfrm>
            <a:prstGeom prst="rect">
              <a:avLst/>
            </a:prstGeom>
            <a:noFill/>
            <a:ln/>
          </p:spPr>
          <p:txBody>
            <a:bodyPr wrap="square" lIns="0" tIns="0" rIns="0" bIns="0" rtlCol="0" anchor="ctr"/>
            <a:lstStyle/>
            <a:p>
              <a:pPr marL="0" indent="0">
                <a:buNone/>
              </a:pPr>
              <a:r>
                <a:rPr lang="en-US" sz="550" dirty="0">
                  <a:solidFill>
                    <a:srgbClr val="56646F"/>
                  </a:solidFill>
                  <a:latin typeface="Calibri" pitchFamily="34" charset="0"/>
                  <a:ea typeface="Calibri" pitchFamily="34" charset="-122"/>
                  <a:cs typeface="Calibri" pitchFamily="34" charset="-120"/>
                </a:rPr>
                <a:t>optimum feed and COT adjustment</a:t>
              </a:r>
              <a:endParaRPr lang="en-US" sz="550" dirty="0"/>
            </a:p>
          </p:txBody>
        </p:sp>
        <p:sp>
          <p:nvSpPr>
            <p:cNvPr id="105" name="Shape 80"/>
            <p:cNvSpPr/>
            <p:nvPr/>
          </p:nvSpPr>
          <p:spPr>
            <a:xfrm>
              <a:off x="4910328" y="8321040"/>
              <a:ext cx="2057400" cy="292608"/>
            </a:xfrm>
            <a:prstGeom prst="roundRect">
              <a:avLst>
                <a:gd name="adj" fmla="val 9375"/>
              </a:avLst>
            </a:prstGeom>
            <a:solidFill>
              <a:srgbClr val="FAFBFD"/>
            </a:solidFill>
            <a:ln w="9525">
              <a:solidFill>
                <a:srgbClr val="DFE5EC"/>
              </a:solidFill>
              <a:prstDash val="solid"/>
            </a:ln>
          </p:spPr>
          <p:txBody>
            <a:bodyPr/>
            <a:lstStyle/>
            <a:p>
              <a:endParaRPr/>
            </a:p>
          </p:txBody>
        </p:sp>
        <p:sp>
          <p:nvSpPr>
            <p:cNvPr id="106" name="Text 81"/>
            <p:cNvSpPr/>
            <p:nvPr/>
          </p:nvSpPr>
          <p:spPr>
            <a:xfrm>
              <a:off x="5020056" y="8321040"/>
              <a:ext cx="530352" cy="292608"/>
            </a:xfrm>
            <a:prstGeom prst="rect">
              <a:avLst/>
            </a:prstGeom>
            <a:noFill/>
            <a:ln/>
          </p:spPr>
          <p:txBody>
            <a:bodyPr wrap="square" lIns="0" tIns="0" rIns="0" bIns="0" rtlCol="0" anchor="ctr"/>
            <a:lstStyle/>
            <a:p>
              <a:pPr marL="0" indent="0">
                <a:buNone/>
              </a:pPr>
              <a:r>
                <a:rPr lang="en-US" sz="1050" b="1">
                  <a:solidFill>
                    <a:srgbClr val="E87A22"/>
                  </a:solidFill>
                  <a:latin typeface="Calibri" pitchFamily="34" charset="0"/>
                  <a:ea typeface="Calibri" pitchFamily="34" charset="-122"/>
                  <a:cs typeface="Calibri" pitchFamily="34" charset="-120"/>
                </a:rPr>
                <a:t>5–8%</a:t>
              </a:r>
              <a:endParaRPr lang="en-US" sz="1050"/>
            </a:p>
          </p:txBody>
        </p:sp>
        <p:sp>
          <p:nvSpPr>
            <p:cNvPr id="107" name="Text 82"/>
            <p:cNvSpPr/>
            <p:nvPr/>
          </p:nvSpPr>
          <p:spPr>
            <a:xfrm>
              <a:off x="5586984" y="8362188"/>
              <a:ext cx="1298448" cy="128016"/>
            </a:xfrm>
            <a:prstGeom prst="rect">
              <a:avLst/>
            </a:prstGeom>
            <a:noFill/>
            <a:ln/>
          </p:spPr>
          <p:txBody>
            <a:bodyPr wrap="square" lIns="0" tIns="0" rIns="0" bIns="0" rtlCol="0" anchor="ctr"/>
            <a:lstStyle/>
            <a:p>
              <a:pPr marL="0" indent="0">
                <a:buNone/>
              </a:pPr>
              <a:r>
                <a:rPr lang="en-US" sz="650" b="1" dirty="0">
                  <a:solidFill>
                    <a:srgbClr val="152232"/>
                  </a:solidFill>
                  <a:latin typeface="Calibri" pitchFamily="34" charset="0"/>
                  <a:ea typeface="Calibri" pitchFamily="34" charset="-122"/>
                  <a:cs typeface="Calibri" pitchFamily="34" charset="-120"/>
                </a:rPr>
                <a:t>Decoke effectiveness</a:t>
              </a:r>
              <a:endParaRPr lang="en-US" sz="650" dirty="0"/>
            </a:p>
          </p:txBody>
        </p:sp>
        <p:sp>
          <p:nvSpPr>
            <p:cNvPr id="108" name="Text 83"/>
            <p:cNvSpPr/>
            <p:nvPr/>
          </p:nvSpPr>
          <p:spPr>
            <a:xfrm>
              <a:off x="5586984" y="8481060"/>
              <a:ext cx="1298448" cy="118872"/>
            </a:xfrm>
            <a:prstGeom prst="rect">
              <a:avLst/>
            </a:prstGeom>
            <a:noFill/>
            <a:ln/>
          </p:spPr>
          <p:txBody>
            <a:bodyPr wrap="square" lIns="0" tIns="0" rIns="0" bIns="0" rtlCol="0" anchor="ctr"/>
            <a:lstStyle/>
            <a:p>
              <a:pPr marL="0" indent="0">
                <a:buNone/>
              </a:pPr>
              <a:r>
                <a:rPr lang="en-US" sz="550" dirty="0">
                  <a:solidFill>
                    <a:srgbClr val="56646F"/>
                  </a:solidFill>
                  <a:latin typeface="Calibri" pitchFamily="34" charset="0"/>
                  <a:ea typeface="Calibri" pitchFamily="34" charset="-122"/>
                  <a:cs typeface="Calibri" pitchFamily="34" charset="-120"/>
                </a:rPr>
                <a:t>pass level decoke optimization wrt burning</a:t>
              </a:r>
              <a:endParaRPr lang="en-US" sz="550" dirty="0"/>
            </a:p>
          </p:txBody>
        </p:sp>
      </p:grpSp>
      <p:sp>
        <p:nvSpPr>
          <p:cNvPr id="109" name="Text 84"/>
          <p:cNvSpPr/>
          <p:nvPr/>
        </p:nvSpPr>
        <p:spPr>
          <a:xfrm>
            <a:off x="542691" y="8721090"/>
            <a:ext cx="6373368" cy="164592"/>
          </a:xfrm>
          <a:prstGeom prst="rect">
            <a:avLst/>
          </a:prstGeom>
          <a:noFill/>
          <a:ln/>
        </p:spPr>
        <p:txBody>
          <a:bodyPr wrap="square" lIns="0" tIns="0" rIns="0" bIns="0" rtlCol="0" anchor="ctr"/>
          <a:lstStyle/>
          <a:p>
            <a:pPr marL="0" indent="0">
              <a:buNone/>
            </a:pPr>
            <a:r>
              <a:rPr lang="en-US" sz="650" b="1" dirty="0">
                <a:solidFill>
                  <a:srgbClr val="152232"/>
                </a:solidFill>
                <a:latin typeface="Calibri" pitchFamily="34" charset="0"/>
                <a:ea typeface="Calibri" pitchFamily="34" charset="-122"/>
                <a:cs typeface="Calibri" pitchFamily="34" charset="-120"/>
              </a:rPr>
              <a:t>Basis:  </a:t>
            </a:r>
            <a:r>
              <a:rPr lang="en-US" sz="650" dirty="0">
                <a:solidFill>
                  <a:srgbClr val="56646F"/>
                </a:solidFill>
                <a:latin typeface="Calibri" pitchFamily="34" charset="0"/>
                <a:ea typeface="Calibri" pitchFamily="34" charset="-122"/>
                <a:cs typeface="Calibri" pitchFamily="34" charset="-120"/>
              </a:rPr>
              <a:t>optimization takes care of constraint/limitation of not only at furnace level but also downstream section, suggestions take care of step change which ensures smooth implementation.</a:t>
            </a:r>
            <a:endParaRPr lang="en-US" sz="650" dirty="0"/>
          </a:p>
        </p:txBody>
      </p:sp>
      <p:sp>
        <p:nvSpPr>
          <p:cNvPr id="110" name="Shape 85"/>
          <p:cNvSpPr/>
          <p:nvPr/>
        </p:nvSpPr>
        <p:spPr>
          <a:xfrm>
            <a:off x="411480" y="8970264"/>
            <a:ext cx="6739128" cy="886968"/>
          </a:xfrm>
          <a:prstGeom prst="roundRect">
            <a:avLst>
              <a:gd name="adj" fmla="val 4124"/>
            </a:avLst>
          </a:prstGeom>
          <a:solidFill>
            <a:srgbClr val="FFFFFF"/>
          </a:solidFill>
          <a:ln w="9525">
            <a:solidFill>
              <a:srgbClr val="DFE5EC"/>
            </a:solidFill>
            <a:prstDash val="solid"/>
          </a:ln>
        </p:spPr>
        <p:txBody>
          <a:bodyPr/>
          <a:lstStyle/>
          <a:p>
            <a:endParaRPr/>
          </a:p>
        </p:txBody>
      </p:sp>
      <p:sp>
        <p:nvSpPr>
          <p:cNvPr id="111" name="Shape 86"/>
          <p:cNvSpPr/>
          <p:nvPr/>
        </p:nvSpPr>
        <p:spPr>
          <a:xfrm>
            <a:off x="576072" y="9061704"/>
            <a:ext cx="237744" cy="237744"/>
          </a:xfrm>
          <a:prstGeom prst="ellipse">
            <a:avLst/>
          </a:prstGeom>
          <a:solidFill>
            <a:srgbClr val="E87A22"/>
          </a:solidFill>
          <a:ln/>
        </p:spPr>
        <p:txBody>
          <a:bodyPr/>
          <a:lstStyle/>
          <a:p>
            <a:endParaRPr/>
          </a:p>
        </p:txBody>
      </p:sp>
      <p:pic>
        <p:nvPicPr>
          <p:cNvPr id="112" name="Image 23" descr="preencoded.png"/>
          <p:cNvPicPr>
            <a:picLocks noChangeAspect="1"/>
          </p:cNvPicPr>
          <p:nvPr/>
        </p:nvPicPr>
        <p:blipFill>
          <a:blip r:embed="rId13"/>
          <a:stretch>
            <a:fillRect/>
          </a:stretch>
        </p:blipFill>
        <p:spPr>
          <a:xfrm>
            <a:off x="635508" y="9121140"/>
            <a:ext cx="133502" cy="133502"/>
          </a:xfrm>
          <a:prstGeom prst="rect">
            <a:avLst/>
          </a:prstGeom>
        </p:spPr>
      </p:pic>
      <p:sp>
        <p:nvSpPr>
          <p:cNvPr id="113" name="Text 87"/>
          <p:cNvSpPr/>
          <p:nvPr/>
        </p:nvSpPr>
        <p:spPr>
          <a:xfrm>
            <a:off x="905256" y="9034272"/>
            <a:ext cx="6080760" cy="292608"/>
          </a:xfrm>
          <a:prstGeom prst="rect">
            <a:avLst/>
          </a:prstGeom>
          <a:noFill/>
          <a:ln/>
        </p:spPr>
        <p:txBody>
          <a:bodyPr wrap="square" lIns="0" tIns="0" rIns="0" bIns="0" rtlCol="0" anchor="ctr"/>
          <a:lstStyle/>
          <a:p>
            <a:pPr marL="0" indent="0">
              <a:buNone/>
            </a:pPr>
            <a:r>
              <a:rPr lang="en-US" sz="800" b="1" kern="0" spc="120">
                <a:solidFill>
                  <a:srgbClr val="E87A22"/>
                </a:solidFill>
                <a:latin typeface="Calibri" pitchFamily="34" charset="0"/>
                <a:ea typeface="Calibri" pitchFamily="34" charset="-122"/>
                <a:cs typeface="Calibri" pitchFamily="34" charset="-120"/>
              </a:rPr>
              <a:t>05   </a:t>
            </a:r>
            <a:r>
              <a:rPr lang="en-US" sz="1050" b="1">
                <a:solidFill>
                  <a:srgbClr val="152232"/>
                </a:solidFill>
                <a:latin typeface="Calibri" pitchFamily="34" charset="0"/>
                <a:ea typeface="Calibri" pitchFamily="34" charset="-122"/>
                <a:cs typeface="Calibri" pitchFamily="34" charset="-120"/>
              </a:rPr>
              <a:t>Platform</a:t>
            </a:r>
            <a:endParaRPr lang="en-US" sz="800"/>
          </a:p>
        </p:txBody>
      </p:sp>
      <p:sp>
        <p:nvSpPr>
          <p:cNvPr id="114" name="Shape 88"/>
          <p:cNvSpPr/>
          <p:nvPr/>
        </p:nvSpPr>
        <p:spPr>
          <a:xfrm>
            <a:off x="594360" y="9381744"/>
            <a:ext cx="1225296" cy="420624"/>
          </a:xfrm>
          <a:prstGeom prst="roundRect">
            <a:avLst>
              <a:gd name="adj" fmla="val 6522"/>
            </a:avLst>
          </a:prstGeom>
          <a:solidFill>
            <a:srgbClr val="FAFBFD"/>
          </a:solidFill>
          <a:ln w="9525">
            <a:solidFill>
              <a:srgbClr val="DFE5EC"/>
            </a:solidFill>
            <a:prstDash val="solid"/>
          </a:ln>
        </p:spPr>
        <p:txBody>
          <a:bodyPr/>
          <a:lstStyle/>
          <a:p>
            <a:endParaRPr/>
          </a:p>
        </p:txBody>
      </p:sp>
      <p:sp>
        <p:nvSpPr>
          <p:cNvPr id="115" name="Text 89"/>
          <p:cNvSpPr/>
          <p:nvPr/>
        </p:nvSpPr>
        <p:spPr>
          <a:xfrm>
            <a:off x="658368" y="9445752"/>
            <a:ext cx="1097280" cy="137160"/>
          </a:xfrm>
          <a:prstGeom prst="rect">
            <a:avLst/>
          </a:prstGeom>
          <a:noFill/>
          <a:ln/>
        </p:spPr>
        <p:txBody>
          <a:bodyPr wrap="square" lIns="0" tIns="0" rIns="0" bIns="0" rtlCol="0" anchor="ctr"/>
          <a:lstStyle/>
          <a:p>
            <a:pPr marL="0" indent="0">
              <a:buNone/>
            </a:pPr>
            <a:r>
              <a:rPr lang="en-US" sz="650" b="1">
                <a:solidFill>
                  <a:srgbClr val="152232"/>
                </a:solidFill>
                <a:latin typeface="Calibri" pitchFamily="34" charset="0"/>
                <a:ea typeface="Calibri" pitchFamily="34" charset="-122"/>
                <a:cs typeface="Calibri" pitchFamily="34" charset="-120"/>
              </a:rPr>
              <a:t>Historian connectivity</a:t>
            </a:r>
            <a:endParaRPr lang="en-US" sz="650"/>
          </a:p>
        </p:txBody>
      </p:sp>
      <p:sp>
        <p:nvSpPr>
          <p:cNvPr id="116" name="Text 90"/>
          <p:cNvSpPr/>
          <p:nvPr/>
        </p:nvSpPr>
        <p:spPr>
          <a:xfrm>
            <a:off x="658368" y="9587484"/>
            <a:ext cx="1097280" cy="219456"/>
          </a:xfrm>
          <a:prstGeom prst="rect">
            <a:avLst/>
          </a:prstGeom>
          <a:noFill/>
          <a:ln/>
        </p:spPr>
        <p:txBody>
          <a:bodyPr wrap="square" lIns="0" tIns="0" rIns="0" bIns="0" rtlCol="0" anchor="t"/>
          <a:lstStyle/>
          <a:p>
            <a:pPr marL="0" indent="0">
              <a:lnSpc>
                <a:spcPct val="100000"/>
              </a:lnSpc>
              <a:buNone/>
            </a:pPr>
            <a:r>
              <a:rPr lang="en-US" sz="600">
                <a:solidFill>
                  <a:srgbClr val="56646F"/>
                </a:solidFill>
                <a:latin typeface="Calibri" pitchFamily="34" charset="0"/>
                <a:ea typeface="Calibri" pitchFamily="34" charset="-122"/>
                <a:cs typeface="Calibri" pitchFamily="34" charset="-120"/>
              </a:rPr>
              <a:t>plug and play with leading plant historians</a:t>
            </a:r>
            <a:endParaRPr lang="en-US" sz="600"/>
          </a:p>
        </p:txBody>
      </p:sp>
      <p:sp>
        <p:nvSpPr>
          <p:cNvPr id="117" name="Shape 91"/>
          <p:cNvSpPr/>
          <p:nvPr/>
        </p:nvSpPr>
        <p:spPr>
          <a:xfrm>
            <a:off x="1874520" y="9381744"/>
            <a:ext cx="1225296" cy="420624"/>
          </a:xfrm>
          <a:prstGeom prst="roundRect">
            <a:avLst>
              <a:gd name="adj" fmla="val 6522"/>
            </a:avLst>
          </a:prstGeom>
          <a:solidFill>
            <a:srgbClr val="FAFBFD"/>
          </a:solidFill>
          <a:ln w="9525">
            <a:solidFill>
              <a:srgbClr val="DFE5EC"/>
            </a:solidFill>
            <a:prstDash val="solid"/>
          </a:ln>
        </p:spPr>
        <p:txBody>
          <a:bodyPr/>
          <a:lstStyle/>
          <a:p>
            <a:endParaRPr/>
          </a:p>
        </p:txBody>
      </p:sp>
      <p:sp>
        <p:nvSpPr>
          <p:cNvPr id="118" name="Text 92"/>
          <p:cNvSpPr/>
          <p:nvPr/>
        </p:nvSpPr>
        <p:spPr>
          <a:xfrm>
            <a:off x="1938528" y="9445752"/>
            <a:ext cx="1097280" cy="137160"/>
          </a:xfrm>
          <a:prstGeom prst="rect">
            <a:avLst/>
          </a:prstGeom>
          <a:noFill/>
          <a:ln/>
        </p:spPr>
        <p:txBody>
          <a:bodyPr wrap="square" lIns="0" tIns="0" rIns="0" bIns="0" rtlCol="0" anchor="ctr"/>
          <a:lstStyle/>
          <a:p>
            <a:pPr marL="0" indent="0">
              <a:buNone/>
            </a:pPr>
            <a:r>
              <a:rPr lang="en-US" sz="650" b="1">
                <a:solidFill>
                  <a:srgbClr val="152232"/>
                </a:solidFill>
                <a:latin typeface="Calibri" pitchFamily="34" charset="0"/>
                <a:ea typeface="Calibri" pitchFamily="34" charset="-122"/>
                <a:cs typeface="Calibri" pitchFamily="34" charset="-120"/>
              </a:rPr>
              <a:t>Simulation integration</a:t>
            </a:r>
            <a:endParaRPr lang="en-US" sz="650"/>
          </a:p>
        </p:txBody>
      </p:sp>
      <p:sp>
        <p:nvSpPr>
          <p:cNvPr id="119" name="Text 93"/>
          <p:cNvSpPr/>
          <p:nvPr/>
        </p:nvSpPr>
        <p:spPr>
          <a:xfrm>
            <a:off x="1938528" y="9587484"/>
            <a:ext cx="1097280" cy="219456"/>
          </a:xfrm>
          <a:prstGeom prst="rect">
            <a:avLst/>
          </a:prstGeom>
          <a:noFill/>
          <a:ln/>
        </p:spPr>
        <p:txBody>
          <a:bodyPr wrap="square" lIns="0" tIns="0" rIns="0" bIns="0" rtlCol="0" anchor="t"/>
          <a:lstStyle/>
          <a:p>
            <a:pPr marL="0" indent="0">
              <a:lnSpc>
                <a:spcPct val="100000"/>
              </a:lnSpc>
              <a:buNone/>
            </a:pPr>
            <a:r>
              <a:rPr lang="en-US" sz="600">
                <a:solidFill>
                  <a:srgbClr val="56646F"/>
                </a:solidFill>
                <a:latin typeface="Calibri" pitchFamily="34" charset="0"/>
                <a:ea typeface="Calibri" pitchFamily="34" charset="-122"/>
                <a:cs typeface="Calibri" pitchFamily="34" charset="-120"/>
              </a:rPr>
              <a:t>third party simulators integrate without custom work</a:t>
            </a:r>
            <a:endParaRPr lang="en-US" sz="600"/>
          </a:p>
        </p:txBody>
      </p:sp>
      <p:sp>
        <p:nvSpPr>
          <p:cNvPr id="120" name="Shape 94"/>
          <p:cNvSpPr/>
          <p:nvPr/>
        </p:nvSpPr>
        <p:spPr>
          <a:xfrm>
            <a:off x="3154680" y="9381744"/>
            <a:ext cx="1225296" cy="420624"/>
          </a:xfrm>
          <a:prstGeom prst="roundRect">
            <a:avLst>
              <a:gd name="adj" fmla="val 6522"/>
            </a:avLst>
          </a:prstGeom>
          <a:solidFill>
            <a:srgbClr val="FAFBFD"/>
          </a:solidFill>
          <a:ln w="9525">
            <a:solidFill>
              <a:srgbClr val="DFE5EC"/>
            </a:solidFill>
            <a:prstDash val="solid"/>
          </a:ln>
        </p:spPr>
        <p:txBody>
          <a:bodyPr/>
          <a:lstStyle/>
          <a:p>
            <a:endParaRPr/>
          </a:p>
        </p:txBody>
      </p:sp>
      <p:sp>
        <p:nvSpPr>
          <p:cNvPr id="121" name="Text 95"/>
          <p:cNvSpPr/>
          <p:nvPr/>
        </p:nvSpPr>
        <p:spPr>
          <a:xfrm>
            <a:off x="3218688" y="9445752"/>
            <a:ext cx="1097280" cy="137160"/>
          </a:xfrm>
          <a:prstGeom prst="rect">
            <a:avLst/>
          </a:prstGeom>
          <a:noFill/>
          <a:ln/>
        </p:spPr>
        <p:txBody>
          <a:bodyPr wrap="square" lIns="0" tIns="0" rIns="0" bIns="0" rtlCol="0" anchor="ctr"/>
          <a:lstStyle/>
          <a:p>
            <a:pPr marL="0" indent="0">
              <a:buNone/>
            </a:pPr>
            <a:r>
              <a:rPr lang="en-US" sz="650" b="1">
                <a:solidFill>
                  <a:srgbClr val="152232"/>
                </a:solidFill>
                <a:latin typeface="Calibri" pitchFamily="34" charset="0"/>
                <a:ea typeface="Calibri" pitchFamily="34" charset="-122"/>
                <a:cs typeface="Calibri" pitchFamily="34" charset="-120"/>
              </a:rPr>
              <a:t>Daily reporting</a:t>
            </a:r>
            <a:endParaRPr lang="en-US" sz="650"/>
          </a:p>
        </p:txBody>
      </p:sp>
      <p:sp>
        <p:nvSpPr>
          <p:cNvPr id="122" name="Text 96"/>
          <p:cNvSpPr/>
          <p:nvPr/>
        </p:nvSpPr>
        <p:spPr>
          <a:xfrm>
            <a:off x="3218688" y="9587484"/>
            <a:ext cx="1097280" cy="219456"/>
          </a:xfrm>
          <a:prstGeom prst="rect">
            <a:avLst/>
          </a:prstGeom>
          <a:noFill/>
          <a:ln/>
        </p:spPr>
        <p:txBody>
          <a:bodyPr wrap="square" lIns="0" tIns="0" rIns="0" bIns="0" rtlCol="0" anchor="t"/>
          <a:lstStyle/>
          <a:p>
            <a:pPr marL="0" indent="0">
              <a:lnSpc>
                <a:spcPct val="100000"/>
              </a:lnSpc>
              <a:buNone/>
            </a:pPr>
            <a:r>
              <a:rPr lang="en-US" sz="600">
                <a:solidFill>
                  <a:srgbClr val="56646F"/>
                </a:solidFill>
                <a:latin typeface="Calibri" pitchFamily="34" charset="0"/>
                <a:ea typeface="Calibri" pitchFamily="34" charset="-122"/>
                <a:cs typeface="Calibri" pitchFamily="34" charset="-120"/>
              </a:rPr>
              <a:t>downloadable daily reports with interactive trends</a:t>
            </a:r>
            <a:endParaRPr lang="en-US" sz="600"/>
          </a:p>
        </p:txBody>
      </p:sp>
      <p:sp>
        <p:nvSpPr>
          <p:cNvPr id="123" name="Shape 97"/>
          <p:cNvSpPr/>
          <p:nvPr/>
        </p:nvSpPr>
        <p:spPr>
          <a:xfrm>
            <a:off x="4434840" y="9381744"/>
            <a:ext cx="1225296" cy="420624"/>
          </a:xfrm>
          <a:prstGeom prst="roundRect">
            <a:avLst>
              <a:gd name="adj" fmla="val 6522"/>
            </a:avLst>
          </a:prstGeom>
          <a:solidFill>
            <a:srgbClr val="FAFBFD"/>
          </a:solidFill>
          <a:ln w="9525">
            <a:solidFill>
              <a:srgbClr val="DFE5EC"/>
            </a:solidFill>
            <a:prstDash val="solid"/>
          </a:ln>
        </p:spPr>
        <p:txBody>
          <a:bodyPr/>
          <a:lstStyle/>
          <a:p>
            <a:endParaRPr/>
          </a:p>
        </p:txBody>
      </p:sp>
      <p:sp>
        <p:nvSpPr>
          <p:cNvPr id="124" name="Text 98"/>
          <p:cNvSpPr/>
          <p:nvPr/>
        </p:nvSpPr>
        <p:spPr>
          <a:xfrm>
            <a:off x="4498848" y="9445752"/>
            <a:ext cx="1097280" cy="137160"/>
          </a:xfrm>
          <a:prstGeom prst="rect">
            <a:avLst/>
          </a:prstGeom>
          <a:noFill/>
          <a:ln/>
        </p:spPr>
        <p:txBody>
          <a:bodyPr wrap="square" lIns="0" tIns="0" rIns="0" bIns="0" rtlCol="0" anchor="ctr"/>
          <a:lstStyle/>
          <a:p>
            <a:pPr marL="0" indent="0">
              <a:buNone/>
            </a:pPr>
            <a:r>
              <a:rPr lang="en-US" sz="650" b="1">
                <a:solidFill>
                  <a:srgbClr val="152232"/>
                </a:solidFill>
                <a:latin typeface="Calibri" pitchFamily="34" charset="0"/>
                <a:ea typeface="Calibri" pitchFamily="34" charset="-122"/>
                <a:cs typeface="Calibri" pitchFamily="34" charset="-120"/>
              </a:rPr>
              <a:t>Gen AI assistant</a:t>
            </a:r>
            <a:endParaRPr lang="en-US" sz="650"/>
          </a:p>
        </p:txBody>
      </p:sp>
      <p:sp>
        <p:nvSpPr>
          <p:cNvPr id="125" name="Text 99"/>
          <p:cNvSpPr/>
          <p:nvPr/>
        </p:nvSpPr>
        <p:spPr>
          <a:xfrm>
            <a:off x="4498848" y="9587484"/>
            <a:ext cx="1097280" cy="219456"/>
          </a:xfrm>
          <a:prstGeom prst="rect">
            <a:avLst/>
          </a:prstGeom>
          <a:noFill/>
          <a:ln/>
        </p:spPr>
        <p:txBody>
          <a:bodyPr wrap="square" lIns="0" tIns="0" rIns="0" bIns="0" rtlCol="0" anchor="t"/>
          <a:lstStyle/>
          <a:p>
            <a:pPr marL="0" indent="0">
              <a:lnSpc>
                <a:spcPct val="100000"/>
              </a:lnSpc>
              <a:buNone/>
            </a:pPr>
            <a:r>
              <a:rPr lang="en-US" sz="600">
                <a:solidFill>
                  <a:srgbClr val="56646F"/>
                </a:solidFill>
                <a:latin typeface="Calibri" pitchFamily="34" charset="0"/>
                <a:ea typeface="Calibri" pitchFamily="34" charset="-122"/>
                <a:cs typeface="Calibri" pitchFamily="34" charset="-120"/>
              </a:rPr>
              <a:t>answers plant questions in the operating workflow</a:t>
            </a:r>
            <a:endParaRPr lang="en-US" sz="600"/>
          </a:p>
        </p:txBody>
      </p:sp>
      <p:sp>
        <p:nvSpPr>
          <p:cNvPr id="126" name="Shape 100"/>
          <p:cNvSpPr/>
          <p:nvPr/>
        </p:nvSpPr>
        <p:spPr>
          <a:xfrm>
            <a:off x="5715000" y="9381744"/>
            <a:ext cx="1225296" cy="420624"/>
          </a:xfrm>
          <a:prstGeom prst="roundRect">
            <a:avLst>
              <a:gd name="adj" fmla="val 6522"/>
            </a:avLst>
          </a:prstGeom>
          <a:solidFill>
            <a:srgbClr val="FAFBFD"/>
          </a:solidFill>
          <a:ln w="9525">
            <a:solidFill>
              <a:srgbClr val="DFE5EC"/>
            </a:solidFill>
            <a:prstDash val="solid"/>
          </a:ln>
        </p:spPr>
        <p:txBody>
          <a:bodyPr/>
          <a:lstStyle/>
          <a:p>
            <a:endParaRPr/>
          </a:p>
        </p:txBody>
      </p:sp>
      <p:sp>
        <p:nvSpPr>
          <p:cNvPr id="127" name="Text 101"/>
          <p:cNvSpPr/>
          <p:nvPr/>
        </p:nvSpPr>
        <p:spPr>
          <a:xfrm>
            <a:off x="5779008" y="9445752"/>
            <a:ext cx="1097280" cy="137160"/>
          </a:xfrm>
          <a:prstGeom prst="rect">
            <a:avLst/>
          </a:prstGeom>
          <a:noFill/>
          <a:ln/>
        </p:spPr>
        <p:txBody>
          <a:bodyPr wrap="square" lIns="0" tIns="0" rIns="0" bIns="0" rtlCol="0" anchor="ctr"/>
          <a:lstStyle/>
          <a:p>
            <a:pPr marL="0" indent="0">
              <a:buNone/>
            </a:pPr>
            <a:r>
              <a:rPr lang="en-US" sz="650" b="1">
                <a:solidFill>
                  <a:srgbClr val="152232"/>
                </a:solidFill>
                <a:latin typeface="Calibri" pitchFamily="34" charset="0"/>
                <a:ea typeface="Calibri" pitchFamily="34" charset="-122"/>
                <a:cs typeface="Calibri" pitchFamily="34" charset="-120"/>
              </a:rPr>
              <a:t>Build your own dashboard</a:t>
            </a:r>
            <a:endParaRPr lang="en-US" sz="650"/>
          </a:p>
        </p:txBody>
      </p:sp>
      <p:sp>
        <p:nvSpPr>
          <p:cNvPr id="128" name="Text 102"/>
          <p:cNvSpPr/>
          <p:nvPr/>
        </p:nvSpPr>
        <p:spPr>
          <a:xfrm>
            <a:off x="5779008" y="9587484"/>
            <a:ext cx="1097280" cy="219456"/>
          </a:xfrm>
          <a:prstGeom prst="rect">
            <a:avLst/>
          </a:prstGeom>
          <a:noFill/>
          <a:ln/>
        </p:spPr>
        <p:txBody>
          <a:bodyPr wrap="square" lIns="0" tIns="0" rIns="0" bIns="0" rtlCol="0" anchor="t"/>
          <a:lstStyle/>
          <a:p>
            <a:pPr marL="0" indent="0">
              <a:lnSpc>
                <a:spcPct val="100000"/>
              </a:lnSpc>
              <a:buNone/>
            </a:pPr>
            <a:r>
              <a:rPr lang="en-US" sz="600">
                <a:solidFill>
                  <a:srgbClr val="56646F"/>
                </a:solidFill>
                <a:latin typeface="Calibri" pitchFamily="34" charset="0"/>
                <a:ea typeface="Calibri" pitchFamily="34" charset="-122"/>
                <a:cs typeface="Calibri" pitchFamily="34" charset="-120"/>
              </a:rPr>
              <a:t>engineers build the views their unit needs</a:t>
            </a:r>
            <a:endParaRPr lang="en-US" sz="600"/>
          </a:p>
        </p:txBody>
      </p:sp>
      <p:sp>
        <p:nvSpPr>
          <p:cNvPr id="129" name="Shape 103"/>
          <p:cNvSpPr/>
          <p:nvPr/>
        </p:nvSpPr>
        <p:spPr>
          <a:xfrm>
            <a:off x="411480" y="9921240"/>
            <a:ext cx="6739128" cy="512064"/>
          </a:xfrm>
          <a:prstGeom prst="roundRect">
            <a:avLst>
              <a:gd name="adj" fmla="val 10714"/>
            </a:avLst>
          </a:prstGeom>
          <a:solidFill>
            <a:srgbClr val="152232"/>
          </a:solidFill>
          <a:ln/>
        </p:spPr>
        <p:txBody>
          <a:bodyPr/>
          <a:lstStyle/>
          <a:p>
            <a:endParaRPr/>
          </a:p>
        </p:txBody>
      </p:sp>
      <p:sp>
        <p:nvSpPr>
          <p:cNvPr id="130" name="Text 104"/>
          <p:cNvSpPr/>
          <p:nvPr/>
        </p:nvSpPr>
        <p:spPr>
          <a:xfrm>
            <a:off x="612648" y="9985248"/>
            <a:ext cx="1371600" cy="137160"/>
          </a:xfrm>
          <a:prstGeom prst="rect">
            <a:avLst/>
          </a:prstGeom>
          <a:noFill/>
          <a:ln/>
        </p:spPr>
        <p:txBody>
          <a:bodyPr wrap="square" lIns="0" tIns="0" rIns="0" bIns="0" rtlCol="0" anchor="ctr"/>
          <a:lstStyle/>
          <a:p>
            <a:pPr marL="0" indent="0">
              <a:buNone/>
            </a:pPr>
            <a:r>
              <a:rPr lang="en-US" sz="650" b="1" kern="0" spc="110">
                <a:solidFill>
                  <a:srgbClr val="E87A22"/>
                </a:solidFill>
                <a:latin typeface="Calibri" pitchFamily="34" charset="0"/>
                <a:ea typeface="Calibri" pitchFamily="34" charset="-122"/>
                <a:cs typeface="Calibri" pitchFamily="34" charset="-120"/>
              </a:rPr>
              <a:t>DELIVERY</a:t>
            </a:r>
            <a:endParaRPr lang="en-US" sz="650"/>
          </a:p>
        </p:txBody>
      </p:sp>
      <p:sp>
        <p:nvSpPr>
          <p:cNvPr id="131" name="Text 105"/>
          <p:cNvSpPr/>
          <p:nvPr/>
        </p:nvSpPr>
        <p:spPr>
          <a:xfrm>
            <a:off x="612648" y="10113264"/>
            <a:ext cx="1371600" cy="274320"/>
          </a:xfrm>
          <a:prstGeom prst="rect">
            <a:avLst/>
          </a:prstGeom>
          <a:noFill/>
          <a:ln/>
        </p:spPr>
        <p:txBody>
          <a:bodyPr wrap="square" lIns="0" tIns="0" rIns="0" bIns="0" rtlCol="0" anchor="t"/>
          <a:lstStyle/>
          <a:p>
            <a:pPr marL="0" indent="0">
              <a:lnSpc>
                <a:spcPct val="100000"/>
              </a:lnSpc>
              <a:buNone/>
            </a:pPr>
            <a:r>
              <a:rPr lang="en-US" sz="650">
                <a:solidFill>
                  <a:srgbClr val="D6DEE6"/>
                </a:solidFill>
                <a:latin typeface="Calibri" pitchFamily="34" charset="0"/>
                <a:ea typeface="Calibri" pitchFamily="34" charset="-122"/>
                <a:cs typeface="Calibri" pitchFamily="34" charset="-120"/>
              </a:rPr>
              <a:t>Configured, validated and commissioned by Ingenero process engineers.</a:t>
            </a:r>
            <a:endParaRPr lang="en-US" sz="650"/>
          </a:p>
        </p:txBody>
      </p:sp>
      <p:sp>
        <p:nvSpPr>
          <p:cNvPr id="132" name="Text 106"/>
          <p:cNvSpPr/>
          <p:nvPr/>
        </p:nvSpPr>
        <p:spPr>
          <a:xfrm>
            <a:off x="2093976" y="9985248"/>
            <a:ext cx="1371600" cy="137160"/>
          </a:xfrm>
          <a:prstGeom prst="rect">
            <a:avLst/>
          </a:prstGeom>
          <a:noFill/>
          <a:ln/>
        </p:spPr>
        <p:txBody>
          <a:bodyPr wrap="square" lIns="0" tIns="0" rIns="0" bIns="0" rtlCol="0" anchor="ctr"/>
          <a:lstStyle/>
          <a:p>
            <a:pPr marL="0" indent="0">
              <a:buNone/>
            </a:pPr>
            <a:r>
              <a:rPr lang="en-US" sz="650" b="1" kern="0" spc="110">
                <a:solidFill>
                  <a:srgbClr val="E87A22"/>
                </a:solidFill>
                <a:latin typeface="Calibri" pitchFamily="34" charset="0"/>
                <a:ea typeface="Calibri" pitchFamily="34" charset="-122"/>
                <a:cs typeface="Calibri" pitchFamily="34" charset="-120"/>
              </a:rPr>
              <a:t>FLEXIBILITY</a:t>
            </a:r>
            <a:endParaRPr lang="en-US" sz="650"/>
          </a:p>
        </p:txBody>
      </p:sp>
      <p:sp>
        <p:nvSpPr>
          <p:cNvPr id="133" name="Text 107"/>
          <p:cNvSpPr/>
          <p:nvPr/>
        </p:nvSpPr>
        <p:spPr>
          <a:xfrm>
            <a:off x="2093976" y="10113264"/>
            <a:ext cx="1371600" cy="274320"/>
          </a:xfrm>
          <a:prstGeom prst="rect">
            <a:avLst/>
          </a:prstGeom>
          <a:noFill/>
          <a:ln/>
        </p:spPr>
        <p:txBody>
          <a:bodyPr wrap="square" lIns="0" tIns="0" rIns="0" bIns="0" rtlCol="0" anchor="t"/>
          <a:lstStyle/>
          <a:p>
            <a:pPr marL="0" indent="0">
              <a:lnSpc>
                <a:spcPct val="100000"/>
              </a:lnSpc>
              <a:buNone/>
            </a:pPr>
            <a:r>
              <a:rPr lang="en-US" sz="650">
                <a:solidFill>
                  <a:srgbClr val="D6DEE6"/>
                </a:solidFill>
                <a:latin typeface="Calibri" pitchFamily="34" charset="0"/>
                <a:ea typeface="Calibri" pitchFamily="34" charset="-122"/>
                <a:cs typeface="Calibri" pitchFamily="34" charset="-120"/>
              </a:rPr>
              <a:t>Any crude slate; selectable KPI set; selectable Virtual analyzers </a:t>
            </a:r>
            <a:endParaRPr lang="en-US" sz="650"/>
          </a:p>
        </p:txBody>
      </p:sp>
      <p:sp>
        <p:nvSpPr>
          <p:cNvPr id="134" name="Text 108"/>
          <p:cNvSpPr/>
          <p:nvPr/>
        </p:nvSpPr>
        <p:spPr>
          <a:xfrm>
            <a:off x="3575304" y="9985248"/>
            <a:ext cx="1371600" cy="137160"/>
          </a:xfrm>
          <a:prstGeom prst="rect">
            <a:avLst/>
          </a:prstGeom>
          <a:noFill/>
          <a:ln/>
        </p:spPr>
        <p:txBody>
          <a:bodyPr wrap="square" lIns="0" tIns="0" rIns="0" bIns="0" rtlCol="0" anchor="ctr"/>
          <a:lstStyle/>
          <a:p>
            <a:pPr marL="0" indent="0">
              <a:buNone/>
            </a:pPr>
            <a:r>
              <a:rPr lang="en-US" sz="650" b="1" kern="0" spc="110">
                <a:solidFill>
                  <a:srgbClr val="E87A22"/>
                </a:solidFill>
                <a:latin typeface="Calibri" pitchFamily="34" charset="0"/>
                <a:ea typeface="Calibri" pitchFamily="34" charset="-122"/>
                <a:cs typeface="Calibri" pitchFamily="34" charset="-120"/>
              </a:rPr>
              <a:t>SCALE</a:t>
            </a:r>
            <a:endParaRPr lang="en-US" sz="650"/>
          </a:p>
        </p:txBody>
      </p:sp>
      <p:sp>
        <p:nvSpPr>
          <p:cNvPr id="135" name="Text 109"/>
          <p:cNvSpPr/>
          <p:nvPr/>
        </p:nvSpPr>
        <p:spPr>
          <a:xfrm>
            <a:off x="3575304" y="10113264"/>
            <a:ext cx="1371600" cy="274320"/>
          </a:xfrm>
          <a:prstGeom prst="rect">
            <a:avLst/>
          </a:prstGeom>
          <a:noFill/>
          <a:ln/>
        </p:spPr>
        <p:txBody>
          <a:bodyPr wrap="square" lIns="0" tIns="0" rIns="0" bIns="0" rtlCol="0" anchor="t"/>
          <a:lstStyle/>
          <a:p>
            <a:pPr marL="0" indent="0">
              <a:lnSpc>
                <a:spcPct val="100000"/>
              </a:lnSpc>
              <a:buNone/>
            </a:pPr>
            <a:r>
              <a:rPr lang="en-US" sz="650">
                <a:solidFill>
                  <a:srgbClr val="D6DEE6"/>
                </a:solidFill>
                <a:latin typeface="Calibri" pitchFamily="34" charset="0"/>
                <a:ea typeface="Calibri" pitchFamily="34" charset="-122"/>
                <a:cs typeface="Calibri" pitchFamily="34" charset="-120"/>
              </a:rPr>
              <a:t>Repeat sites reuse the configuration, with no/minimal rework per plant.</a:t>
            </a:r>
            <a:endParaRPr lang="en-US" sz="650"/>
          </a:p>
        </p:txBody>
      </p:sp>
      <p:sp>
        <p:nvSpPr>
          <p:cNvPr id="136" name="Shape 110"/>
          <p:cNvSpPr/>
          <p:nvPr/>
        </p:nvSpPr>
        <p:spPr>
          <a:xfrm>
            <a:off x="4956048" y="10012680"/>
            <a:ext cx="2029968" cy="329184"/>
          </a:xfrm>
          <a:prstGeom prst="roundRect">
            <a:avLst>
              <a:gd name="adj" fmla="val 13889"/>
            </a:avLst>
          </a:prstGeom>
          <a:solidFill>
            <a:srgbClr val="E87A22"/>
          </a:solidFill>
          <a:ln/>
        </p:spPr>
        <p:txBody>
          <a:bodyPr/>
          <a:lstStyle/>
          <a:p>
            <a:endParaRPr/>
          </a:p>
        </p:txBody>
      </p:sp>
      <p:sp>
        <p:nvSpPr>
          <p:cNvPr id="137" name="Text 111"/>
          <p:cNvSpPr/>
          <p:nvPr/>
        </p:nvSpPr>
        <p:spPr>
          <a:xfrm>
            <a:off x="4956048" y="10012680"/>
            <a:ext cx="2029968" cy="329184"/>
          </a:xfrm>
          <a:prstGeom prst="rect">
            <a:avLst/>
          </a:prstGeom>
          <a:noFill/>
          <a:ln/>
        </p:spPr>
        <p:txBody>
          <a:bodyPr wrap="square" lIns="0" tIns="0" rIns="0" bIns="0" rtlCol="0" anchor="ctr"/>
          <a:lstStyle/>
          <a:p>
            <a:pPr algn="ctr"/>
            <a:r>
              <a:rPr lang="en-US" sz="800" b="1" dirty="0">
                <a:solidFill>
                  <a:srgbClr val="FFFFFF"/>
                </a:solidFill>
                <a:latin typeface="Calibri" pitchFamily="34" charset="0"/>
                <a:ea typeface="Calibri" pitchFamily="34" charset="-122"/>
                <a:cs typeface="Calibri" pitchFamily="34" charset="-120"/>
              </a:rPr>
              <a:t>Contact for a free trial: </a:t>
            </a:r>
            <a:r>
              <a:rPr lang="en-US" sz="700" b="1" dirty="0">
                <a:solidFill>
                  <a:srgbClr val="FFFFFF"/>
                </a:solidFill>
                <a:latin typeface="Calibri" pitchFamily="34" charset="0"/>
                <a:ea typeface="Calibri" pitchFamily="34" charset="-122"/>
                <a:cs typeface="Calibri" pitchFamily="34" charset="-120"/>
              </a:rPr>
              <a:t>marketing@ingenero.com</a:t>
            </a:r>
            <a:endParaRPr lang="en-US" sz="700" dirty="0"/>
          </a:p>
        </p:txBody>
      </p:sp>
      <p:pic>
        <p:nvPicPr>
          <p:cNvPr id="32" name="Picture 31"/>
          <p:cNvPicPr>
            <a:picLocks noChangeAspect="1"/>
          </p:cNvPicPr>
          <p:nvPr/>
        </p:nvPicPr>
        <p:blipFill>
          <a:blip r:embed="rId14"/>
          <a:stretch>
            <a:fillRect/>
          </a:stretch>
        </p:blipFill>
        <p:spPr>
          <a:xfrm>
            <a:off x="617162" y="2326705"/>
            <a:ext cx="2991824" cy="1059887"/>
          </a:xfrm>
          <a:prstGeom prst="rect">
            <a:avLst/>
          </a:prstGeom>
          <a:ln>
            <a:solidFill>
              <a:schemeClr val="accent1">
                <a:lumMod val="20000"/>
                <a:lumOff val="80000"/>
              </a:schemeClr>
            </a:solidFill>
          </a:ln>
        </p:spPr>
      </p:pic>
      <p:pic>
        <p:nvPicPr>
          <p:cNvPr id="34" name="Picture 33"/>
          <p:cNvPicPr>
            <a:picLocks noChangeAspect="1"/>
          </p:cNvPicPr>
          <p:nvPr/>
        </p:nvPicPr>
        <p:blipFill>
          <a:blip r:embed="rId15"/>
          <a:stretch>
            <a:fillRect/>
          </a:stretch>
        </p:blipFill>
        <p:spPr>
          <a:xfrm>
            <a:off x="3849623" y="5245717"/>
            <a:ext cx="3255661" cy="1374452"/>
          </a:xfrm>
          <a:prstGeom prst="rect">
            <a:avLst/>
          </a:prstGeom>
          <a:ln>
            <a:solidFill>
              <a:schemeClr val="accent1">
                <a:lumMod val="20000"/>
                <a:lumOff val="80000"/>
              </a:schemeClr>
            </a:solidFill>
          </a:ln>
        </p:spPr>
      </p:pic>
      <p:pic>
        <p:nvPicPr>
          <p:cNvPr id="141" name="Picture 140"/>
          <p:cNvPicPr>
            <a:picLocks noChangeAspect="1"/>
          </p:cNvPicPr>
          <p:nvPr/>
        </p:nvPicPr>
        <p:blipFill>
          <a:blip r:embed="rId16"/>
          <a:stretch>
            <a:fillRect/>
          </a:stretch>
        </p:blipFill>
        <p:spPr>
          <a:xfrm>
            <a:off x="601419" y="3446132"/>
            <a:ext cx="3007567" cy="1022998"/>
          </a:xfrm>
          <a:prstGeom prst="rect">
            <a:avLst/>
          </a:prstGeom>
          <a:ln>
            <a:solidFill>
              <a:schemeClr val="accent1">
                <a:lumMod val="20000"/>
                <a:lumOff val="80000"/>
              </a:schemeClr>
            </a:solidFill>
          </a:ln>
        </p:spPr>
      </p:pic>
      <p:grpSp>
        <p:nvGrpSpPr>
          <p:cNvPr id="152" name="Group 151"/>
          <p:cNvGrpSpPr/>
          <p:nvPr/>
        </p:nvGrpSpPr>
        <p:grpSpPr>
          <a:xfrm>
            <a:off x="3877056" y="6784211"/>
            <a:ext cx="3223511" cy="1586539"/>
            <a:chOff x="542691" y="7112053"/>
            <a:chExt cx="3184491" cy="1193841"/>
          </a:xfrm>
        </p:grpSpPr>
        <p:pic>
          <p:nvPicPr>
            <p:cNvPr id="147" name="Picture 146"/>
            <p:cNvPicPr>
              <a:picLocks noChangeAspect="1"/>
            </p:cNvPicPr>
            <p:nvPr/>
          </p:nvPicPr>
          <p:blipFill>
            <a:blip r:embed="rId17"/>
            <a:stretch>
              <a:fillRect/>
            </a:stretch>
          </p:blipFill>
          <p:spPr>
            <a:xfrm>
              <a:off x="542691" y="7112053"/>
              <a:ext cx="3184491" cy="422604"/>
            </a:xfrm>
            <a:prstGeom prst="rect">
              <a:avLst/>
            </a:prstGeom>
            <a:ln>
              <a:solidFill>
                <a:schemeClr val="accent1">
                  <a:lumMod val="20000"/>
                  <a:lumOff val="80000"/>
                </a:schemeClr>
              </a:solidFill>
            </a:ln>
          </p:spPr>
        </p:pic>
        <p:pic>
          <p:nvPicPr>
            <p:cNvPr id="148" name="Picture 147"/>
            <p:cNvPicPr>
              <a:picLocks noChangeAspect="1"/>
            </p:cNvPicPr>
            <p:nvPr/>
          </p:nvPicPr>
          <p:blipFill>
            <a:blip r:embed="rId18"/>
            <a:stretch>
              <a:fillRect/>
            </a:stretch>
          </p:blipFill>
          <p:spPr>
            <a:xfrm>
              <a:off x="547222" y="7555667"/>
              <a:ext cx="3179960" cy="750227"/>
            </a:xfrm>
            <a:prstGeom prst="rect">
              <a:avLst/>
            </a:prstGeom>
            <a:ln>
              <a:solidFill>
                <a:schemeClr val="accent1">
                  <a:lumMod val="20000"/>
                  <a:lumOff val="80000"/>
                </a:schemeClr>
              </a:solidFill>
            </a:ln>
          </p:spPr>
        </p:pic>
      </p:grpSp>
      <p:pic>
        <p:nvPicPr>
          <p:cNvPr id="154" name="Picture 153"/>
          <p:cNvPicPr>
            <a:picLocks noChangeAspect="1"/>
          </p:cNvPicPr>
          <p:nvPr/>
        </p:nvPicPr>
        <p:blipFill>
          <a:blip r:embed="rId19"/>
          <a:stretch>
            <a:fillRect/>
          </a:stretch>
        </p:blipFill>
        <p:spPr>
          <a:xfrm>
            <a:off x="555280" y="7082942"/>
            <a:ext cx="3174095" cy="1287808"/>
          </a:xfrm>
          <a:prstGeom prst="rect">
            <a:avLst/>
          </a:prstGeom>
          <a:ln>
            <a:solidFill>
              <a:schemeClr val="accent1">
                <a:lumMod val="20000"/>
                <a:lumOff val="80000"/>
              </a:schemeClr>
            </a:solidFill>
          </a:ln>
        </p:spPr>
      </p:pic>
      <p:pic>
        <p:nvPicPr>
          <p:cNvPr id="155" name="Picture 154"/>
          <p:cNvPicPr>
            <a:picLocks noChangeAspect="1"/>
          </p:cNvPicPr>
          <p:nvPr/>
        </p:nvPicPr>
        <p:blipFill>
          <a:blip r:embed="rId20"/>
          <a:stretch>
            <a:fillRect/>
          </a:stretch>
        </p:blipFill>
        <p:spPr>
          <a:xfrm>
            <a:off x="3977428" y="3379838"/>
            <a:ext cx="3116027" cy="1261580"/>
          </a:xfrm>
          <a:prstGeom prst="rect">
            <a:avLst/>
          </a:prstGeom>
          <a:ln>
            <a:solidFill>
              <a:schemeClr val="accent1">
                <a:lumMod val="20000"/>
                <a:lumOff val="80000"/>
              </a:schemeClr>
            </a:solidFill>
          </a:ln>
        </p:spPr>
      </p:pic>
      <p:pic>
        <p:nvPicPr>
          <p:cNvPr id="159" name="Picture 158"/>
          <p:cNvPicPr>
            <a:picLocks noChangeAspect="1"/>
          </p:cNvPicPr>
          <p:nvPr/>
        </p:nvPicPr>
        <p:blipFill>
          <a:blip r:embed="rId21"/>
          <a:stretch>
            <a:fillRect/>
          </a:stretch>
        </p:blipFill>
        <p:spPr>
          <a:xfrm>
            <a:off x="3977428" y="2289017"/>
            <a:ext cx="3109172" cy="1047387"/>
          </a:xfrm>
          <a:prstGeom prst="rect">
            <a:avLst/>
          </a:prstGeom>
          <a:ln>
            <a:solidFill>
              <a:schemeClr val="accent1">
                <a:lumMod val="20000"/>
                <a:lumOff val="80000"/>
              </a:schemeClr>
            </a:solidFill>
          </a:ln>
        </p:spPr>
      </p:pic>
      <p:pic>
        <p:nvPicPr>
          <p:cNvPr id="160" name="Picture 159"/>
          <p:cNvPicPr>
            <a:picLocks noChangeAspect="1"/>
          </p:cNvPicPr>
          <p:nvPr/>
        </p:nvPicPr>
        <p:blipFill rotWithShape="1">
          <a:blip r:embed="rId22" cstate="print">
            <a:extLst>
              <a:ext uri="{28A0092B-C50C-407E-A947-70E740481C1C}">
                <a14:useLocalDpi xmlns:a14="http://schemas.microsoft.com/office/drawing/2010/main" val="0"/>
              </a:ext>
            </a:extLst>
          </a:blip>
          <a:srcRect t="14980"/>
          <a:stretch/>
        </p:blipFill>
        <p:spPr>
          <a:xfrm>
            <a:off x="2441448" y="37158"/>
            <a:ext cx="2473104" cy="553212"/>
          </a:xfrm>
          <a:prstGeom prst="rect">
            <a:avLst/>
          </a:prstGeom>
        </p:spPr>
      </p:pic>
      <p:pic>
        <p:nvPicPr>
          <p:cNvPr id="161" name="Picture 160"/>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0" y="24359"/>
            <a:ext cx="952459" cy="319328"/>
          </a:xfrm>
          <a:prstGeom prst="rect">
            <a:avLst/>
          </a:prstGeom>
        </p:spPr>
      </p:pic>
      <p:pic>
        <p:nvPicPr>
          <p:cNvPr id="900" name="Image 30" descr="preencoded.png"/>
          <p:cNvPicPr>
            <a:picLocks noChangeAspect="1"/>
          </p:cNvPicPr>
          <p:nvPr/>
        </p:nvPicPr>
        <p:blipFill>
          <a:blip r:embed="rId24"/>
          <a:stretch>
            <a:fillRect/>
          </a:stretch>
        </p:blipFill>
        <p:spPr>
          <a:xfrm>
            <a:off x="630936" y="6507785"/>
            <a:ext cx="105156" cy="105156"/>
          </a:xfrm>
          <a:prstGeom prst="rect">
            <a:avLst/>
          </a:prstGeom>
        </p:spPr>
      </p:pic>
      <p:sp>
        <p:nvSpPr>
          <p:cNvPr id="901" name="Text 60"/>
          <p:cNvSpPr/>
          <p:nvPr/>
        </p:nvSpPr>
        <p:spPr>
          <a:xfrm>
            <a:off x="786384" y="6487668"/>
            <a:ext cx="969264" cy="141732"/>
          </a:xfrm>
          <a:prstGeom prst="rect">
            <a:avLst/>
          </a:prstGeom>
          <a:noFill/>
          <a:ln/>
        </p:spPr>
        <p:txBody>
          <a:bodyPr wrap="square" lIns="0" tIns="0" rIns="0" bIns="0" rtlCol="0" anchor="ctr"/>
          <a:lstStyle/>
          <a:p>
            <a:pPr marL="0" indent="0">
              <a:lnSpc>
                <a:spcPct val="100000"/>
              </a:lnSpc>
              <a:buNone/>
            </a:pPr>
            <a:r>
              <a:rPr lang="en-US" sz="600" b="1">
                <a:solidFill>
                  <a:srgbClr val="152232"/>
                </a:solidFill>
                <a:latin typeface="Calibri" pitchFamily="34" charset="0"/>
                <a:ea typeface="Calibri" pitchFamily="34" charset="-122"/>
                <a:cs typeface="Calibri" pitchFamily="34" charset="-120"/>
              </a:rPr>
              <a:t>Fouling Precursor</a:t>
            </a:r>
            <a:endParaRPr lang="en-US" sz="600" dirty="0"/>
          </a:p>
        </p:txBody>
      </p:sp>
      <p:sp>
        <p:nvSpPr>
          <p:cNvPr id="902" name="Text 61"/>
          <p:cNvSpPr/>
          <p:nvPr/>
        </p:nvSpPr>
        <p:spPr>
          <a:xfrm>
            <a:off x="1792224" y="6487668"/>
            <a:ext cx="1938528" cy="141732"/>
          </a:xfrm>
          <a:prstGeom prst="rect">
            <a:avLst/>
          </a:prstGeom>
          <a:noFill/>
          <a:ln/>
        </p:spPr>
        <p:txBody>
          <a:bodyPr wrap="square" lIns="0" tIns="0" rIns="0" bIns="0" rtlCol="0" anchor="ctr"/>
          <a:lstStyle/>
          <a:p>
            <a:pPr marL="0" indent="0">
              <a:lnSpc>
                <a:spcPct val="100000"/>
              </a:lnSpc>
              <a:buNone/>
            </a:pPr>
            <a:r>
              <a:rPr lang="en-US" sz="500" i="1">
                <a:solidFill>
                  <a:srgbClr val="56646F"/>
                </a:solidFill>
                <a:latin typeface="Calibri" pitchFamily="34" charset="0"/>
                <a:ea typeface="Calibri" pitchFamily="34" charset="-122"/>
                <a:cs typeface="Calibri" pitchFamily="34" charset="-120"/>
              </a:rPr>
              <a:t>Soft sensor estimates precursors that cause fouling in CGC/Quench loops</a:t>
            </a:r>
            <a:endParaRPr lang="en-US" sz="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TotalTime>
  <Words>565</Words>
  <Application>Microsoft Office PowerPoint</Application>
  <PresentationFormat>Custom</PresentationFormat>
  <Paragraphs>68</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Ashish Chandak</dc:creator>
  <cp:lastModifiedBy>Ashish Chandak</cp:lastModifiedBy>
  <cp:revision>17</cp:revision>
  <dcterms:created xsi:type="dcterms:W3CDTF">2026-08-19T09:31:57Z</dcterms:created>
  <dcterms:modified xsi:type="dcterms:W3CDTF">2026-09-01T09:30:04Z</dcterms:modified>
</cp:coreProperties>
</file>