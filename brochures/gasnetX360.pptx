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7562850" cy="10688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F8E84B-FC61-1AB4-890E-6D37D316D49D}" v="10" dt="2026-09-07T14:26:18.2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50" d="100"/>
          <a:sy n="150" d="100"/>
        </p:scale>
        <p:origin x="-43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8298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GasNetX360 A4 one-pager (DRAFT). Layout: Sections 01 (network diagram) and 02 (NCM margin ladder) sit side by side; Section 04 now carries two visuals - the opportunity bubble map (value vs ease of execution) and a new NCM margin-bridge waterfall (Current -&gt; per-lever uplift -&gt; Optimized). ALL numeric values (NCM index, +uplift steps, bubble sizes) are illustrative placeholders for layout - replace with real network data / a site value study before issue.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Page 2: the supplied end-to-end infographic, enlarged, above a scope-and-disclaimer block. All page-1 figures, charts and recommendation mock-ups are illustrative placeholders; scope, formulation, horizon, deliverables and timeline are set during the Discovery &amp; Basis phase.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562850" cy="914400"/>
          </a:xfrm>
          <a:prstGeom prst="rect">
            <a:avLst/>
          </a:prstGeom>
          <a:solidFill>
            <a:srgbClr val="152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21.png"/>
          <p:cNvPicPr>
            <a:picLocks noChangeAspect="1"/>
          </p:cNvPicPr>
          <p:nvPr/>
        </p:nvPicPr>
        <p:blipFill>
          <a:blip r:embed="rId3"/>
          <a:stretch>
            <a:fillRect/>
          </a:stretch>
        </p:blipFill>
        <p:spPr>
          <a:xfrm>
            <a:off x="330200" y="203200"/>
            <a:ext cx="1286706" cy="431800"/>
          </a:xfrm>
          <a:prstGeom prst="rect">
            <a:avLst/>
          </a:prstGeom>
        </p:spPr>
      </p:pic>
      <p:pic>
        <p:nvPicPr>
          <p:cNvPr id="4" name="Picture 3" descr="titleX.png"/>
          <p:cNvPicPr>
            <a:picLocks noChangeAspect="1"/>
          </p:cNvPicPr>
          <p:nvPr/>
        </p:nvPicPr>
        <p:blipFill>
          <a:blip r:embed="rId4"/>
          <a:stretch>
            <a:fillRect/>
          </a:stretch>
        </p:blipFill>
        <p:spPr>
          <a:xfrm>
            <a:off x="3603625" y="177800"/>
            <a:ext cx="406400" cy="368489"/>
          </a:xfrm>
          <a:prstGeom prst="rect">
            <a:avLst/>
          </a:prstGeom>
        </p:spPr>
      </p:pic>
      <p:sp>
        <p:nvSpPr>
          <p:cNvPr id="5" name="TextBox 4"/>
          <p:cNvSpPr txBox="1"/>
          <p:nvPr/>
        </p:nvSpPr>
        <p:spPr>
          <a:xfrm>
            <a:off x="1304925" y="101600"/>
            <a:ext cx="2286000" cy="533400"/>
          </a:xfrm>
          <a:prstGeom prst="rect">
            <a:avLst/>
          </a:prstGeom>
          <a:noFill/>
        </p:spPr>
        <p:txBody>
          <a:bodyPr wrap="square" lIns="0" tIns="0" rIns="0" bIns="0" anchor="ctr">
            <a:spAutoFit/>
          </a:bodyPr>
          <a:lstStyle/>
          <a:p>
            <a:pPr algn="r">
              <a:lnSpc>
                <a:spcPct val="100000"/>
              </a:lnSpc>
            </a:pPr>
            <a:r>
              <a:rPr sz="2700" b="1">
                <a:solidFill>
                  <a:srgbClr val="FFFFFF"/>
                </a:solidFill>
                <a:latin typeface="Calibri"/>
              </a:rPr>
              <a:t>gasnet</a:t>
            </a:r>
          </a:p>
        </p:txBody>
      </p:sp>
      <p:sp>
        <p:nvSpPr>
          <p:cNvPr id="6" name="TextBox 5"/>
          <p:cNvSpPr txBox="1"/>
          <p:nvPr/>
        </p:nvSpPr>
        <p:spPr>
          <a:xfrm>
            <a:off x="3997325" y="101600"/>
            <a:ext cx="2159000" cy="533400"/>
          </a:xfrm>
          <a:prstGeom prst="rect">
            <a:avLst/>
          </a:prstGeom>
          <a:noFill/>
        </p:spPr>
        <p:txBody>
          <a:bodyPr wrap="square" lIns="0" tIns="0" rIns="0" bIns="0" anchor="ctr">
            <a:spAutoFit/>
          </a:bodyPr>
          <a:lstStyle/>
          <a:p>
            <a:pPr algn="l">
              <a:lnSpc>
                <a:spcPct val="100000"/>
              </a:lnSpc>
            </a:pPr>
            <a:r>
              <a:rPr sz="2700" b="1">
                <a:solidFill>
                  <a:srgbClr val="FFFFFF"/>
                </a:solidFill>
                <a:latin typeface="Calibri"/>
              </a:rPr>
              <a:t>360</a:t>
            </a:r>
          </a:p>
        </p:txBody>
      </p:sp>
      <p:sp>
        <p:nvSpPr>
          <p:cNvPr id="7" name="TextBox 6"/>
          <p:cNvSpPr txBox="1"/>
          <p:nvPr/>
        </p:nvSpPr>
        <p:spPr>
          <a:xfrm>
            <a:off x="4565650" y="127000"/>
            <a:ext cx="2667000" cy="330200"/>
          </a:xfrm>
          <a:prstGeom prst="rect">
            <a:avLst/>
          </a:prstGeom>
          <a:noFill/>
        </p:spPr>
        <p:txBody>
          <a:bodyPr wrap="square" lIns="0" tIns="0" rIns="0" bIns="0" anchor="t">
            <a:spAutoFit/>
          </a:bodyPr>
          <a:lstStyle/>
          <a:p>
            <a:pPr algn="r">
              <a:lnSpc>
                <a:spcPct val="115000"/>
              </a:lnSpc>
            </a:pPr>
            <a:r>
              <a:rPr sz="800" b="1">
                <a:solidFill>
                  <a:srgbClr val="E87A22"/>
                </a:solidFill>
                <a:latin typeface="Calibri"/>
              </a:rPr>
              <a:t>MODULE OF THE</a:t>
            </a:r>
          </a:p>
          <a:p>
            <a:pPr algn="r">
              <a:lnSpc>
                <a:spcPct val="115000"/>
              </a:lnSpc>
            </a:pPr>
            <a:r>
              <a:rPr sz="800" b="1">
                <a:solidFill>
                  <a:srgbClr val="E87A22"/>
                </a:solidFill>
                <a:latin typeface="Calibri"/>
              </a:rPr>
              <a:t>INGENEROX360 AI SUITE</a:t>
            </a:r>
          </a:p>
        </p:txBody>
      </p:sp>
      <p:sp>
        <p:nvSpPr>
          <p:cNvPr id="8" name="TextBox 7"/>
          <p:cNvSpPr txBox="1"/>
          <p:nvPr/>
        </p:nvSpPr>
        <p:spPr>
          <a:xfrm>
            <a:off x="0" y="635000"/>
            <a:ext cx="7562850" cy="228600"/>
          </a:xfrm>
          <a:prstGeom prst="rect">
            <a:avLst/>
          </a:prstGeom>
          <a:noFill/>
        </p:spPr>
        <p:txBody>
          <a:bodyPr wrap="square" lIns="0" tIns="0" rIns="0" bIns="0" anchor="ctr">
            <a:spAutoFit/>
          </a:bodyPr>
          <a:lstStyle/>
          <a:p>
            <a:pPr algn="ctr">
              <a:lnSpc>
                <a:spcPct val="100000"/>
              </a:lnSpc>
            </a:pPr>
            <a:r>
              <a:rPr sz="1000" b="0">
                <a:solidFill>
                  <a:srgbClr val="FFFFFF"/>
                </a:solidFill>
                <a:latin typeface="Calibri"/>
              </a:rPr>
              <a:t>Highest-margin, constraint-feasible operating and commercial plans for gas transmission &amp; delivery networks</a:t>
            </a:r>
          </a:p>
        </p:txBody>
      </p:sp>
      <p:sp>
        <p:nvSpPr>
          <p:cNvPr id="9" name="TextBox 8"/>
          <p:cNvSpPr txBox="1"/>
          <p:nvPr/>
        </p:nvSpPr>
        <p:spPr>
          <a:xfrm>
            <a:off x="330200" y="1003300"/>
            <a:ext cx="6902450" cy="165100"/>
          </a:xfrm>
          <a:prstGeom prst="rect">
            <a:avLst/>
          </a:prstGeom>
          <a:noFill/>
        </p:spPr>
        <p:txBody>
          <a:bodyPr wrap="square" lIns="0" tIns="0" rIns="0" bIns="0" anchor="t">
            <a:spAutoFit/>
          </a:bodyPr>
          <a:lstStyle/>
          <a:p>
            <a:pPr algn="l">
              <a:lnSpc>
                <a:spcPct val="100000"/>
              </a:lnSpc>
            </a:pPr>
            <a:r>
              <a:rPr sz="1100" b="1">
                <a:solidFill>
                  <a:srgbClr val="E87A22"/>
                </a:solidFill>
                <a:latin typeface="Calibri"/>
              </a:rPr>
              <a:t>PRODUCT OVERVIEW</a:t>
            </a:r>
          </a:p>
        </p:txBody>
      </p:sp>
      <p:sp>
        <p:nvSpPr>
          <p:cNvPr id="10" name="TextBox 9"/>
          <p:cNvSpPr txBox="1"/>
          <p:nvPr/>
        </p:nvSpPr>
        <p:spPr>
          <a:xfrm>
            <a:off x="330200" y="1193800"/>
            <a:ext cx="6902450" cy="558551"/>
          </a:xfrm>
          <a:prstGeom prst="rect">
            <a:avLst/>
          </a:prstGeom>
          <a:noFill/>
        </p:spPr>
        <p:txBody>
          <a:bodyPr wrap="square" lIns="0" tIns="0" rIns="0" bIns="0" anchor="t">
            <a:spAutoFit/>
          </a:bodyPr>
          <a:lstStyle/>
          <a:p>
            <a:pPr algn="just">
              <a:lnSpc>
                <a:spcPct val="108000"/>
              </a:lnSpc>
            </a:pPr>
            <a:r>
              <a:rPr sz="850" b="0" dirty="0">
                <a:solidFill>
                  <a:srgbClr val="56646F"/>
                </a:solidFill>
                <a:latin typeface="Calibri"/>
              </a:rPr>
              <a:t>GasNetX360 is a decision-support application for gas transmission and delivery network operations, combining hydraulic and equipment-performance models with contracts, tariffs and market prices. Minimizing energy is not the same as maximizing profit</a:t>
            </a:r>
            <a:r>
              <a:rPr lang="en-US" sz="850" dirty="0">
                <a:solidFill>
                  <a:srgbClr val="56646F"/>
                </a:solidFill>
                <a:latin typeface="Calibri"/>
              </a:rPr>
              <a:t>, </a:t>
            </a:r>
            <a:r>
              <a:rPr sz="850" b="0" dirty="0">
                <a:solidFill>
                  <a:srgbClr val="56646F"/>
                </a:solidFill>
                <a:latin typeface="Calibri"/>
              </a:rPr>
              <a:t>a lower-energy plan can forgo a high-value delivery, trigger imbalance penalties, or consume </a:t>
            </a:r>
            <a:r>
              <a:rPr sz="850" b="0" dirty="0" err="1">
                <a:solidFill>
                  <a:srgbClr val="56646F"/>
                </a:solidFill>
                <a:latin typeface="Calibri"/>
              </a:rPr>
              <a:t>linepack</a:t>
            </a:r>
            <a:r>
              <a:rPr sz="850" b="0" dirty="0">
                <a:solidFill>
                  <a:srgbClr val="56646F"/>
                </a:solidFill>
                <a:latin typeface="Calibri"/>
              </a:rPr>
              <a:t> needed before a peak. GasNetX360 finds the highest-margin plan that is still feasible against the network's real hydraulic and equipment limits, configured and commissioned per site by </a:t>
            </a:r>
            <a:r>
              <a:rPr sz="850" b="0" dirty="0" err="1">
                <a:solidFill>
                  <a:srgbClr val="56646F"/>
                </a:solidFill>
                <a:latin typeface="Calibri"/>
              </a:rPr>
              <a:t>Ingenero</a:t>
            </a:r>
            <a:r>
              <a:rPr sz="850" b="0" dirty="0">
                <a:solidFill>
                  <a:srgbClr val="56646F"/>
                </a:solidFill>
                <a:latin typeface="Calibri"/>
              </a:rPr>
              <a:t> engineers.</a:t>
            </a:r>
            <a:endParaRPr lang="en-US" dirty="0"/>
          </a:p>
        </p:txBody>
      </p:sp>
      <p:sp>
        <p:nvSpPr>
          <p:cNvPr id="11" name="Rounded Rectangle 10"/>
          <p:cNvSpPr/>
          <p:nvPr/>
        </p:nvSpPr>
        <p:spPr>
          <a:xfrm>
            <a:off x="330200" y="1790700"/>
            <a:ext cx="6902450" cy="927100"/>
          </a:xfrm>
          <a:prstGeom prst="roundRect">
            <a:avLst>
              <a:gd name="adj" fmla="val 6000"/>
            </a:avLst>
          </a:prstGeom>
          <a:solidFill>
            <a:srgbClr val="FAFBFD"/>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2600" y="1841500"/>
            <a:ext cx="6597650" cy="114300"/>
          </a:xfrm>
          <a:prstGeom prst="rect">
            <a:avLst/>
          </a:prstGeom>
          <a:noFill/>
        </p:spPr>
        <p:txBody>
          <a:bodyPr wrap="square" lIns="0" tIns="0" rIns="0" bIns="0" anchor="t">
            <a:spAutoFit/>
          </a:bodyPr>
          <a:lstStyle/>
          <a:p>
            <a:pPr algn="l">
              <a:lnSpc>
                <a:spcPct val="100000"/>
              </a:lnSpc>
            </a:pPr>
            <a:r>
              <a:rPr sz="680" b="1">
                <a:solidFill>
                  <a:srgbClr val="E87A22"/>
                </a:solidFill>
                <a:latin typeface="Calibri"/>
              </a:rPr>
              <a:t>OBJECTIVE — MAXIMIZE EXPECTED CONTRIBUTION MARGIN OVER THE PLANNING HORIZON</a:t>
            </a:r>
          </a:p>
        </p:txBody>
      </p:sp>
      <p:sp>
        <p:nvSpPr>
          <p:cNvPr id="13" name="TextBox 12"/>
          <p:cNvSpPr txBox="1"/>
          <p:nvPr/>
        </p:nvSpPr>
        <p:spPr>
          <a:xfrm>
            <a:off x="482600" y="1968500"/>
            <a:ext cx="6597650" cy="190500"/>
          </a:xfrm>
          <a:prstGeom prst="rect">
            <a:avLst/>
          </a:prstGeom>
          <a:noFill/>
        </p:spPr>
        <p:txBody>
          <a:bodyPr wrap="square" lIns="0" tIns="0" rIns="0" bIns="0" anchor="t">
            <a:spAutoFit/>
          </a:bodyPr>
          <a:lstStyle/>
          <a:p>
            <a:pPr algn="l">
              <a:lnSpc>
                <a:spcPct val="105000"/>
              </a:lnSpc>
            </a:pPr>
            <a:r>
              <a:rPr sz="730" b="1">
                <a:solidFill>
                  <a:srgbClr val="1E2A36"/>
                </a:solidFill>
                <a:latin typeface="Calibri"/>
              </a:rPr>
              <a:t>Profit  =  </a:t>
            </a:r>
            <a:r>
              <a:rPr sz="690" b="0">
                <a:solidFill>
                  <a:srgbClr val="56646F"/>
                </a:solidFill>
                <a:latin typeface="Calibri"/>
              </a:rPr>
              <a:t>Delivery revenue + Optionality value − Supply cost − Compression cost − Transportation charges − Penalties − Losses / emissions cost − Reliability cost</a:t>
            </a:r>
          </a:p>
        </p:txBody>
      </p:sp>
      <p:sp>
        <p:nvSpPr>
          <p:cNvPr id="14" name="TextBox 13"/>
          <p:cNvSpPr txBox="1"/>
          <p:nvPr/>
        </p:nvSpPr>
        <p:spPr>
          <a:xfrm>
            <a:off x="482600" y="2184400"/>
            <a:ext cx="6597650" cy="114300"/>
          </a:xfrm>
          <a:prstGeom prst="rect">
            <a:avLst/>
          </a:prstGeom>
          <a:noFill/>
        </p:spPr>
        <p:txBody>
          <a:bodyPr wrap="square" lIns="0" tIns="0" rIns="0" bIns="0" anchor="t">
            <a:spAutoFit/>
          </a:bodyPr>
          <a:lstStyle/>
          <a:p>
            <a:pPr algn="l">
              <a:lnSpc>
                <a:spcPct val="100000"/>
              </a:lnSpc>
            </a:pPr>
            <a:r>
              <a:rPr sz="680" b="1">
                <a:solidFill>
                  <a:srgbClr val="E87A22"/>
                </a:solidFill>
                <a:latin typeface="Calibri"/>
              </a:rPr>
              <a:t>SCOPE OF SERVICES — SEVEN PHASES, EACH WITH A SIGNED DELIVERABLE</a:t>
            </a:r>
          </a:p>
        </p:txBody>
      </p:sp>
      <p:sp>
        <p:nvSpPr>
          <p:cNvPr id="15" name="Rounded Rectangle 14"/>
          <p:cNvSpPr/>
          <p:nvPr/>
        </p:nvSpPr>
        <p:spPr>
          <a:xfrm>
            <a:off x="482600" y="2311400"/>
            <a:ext cx="866321" cy="368300"/>
          </a:xfrm>
          <a:prstGeom prst="roundRect">
            <a:avLst>
              <a:gd name="adj" fmla="val 12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2600" y="2336800"/>
            <a:ext cx="866321" cy="88900"/>
          </a:xfrm>
          <a:prstGeom prst="rect">
            <a:avLst/>
          </a:prstGeom>
          <a:noFill/>
        </p:spPr>
        <p:txBody>
          <a:bodyPr wrap="none" lIns="0" tIns="0" rIns="0" bIns="0" anchor="t">
            <a:spAutoFit/>
          </a:bodyPr>
          <a:lstStyle/>
          <a:p>
            <a:pPr algn="ctr">
              <a:lnSpc>
                <a:spcPct val="100000"/>
              </a:lnSpc>
            </a:pPr>
            <a:r>
              <a:rPr sz="450" b="1">
                <a:solidFill>
                  <a:srgbClr val="E87A22"/>
                </a:solidFill>
                <a:latin typeface="Calibri"/>
              </a:rPr>
              <a:t>PHASE 1</a:t>
            </a:r>
          </a:p>
        </p:txBody>
      </p:sp>
      <p:sp>
        <p:nvSpPr>
          <p:cNvPr id="17" name="TextBox 16"/>
          <p:cNvSpPr txBox="1"/>
          <p:nvPr/>
        </p:nvSpPr>
        <p:spPr>
          <a:xfrm>
            <a:off x="508000" y="2425700"/>
            <a:ext cx="815521" cy="241300"/>
          </a:xfrm>
          <a:prstGeom prst="rect">
            <a:avLst/>
          </a:prstGeom>
          <a:noFill/>
        </p:spPr>
        <p:txBody>
          <a:bodyPr wrap="square" lIns="0" tIns="0" rIns="0" bIns="0" anchor="ctr">
            <a:spAutoFit/>
          </a:bodyPr>
          <a:lstStyle/>
          <a:p>
            <a:pPr algn="ctr">
              <a:lnSpc>
                <a:spcPct val="90000"/>
              </a:lnSpc>
            </a:pPr>
            <a:r>
              <a:rPr sz="560" b="1">
                <a:solidFill>
                  <a:srgbClr val="1E2A36"/>
                </a:solidFill>
                <a:latin typeface="Calibri"/>
              </a:rPr>
              <a:t>Discovery &amp; Basis</a:t>
            </a:r>
          </a:p>
        </p:txBody>
      </p:sp>
      <p:sp>
        <p:nvSpPr>
          <p:cNvPr id="18" name="TextBox 17"/>
          <p:cNvSpPr txBox="1"/>
          <p:nvPr/>
        </p:nvSpPr>
        <p:spPr>
          <a:xfrm>
            <a:off x="1348921" y="2311400"/>
            <a:ext cx="88900" cy="368300"/>
          </a:xfrm>
          <a:prstGeom prst="rect">
            <a:avLst/>
          </a:prstGeom>
          <a:noFill/>
        </p:spPr>
        <p:txBody>
          <a:bodyPr wrap="none" lIns="0" tIns="0" rIns="0" bIns="0" anchor="ctr">
            <a:spAutoFit/>
          </a:bodyPr>
          <a:lstStyle/>
          <a:p>
            <a:pPr algn="ctr">
              <a:lnSpc>
                <a:spcPct val="100000"/>
              </a:lnSpc>
            </a:pPr>
            <a:r>
              <a:rPr sz="800" b="0">
                <a:solidFill>
                  <a:srgbClr val="56646F"/>
                </a:solidFill>
                <a:latin typeface="Calibri"/>
              </a:rPr>
              <a:t>›</a:t>
            </a:r>
          </a:p>
        </p:txBody>
      </p:sp>
      <p:sp>
        <p:nvSpPr>
          <p:cNvPr id="19" name="Rounded Rectangle 18"/>
          <p:cNvSpPr/>
          <p:nvPr/>
        </p:nvSpPr>
        <p:spPr>
          <a:xfrm>
            <a:off x="1437821" y="2311400"/>
            <a:ext cx="866321" cy="368300"/>
          </a:xfrm>
          <a:prstGeom prst="roundRect">
            <a:avLst>
              <a:gd name="adj" fmla="val 12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437821" y="2336800"/>
            <a:ext cx="866321" cy="88900"/>
          </a:xfrm>
          <a:prstGeom prst="rect">
            <a:avLst/>
          </a:prstGeom>
          <a:noFill/>
        </p:spPr>
        <p:txBody>
          <a:bodyPr wrap="none" lIns="0" tIns="0" rIns="0" bIns="0" anchor="t">
            <a:spAutoFit/>
          </a:bodyPr>
          <a:lstStyle/>
          <a:p>
            <a:pPr algn="ctr">
              <a:lnSpc>
                <a:spcPct val="100000"/>
              </a:lnSpc>
            </a:pPr>
            <a:r>
              <a:rPr sz="450" b="1">
                <a:solidFill>
                  <a:srgbClr val="E87A22"/>
                </a:solidFill>
                <a:latin typeface="Calibri"/>
              </a:rPr>
              <a:t>PHASE 2</a:t>
            </a:r>
          </a:p>
        </p:txBody>
      </p:sp>
      <p:sp>
        <p:nvSpPr>
          <p:cNvPr id="21" name="TextBox 20"/>
          <p:cNvSpPr txBox="1"/>
          <p:nvPr/>
        </p:nvSpPr>
        <p:spPr>
          <a:xfrm>
            <a:off x="1463221" y="2425700"/>
            <a:ext cx="815521" cy="241300"/>
          </a:xfrm>
          <a:prstGeom prst="rect">
            <a:avLst/>
          </a:prstGeom>
          <a:noFill/>
        </p:spPr>
        <p:txBody>
          <a:bodyPr wrap="square" lIns="0" tIns="0" rIns="0" bIns="0" anchor="ctr">
            <a:spAutoFit/>
          </a:bodyPr>
          <a:lstStyle/>
          <a:p>
            <a:pPr algn="ctr">
              <a:lnSpc>
                <a:spcPct val="90000"/>
              </a:lnSpc>
            </a:pPr>
            <a:r>
              <a:rPr sz="560" b="1">
                <a:solidFill>
                  <a:srgbClr val="1E2A36"/>
                </a:solidFill>
                <a:latin typeface="Calibri"/>
              </a:rPr>
              <a:t>Data Acquisition &amp; Assessment</a:t>
            </a:r>
          </a:p>
        </p:txBody>
      </p:sp>
      <p:sp>
        <p:nvSpPr>
          <p:cNvPr id="22" name="TextBox 21"/>
          <p:cNvSpPr txBox="1"/>
          <p:nvPr/>
        </p:nvSpPr>
        <p:spPr>
          <a:xfrm>
            <a:off x="2304142" y="2311400"/>
            <a:ext cx="88900" cy="368300"/>
          </a:xfrm>
          <a:prstGeom prst="rect">
            <a:avLst/>
          </a:prstGeom>
          <a:noFill/>
        </p:spPr>
        <p:txBody>
          <a:bodyPr wrap="none" lIns="0" tIns="0" rIns="0" bIns="0" anchor="ctr">
            <a:spAutoFit/>
          </a:bodyPr>
          <a:lstStyle/>
          <a:p>
            <a:pPr algn="ctr">
              <a:lnSpc>
                <a:spcPct val="100000"/>
              </a:lnSpc>
            </a:pPr>
            <a:r>
              <a:rPr sz="800" b="0">
                <a:solidFill>
                  <a:srgbClr val="56646F"/>
                </a:solidFill>
                <a:latin typeface="Calibri"/>
              </a:rPr>
              <a:t>›</a:t>
            </a:r>
          </a:p>
        </p:txBody>
      </p:sp>
      <p:sp>
        <p:nvSpPr>
          <p:cNvPr id="23" name="Rounded Rectangle 22"/>
          <p:cNvSpPr/>
          <p:nvPr/>
        </p:nvSpPr>
        <p:spPr>
          <a:xfrm>
            <a:off x="2393042" y="2311400"/>
            <a:ext cx="866321" cy="368300"/>
          </a:xfrm>
          <a:prstGeom prst="roundRect">
            <a:avLst>
              <a:gd name="adj" fmla="val 12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393042" y="2336800"/>
            <a:ext cx="866321" cy="88900"/>
          </a:xfrm>
          <a:prstGeom prst="rect">
            <a:avLst/>
          </a:prstGeom>
          <a:noFill/>
        </p:spPr>
        <p:txBody>
          <a:bodyPr wrap="none" lIns="0" tIns="0" rIns="0" bIns="0" anchor="t">
            <a:spAutoFit/>
          </a:bodyPr>
          <a:lstStyle/>
          <a:p>
            <a:pPr algn="ctr">
              <a:lnSpc>
                <a:spcPct val="100000"/>
              </a:lnSpc>
            </a:pPr>
            <a:r>
              <a:rPr sz="450" b="1">
                <a:solidFill>
                  <a:srgbClr val="E87A22"/>
                </a:solidFill>
                <a:latin typeface="Calibri"/>
              </a:rPr>
              <a:t>PHASE 3</a:t>
            </a:r>
          </a:p>
        </p:txBody>
      </p:sp>
      <p:sp>
        <p:nvSpPr>
          <p:cNvPr id="25" name="TextBox 24"/>
          <p:cNvSpPr txBox="1"/>
          <p:nvPr/>
        </p:nvSpPr>
        <p:spPr>
          <a:xfrm>
            <a:off x="2418442" y="2425700"/>
            <a:ext cx="815521" cy="241300"/>
          </a:xfrm>
          <a:prstGeom prst="rect">
            <a:avLst/>
          </a:prstGeom>
          <a:noFill/>
        </p:spPr>
        <p:txBody>
          <a:bodyPr wrap="square" lIns="0" tIns="0" rIns="0" bIns="0" anchor="ctr">
            <a:spAutoFit/>
          </a:bodyPr>
          <a:lstStyle/>
          <a:p>
            <a:pPr algn="ctr">
              <a:lnSpc>
                <a:spcPct val="90000"/>
              </a:lnSpc>
            </a:pPr>
            <a:r>
              <a:rPr sz="560" b="1">
                <a:solidFill>
                  <a:srgbClr val="1E2A36"/>
                </a:solidFill>
                <a:latin typeface="Calibri"/>
              </a:rPr>
              <a:t>Network &amp; Equipment Model</a:t>
            </a:r>
          </a:p>
        </p:txBody>
      </p:sp>
      <p:sp>
        <p:nvSpPr>
          <p:cNvPr id="26" name="TextBox 25"/>
          <p:cNvSpPr txBox="1"/>
          <p:nvPr/>
        </p:nvSpPr>
        <p:spPr>
          <a:xfrm>
            <a:off x="3259364" y="2311400"/>
            <a:ext cx="88900" cy="368300"/>
          </a:xfrm>
          <a:prstGeom prst="rect">
            <a:avLst/>
          </a:prstGeom>
          <a:noFill/>
        </p:spPr>
        <p:txBody>
          <a:bodyPr wrap="none" lIns="0" tIns="0" rIns="0" bIns="0" anchor="ctr">
            <a:spAutoFit/>
          </a:bodyPr>
          <a:lstStyle/>
          <a:p>
            <a:pPr algn="ctr">
              <a:lnSpc>
                <a:spcPct val="100000"/>
              </a:lnSpc>
            </a:pPr>
            <a:r>
              <a:rPr sz="800" b="0">
                <a:solidFill>
                  <a:srgbClr val="56646F"/>
                </a:solidFill>
                <a:latin typeface="Calibri"/>
              </a:rPr>
              <a:t>›</a:t>
            </a:r>
          </a:p>
        </p:txBody>
      </p:sp>
      <p:sp>
        <p:nvSpPr>
          <p:cNvPr id="27" name="Rounded Rectangle 26"/>
          <p:cNvSpPr/>
          <p:nvPr/>
        </p:nvSpPr>
        <p:spPr>
          <a:xfrm>
            <a:off x="3348264" y="2311400"/>
            <a:ext cx="866321" cy="368300"/>
          </a:xfrm>
          <a:prstGeom prst="roundRect">
            <a:avLst>
              <a:gd name="adj" fmla="val 12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48264" y="2336800"/>
            <a:ext cx="866321" cy="88900"/>
          </a:xfrm>
          <a:prstGeom prst="rect">
            <a:avLst/>
          </a:prstGeom>
          <a:noFill/>
        </p:spPr>
        <p:txBody>
          <a:bodyPr wrap="none" lIns="0" tIns="0" rIns="0" bIns="0" anchor="t">
            <a:spAutoFit/>
          </a:bodyPr>
          <a:lstStyle/>
          <a:p>
            <a:pPr algn="ctr">
              <a:lnSpc>
                <a:spcPct val="100000"/>
              </a:lnSpc>
            </a:pPr>
            <a:r>
              <a:rPr sz="450" b="1">
                <a:solidFill>
                  <a:srgbClr val="E87A22"/>
                </a:solidFill>
                <a:latin typeface="Calibri"/>
              </a:rPr>
              <a:t>PHASE 4</a:t>
            </a:r>
          </a:p>
        </p:txBody>
      </p:sp>
      <p:sp>
        <p:nvSpPr>
          <p:cNvPr id="29" name="TextBox 28"/>
          <p:cNvSpPr txBox="1"/>
          <p:nvPr/>
        </p:nvSpPr>
        <p:spPr>
          <a:xfrm>
            <a:off x="3373664" y="2425700"/>
            <a:ext cx="815521" cy="241300"/>
          </a:xfrm>
          <a:prstGeom prst="rect">
            <a:avLst/>
          </a:prstGeom>
          <a:noFill/>
        </p:spPr>
        <p:txBody>
          <a:bodyPr wrap="square" lIns="0" tIns="0" rIns="0" bIns="0" anchor="ctr">
            <a:spAutoFit/>
          </a:bodyPr>
          <a:lstStyle/>
          <a:p>
            <a:pPr algn="ctr">
              <a:lnSpc>
                <a:spcPct val="90000"/>
              </a:lnSpc>
            </a:pPr>
            <a:r>
              <a:rPr sz="560" b="1">
                <a:solidFill>
                  <a:srgbClr val="1E2A36"/>
                </a:solidFill>
                <a:latin typeface="Calibri"/>
              </a:rPr>
              <a:t>Economic &amp; Contractual Model</a:t>
            </a:r>
          </a:p>
        </p:txBody>
      </p:sp>
      <p:sp>
        <p:nvSpPr>
          <p:cNvPr id="30" name="TextBox 29"/>
          <p:cNvSpPr txBox="1"/>
          <p:nvPr/>
        </p:nvSpPr>
        <p:spPr>
          <a:xfrm>
            <a:off x="4214585" y="2311400"/>
            <a:ext cx="88900" cy="368300"/>
          </a:xfrm>
          <a:prstGeom prst="rect">
            <a:avLst/>
          </a:prstGeom>
          <a:noFill/>
        </p:spPr>
        <p:txBody>
          <a:bodyPr wrap="none" lIns="0" tIns="0" rIns="0" bIns="0" anchor="ctr">
            <a:spAutoFit/>
          </a:bodyPr>
          <a:lstStyle/>
          <a:p>
            <a:pPr algn="ctr">
              <a:lnSpc>
                <a:spcPct val="100000"/>
              </a:lnSpc>
            </a:pPr>
            <a:r>
              <a:rPr sz="800" b="0">
                <a:solidFill>
                  <a:srgbClr val="56646F"/>
                </a:solidFill>
                <a:latin typeface="Calibri"/>
              </a:rPr>
              <a:t>›</a:t>
            </a:r>
          </a:p>
        </p:txBody>
      </p:sp>
      <p:sp>
        <p:nvSpPr>
          <p:cNvPr id="31" name="Rounded Rectangle 30"/>
          <p:cNvSpPr/>
          <p:nvPr/>
        </p:nvSpPr>
        <p:spPr>
          <a:xfrm>
            <a:off x="4303485" y="2311400"/>
            <a:ext cx="866321" cy="368300"/>
          </a:xfrm>
          <a:prstGeom prst="roundRect">
            <a:avLst>
              <a:gd name="adj" fmla="val 12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303485" y="2336800"/>
            <a:ext cx="866321" cy="88900"/>
          </a:xfrm>
          <a:prstGeom prst="rect">
            <a:avLst/>
          </a:prstGeom>
          <a:noFill/>
        </p:spPr>
        <p:txBody>
          <a:bodyPr wrap="none" lIns="0" tIns="0" rIns="0" bIns="0" anchor="t">
            <a:spAutoFit/>
          </a:bodyPr>
          <a:lstStyle/>
          <a:p>
            <a:pPr algn="ctr">
              <a:lnSpc>
                <a:spcPct val="100000"/>
              </a:lnSpc>
            </a:pPr>
            <a:r>
              <a:rPr sz="450" b="1">
                <a:solidFill>
                  <a:srgbClr val="E87A22"/>
                </a:solidFill>
                <a:latin typeface="Calibri"/>
              </a:rPr>
              <a:t>PHASE 5</a:t>
            </a:r>
          </a:p>
        </p:txBody>
      </p:sp>
      <p:sp>
        <p:nvSpPr>
          <p:cNvPr id="33" name="TextBox 32"/>
          <p:cNvSpPr txBox="1"/>
          <p:nvPr/>
        </p:nvSpPr>
        <p:spPr>
          <a:xfrm>
            <a:off x="4328885" y="2425700"/>
            <a:ext cx="815521" cy="241300"/>
          </a:xfrm>
          <a:prstGeom prst="rect">
            <a:avLst/>
          </a:prstGeom>
          <a:noFill/>
        </p:spPr>
        <p:txBody>
          <a:bodyPr wrap="square" lIns="0" tIns="0" rIns="0" bIns="0" anchor="ctr">
            <a:spAutoFit/>
          </a:bodyPr>
          <a:lstStyle/>
          <a:p>
            <a:pPr algn="ctr">
              <a:lnSpc>
                <a:spcPct val="90000"/>
              </a:lnSpc>
            </a:pPr>
            <a:r>
              <a:rPr sz="560" b="1">
                <a:solidFill>
                  <a:srgbClr val="1E2A36"/>
                </a:solidFill>
                <a:latin typeface="Calibri"/>
              </a:rPr>
              <a:t>Optimization &amp; Scenario Engine</a:t>
            </a:r>
          </a:p>
        </p:txBody>
      </p:sp>
      <p:sp>
        <p:nvSpPr>
          <p:cNvPr id="34" name="TextBox 33"/>
          <p:cNvSpPr txBox="1"/>
          <p:nvPr/>
        </p:nvSpPr>
        <p:spPr>
          <a:xfrm>
            <a:off x="5169807" y="2311400"/>
            <a:ext cx="88900" cy="368300"/>
          </a:xfrm>
          <a:prstGeom prst="rect">
            <a:avLst/>
          </a:prstGeom>
          <a:noFill/>
        </p:spPr>
        <p:txBody>
          <a:bodyPr wrap="none" lIns="0" tIns="0" rIns="0" bIns="0" anchor="ctr">
            <a:spAutoFit/>
          </a:bodyPr>
          <a:lstStyle/>
          <a:p>
            <a:pPr algn="ctr">
              <a:lnSpc>
                <a:spcPct val="100000"/>
              </a:lnSpc>
            </a:pPr>
            <a:r>
              <a:rPr sz="800" b="0">
                <a:solidFill>
                  <a:srgbClr val="56646F"/>
                </a:solidFill>
                <a:latin typeface="Calibri"/>
              </a:rPr>
              <a:t>›</a:t>
            </a:r>
          </a:p>
        </p:txBody>
      </p:sp>
      <p:sp>
        <p:nvSpPr>
          <p:cNvPr id="35" name="Rounded Rectangle 34"/>
          <p:cNvSpPr/>
          <p:nvPr/>
        </p:nvSpPr>
        <p:spPr>
          <a:xfrm>
            <a:off x="5258707" y="2311400"/>
            <a:ext cx="866321" cy="368300"/>
          </a:xfrm>
          <a:prstGeom prst="roundRect">
            <a:avLst>
              <a:gd name="adj" fmla="val 12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258707" y="2336800"/>
            <a:ext cx="866321" cy="88900"/>
          </a:xfrm>
          <a:prstGeom prst="rect">
            <a:avLst/>
          </a:prstGeom>
          <a:noFill/>
        </p:spPr>
        <p:txBody>
          <a:bodyPr wrap="none" lIns="0" tIns="0" rIns="0" bIns="0" anchor="t">
            <a:spAutoFit/>
          </a:bodyPr>
          <a:lstStyle/>
          <a:p>
            <a:pPr algn="ctr">
              <a:lnSpc>
                <a:spcPct val="100000"/>
              </a:lnSpc>
            </a:pPr>
            <a:r>
              <a:rPr sz="450" b="1">
                <a:solidFill>
                  <a:srgbClr val="E87A22"/>
                </a:solidFill>
                <a:latin typeface="Calibri"/>
              </a:rPr>
              <a:t>PHASE 6</a:t>
            </a:r>
          </a:p>
        </p:txBody>
      </p:sp>
      <p:sp>
        <p:nvSpPr>
          <p:cNvPr id="37" name="TextBox 36"/>
          <p:cNvSpPr txBox="1"/>
          <p:nvPr/>
        </p:nvSpPr>
        <p:spPr>
          <a:xfrm>
            <a:off x="5284107" y="2425700"/>
            <a:ext cx="815521" cy="241300"/>
          </a:xfrm>
          <a:prstGeom prst="rect">
            <a:avLst/>
          </a:prstGeom>
          <a:noFill/>
        </p:spPr>
        <p:txBody>
          <a:bodyPr wrap="square" lIns="0" tIns="0" rIns="0" bIns="0" anchor="ctr">
            <a:spAutoFit/>
          </a:bodyPr>
          <a:lstStyle/>
          <a:p>
            <a:pPr algn="ctr">
              <a:lnSpc>
                <a:spcPct val="90000"/>
              </a:lnSpc>
            </a:pPr>
            <a:r>
              <a:rPr sz="560" b="1">
                <a:solidFill>
                  <a:srgbClr val="1E2A36"/>
                </a:solidFill>
                <a:latin typeface="Calibri"/>
              </a:rPr>
              <a:t>User Application &amp; Recommendations</a:t>
            </a:r>
          </a:p>
        </p:txBody>
      </p:sp>
      <p:sp>
        <p:nvSpPr>
          <p:cNvPr id="38" name="TextBox 37"/>
          <p:cNvSpPr txBox="1"/>
          <p:nvPr/>
        </p:nvSpPr>
        <p:spPr>
          <a:xfrm>
            <a:off x="6125028" y="2311400"/>
            <a:ext cx="88900" cy="368300"/>
          </a:xfrm>
          <a:prstGeom prst="rect">
            <a:avLst/>
          </a:prstGeom>
          <a:noFill/>
        </p:spPr>
        <p:txBody>
          <a:bodyPr wrap="none" lIns="0" tIns="0" rIns="0" bIns="0" anchor="ctr">
            <a:spAutoFit/>
          </a:bodyPr>
          <a:lstStyle/>
          <a:p>
            <a:pPr algn="ctr">
              <a:lnSpc>
                <a:spcPct val="100000"/>
              </a:lnSpc>
            </a:pPr>
            <a:r>
              <a:rPr sz="800" b="0">
                <a:solidFill>
                  <a:srgbClr val="56646F"/>
                </a:solidFill>
                <a:latin typeface="Calibri"/>
              </a:rPr>
              <a:t>›</a:t>
            </a:r>
          </a:p>
        </p:txBody>
      </p:sp>
      <p:sp>
        <p:nvSpPr>
          <p:cNvPr id="39" name="Rounded Rectangle 38"/>
          <p:cNvSpPr/>
          <p:nvPr/>
        </p:nvSpPr>
        <p:spPr>
          <a:xfrm>
            <a:off x="6213928" y="2311400"/>
            <a:ext cx="866321" cy="368300"/>
          </a:xfrm>
          <a:prstGeom prst="roundRect">
            <a:avLst>
              <a:gd name="adj" fmla="val 12000"/>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213928" y="2336800"/>
            <a:ext cx="866321" cy="88900"/>
          </a:xfrm>
          <a:prstGeom prst="rect">
            <a:avLst/>
          </a:prstGeom>
          <a:noFill/>
        </p:spPr>
        <p:txBody>
          <a:bodyPr wrap="none" lIns="0" tIns="0" rIns="0" bIns="0" anchor="t">
            <a:spAutoFit/>
          </a:bodyPr>
          <a:lstStyle/>
          <a:p>
            <a:pPr algn="ctr">
              <a:lnSpc>
                <a:spcPct val="100000"/>
              </a:lnSpc>
            </a:pPr>
            <a:r>
              <a:rPr sz="450" b="1">
                <a:solidFill>
                  <a:srgbClr val="FFE4C7"/>
                </a:solidFill>
                <a:latin typeface="Calibri"/>
              </a:rPr>
              <a:t>PHASE 7</a:t>
            </a:r>
          </a:p>
        </p:txBody>
      </p:sp>
      <p:sp>
        <p:nvSpPr>
          <p:cNvPr id="41" name="TextBox 40"/>
          <p:cNvSpPr txBox="1"/>
          <p:nvPr/>
        </p:nvSpPr>
        <p:spPr>
          <a:xfrm>
            <a:off x="6239328" y="2425700"/>
            <a:ext cx="815521" cy="241300"/>
          </a:xfrm>
          <a:prstGeom prst="rect">
            <a:avLst/>
          </a:prstGeom>
          <a:noFill/>
        </p:spPr>
        <p:txBody>
          <a:bodyPr wrap="square" lIns="0" tIns="0" rIns="0" bIns="0" anchor="ctr">
            <a:spAutoFit/>
          </a:bodyPr>
          <a:lstStyle/>
          <a:p>
            <a:pPr algn="ctr">
              <a:lnSpc>
                <a:spcPct val="90000"/>
              </a:lnSpc>
            </a:pPr>
            <a:r>
              <a:rPr sz="560" b="1">
                <a:solidFill>
                  <a:srgbClr val="FFFFFF"/>
                </a:solidFill>
                <a:latin typeface="Calibri"/>
              </a:rPr>
              <a:t>Pilot, Training &amp; Deployment</a:t>
            </a:r>
          </a:p>
        </p:txBody>
      </p:sp>
      <p:sp>
        <p:nvSpPr>
          <p:cNvPr id="42" name="Rounded Rectangle 41"/>
          <p:cNvSpPr/>
          <p:nvPr/>
        </p:nvSpPr>
        <p:spPr>
          <a:xfrm>
            <a:off x="330200" y="2781300"/>
            <a:ext cx="3927220" cy="1765300"/>
          </a:xfrm>
          <a:prstGeom prst="roundRect">
            <a:avLst>
              <a:gd name="adj" fmla="val 3000"/>
            </a:avLst>
          </a:prstGeom>
          <a:solidFill>
            <a:srgbClr val="FFFFFF"/>
          </a:solidFill>
          <a:ln w="9525">
            <a:solidFill>
              <a:srgbClr val="DFE5EC"/>
            </a:solidFill>
          </a:ln>
          <a:effectLst>
            <a:outerShdw blurRad="50000" dist="20000" dir="5400000" rotWithShape="0">
              <a:srgbClr val="A6B2BE">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4409820" y="2781300"/>
            <a:ext cx="2822829" cy="1765300"/>
          </a:xfrm>
          <a:prstGeom prst="roundRect">
            <a:avLst>
              <a:gd name="adj" fmla="val 3000"/>
            </a:avLst>
          </a:prstGeom>
          <a:solidFill>
            <a:srgbClr val="FFFFFF"/>
          </a:solidFill>
          <a:ln w="9525">
            <a:solidFill>
              <a:srgbClr val="DFE5EC"/>
            </a:solidFill>
          </a:ln>
          <a:effectLst>
            <a:outerShdw blurRad="50000" dist="20000" dir="5400000" rotWithShape="0">
              <a:srgbClr val="A6B2BE">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469900" y="2921000"/>
            <a:ext cx="241300" cy="241300"/>
          </a:xfrm>
          <a:prstGeom prst="ellipse">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Picture 44" descr="image2.png"/>
          <p:cNvPicPr>
            <a:picLocks noChangeAspect="1"/>
          </p:cNvPicPr>
          <p:nvPr/>
        </p:nvPicPr>
        <p:blipFill>
          <a:blip r:embed="rId5"/>
          <a:stretch>
            <a:fillRect/>
          </a:stretch>
        </p:blipFill>
        <p:spPr>
          <a:xfrm>
            <a:off x="520700" y="2971800"/>
            <a:ext cx="139700" cy="139700"/>
          </a:xfrm>
          <a:prstGeom prst="rect">
            <a:avLst/>
          </a:prstGeom>
        </p:spPr>
      </p:pic>
      <p:sp>
        <p:nvSpPr>
          <p:cNvPr id="46" name="TextBox 45"/>
          <p:cNvSpPr txBox="1"/>
          <p:nvPr/>
        </p:nvSpPr>
        <p:spPr>
          <a:xfrm>
            <a:off x="800100" y="2908300"/>
            <a:ext cx="330200" cy="266700"/>
          </a:xfrm>
          <a:prstGeom prst="rect">
            <a:avLst/>
          </a:prstGeom>
          <a:noFill/>
        </p:spPr>
        <p:txBody>
          <a:bodyPr wrap="square" lIns="0" tIns="0" rIns="0" bIns="0" anchor="ctr">
            <a:spAutoFit/>
          </a:bodyPr>
          <a:lstStyle/>
          <a:p>
            <a:pPr algn="l">
              <a:lnSpc>
                <a:spcPct val="100000"/>
              </a:lnSpc>
            </a:pPr>
            <a:r>
              <a:rPr sz="1150" b="1">
                <a:solidFill>
                  <a:srgbClr val="E87A22"/>
                </a:solidFill>
                <a:latin typeface="Calibri"/>
              </a:rPr>
              <a:t>01</a:t>
            </a:r>
          </a:p>
        </p:txBody>
      </p:sp>
      <p:sp>
        <p:nvSpPr>
          <p:cNvPr id="47" name="TextBox 46"/>
          <p:cNvSpPr txBox="1"/>
          <p:nvPr/>
        </p:nvSpPr>
        <p:spPr>
          <a:xfrm>
            <a:off x="1092200" y="2895600"/>
            <a:ext cx="3025520" cy="292100"/>
          </a:xfrm>
          <a:prstGeom prst="rect">
            <a:avLst/>
          </a:prstGeom>
          <a:noFill/>
        </p:spPr>
        <p:txBody>
          <a:bodyPr wrap="none" lIns="0" tIns="0" rIns="0" bIns="0" anchor="ctr">
            <a:spAutoFit/>
          </a:bodyPr>
          <a:lstStyle/>
          <a:p>
            <a:pPr algn="l">
              <a:lnSpc>
                <a:spcPct val="100000"/>
              </a:lnSpc>
            </a:pPr>
            <a:r>
              <a:rPr sz="1100" b="1">
                <a:solidFill>
                  <a:srgbClr val="1E2A36"/>
                </a:solidFill>
                <a:latin typeface="Calibri"/>
              </a:rPr>
              <a:t>Network &amp; Equipment Model</a:t>
            </a:r>
          </a:p>
        </p:txBody>
      </p:sp>
      <p:sp>
        <p:nvSpPr>
          <p:cNvPr id="48" name="TextBox 47"/>
          <p:cNvSpPr txBox="1"/>
          <p:nvPr/>
        </p:nvSpPr>
        <p:spPr>
          <a:xfrm>
            <a:off x="469900" y="3175000"/>
            <a:ext cx="3647820" cy="139700"/>
          </a:xfrm>
          <a:prstGeom prst="rect">
            <a:avLst/>
          </a:prstGeom>
          <a:noFill/>
        </p:spPr>
        <p:txBody>
          <a:bodyPr wrap="square" lIns="0" tIns="0" rIns="0" bIns="0" anchor="t">
            <a:spAutoFit/>
          </a:bodyPr>
          <a:lstStyle/>
          <a:p>
            <a:pPr algn="l">
              <a:lnSpc>
                <a:spcPct val="100000"/>
              </a:lnSpc>
            </a:pPr>
            <a:r>
              <a:rPr sz="700" b="0" i="1">
                <a:solidFill>
                  <a:srgbClr val="56646F"/>
                </a:solidFill>
                <a:latin typeface="Calibri"/>
              </a:rPr>
              <a:t>Shown: how the optimizer weighs multiple supplies and delivery priorities</a:t>
            </a:r>
          </a:p>
        </p:txBody>
      </p:sp>
      <p:sp>
        <p:nvSpPr>
          <p:cNvPr id="49" name="Rounded Rectangle 48"/>
          <p:cNvSpPr/>
          <p:nvPr/>
        </p:nvSpPr>
        <p:spPr>
          <a:xfrm>
            <a:off x="469900" y="3302000"/>
            <a:ext cx="850900" cy="279400"/>
          </a:xfrm>
          <a:prstGeom prst="roundRect">
            <a:avLst>
              <a:gd name="adj" fmla="val 12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8000" y="3327400"/>
            <a:ext cx="774700" cy="127000"/>
          </a:xfrm>
          <a:prstGeom prst="rect">
            <a:avLst/>
          </a:prstGeom>
          <a:noFill/>
        </p:spPr>
        <p:txBody>
          <a:bodyPr wrap="none" lIns="0" tIns="0" rIns="0" bIns="0" anchor="t">
            <a:spAutoFit/>
          </a:bodyPr>
          <a:lstStyle/>
          <a:p>
            <a:pPr algn="ctr">
              <a:lnSpc>
                <a:spcPct val="100000"/>
              </a:lnSpc>
            </a:pPr>
            <a:r>
              <a:rPr sz="680" b="1">
                <a:solidFill>
                  <a:srgbClr val="1E2A36"/>
                </a:solidFill>
                <a:latin typeface="Calibri"/>
              </a:rPr>
              <a:t>Supply A</a:t>
            </a:r>
          </a:p>
        </p:txBody>
      </p:sp>
      <p:sp>
        <p:nvSpPr>
          <p:cNvPr id="51" name="TextBox 50"/>
          <p:cNvSpPr txBox="1"/>
          <p:nvPr/>
        </p:nvSpPr>
        <p:spPr>
          <a:xfrm>
            <a:off x="508000" y="3441700"/>
            <a:ext cx="774700" cy="127000"/>
          </a:xfrm>
          <a:prstGeom prst="rect">
            <a:avLst/>
          </a:prstGeom>
          <a:noFill/>
        </p:spPr>
        <p:txBody>
          <a:bodyPr wrap="square" lIns="0" tIns="0" rIns="0" bIns="0" anchor="t">
            <a:spAutoFit/>
          </a:bodyPr>
          <a:lstStyle/>
          <a:p>
            <a:pPr algn="ctr">
              <a:lnSpc>
                <a:spcPct val="92000"/>
              </a:lnSpc>
            </a:pPr>
            <a:r>
              <a:rPr sz="520" b="0">
                <a:solidFill>
                  <a:srgbClr val="56646F"/>
                </a:solidFill>
                <a:latin typeface="Calibri"/>
              </a:rPr>
              <a:t>cheaper, farther</a:t>
            </a:r>
          </a:p>
        </p:txBody>
      </p:sp>
      <p:sp>
        <p:nvSpPr>
          <p:cNvPr id="52" name="Rounded Rectangle 51"/>
          <p:cNvSpPr/>
          <p:nvPr/>
        </p:nvSpPr>
        <p:spPr>
          <a:xfrm>
            <a:off x="469900" y="3657600"/>
            <a:ext cx="850900" cy="279400"/>
          </a:xfrm>
          <a:prstGeom prst="roundRect">
            <a:avLst>
              <a:gd name="adj" fmla="val 12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8000" y="3683000"/>
            <a:ext cx="774700" cy="127000"/>
          </a:xfrm>
          <a:prstGeom prst="rect">
            <a:avLst/>
          </a:prstGeom>
          <a:noFill/>
        </p:spPr>
        <p:txBody>
          <a:bodyPr wrap="none" lIns="0" tIns="0" rIns="0" bIns="0" anchor="t">
            <a:spAutoFit/>
          </a:bodyPr>
          <a:lstStyle/>
          <a:p>
            <a:pPr algn="ctr">
              <a:lnSpc>
                <a:spcPct val="100000"/>
              </a:lnSpc>
            </a:pPr>
            <a:r>
              <a:rPr sz="680" b="1">
                <a:solidFill>
                  <a:srgbClr val="1E2A36"/>
                </a:solidFill>
                <a:latin typeface="Calibri"/>
              </a:rPr>
              <a:t>Supply B</a:t>
            </a:r>
          </a:p>
        </p:txBody>
      </p:sp>
      <p:sp>
        <p:nvSpPr>
          <p:cNvPr id="54" name="TextBox 53"/>
          <p:cNvSpPr txBox="1"/>
          <p:nvPr/>
        </p:nvSpPr>
        <p:spPr>
          <a:xfrm>
            <a:off x="508000" y="3797300"/>
            <a:ext cx="774700" cy="127000"/>
          </a:xfrm>
          <a:prstGeom prst="rect">
            <a:avLst/>
          </a:prstGeom>
          <a:noFill/>
        </p:spPr>
        <p:txBody>
          <a:bodyPr wrap="square" lIns="0" tIns="0" rIns="0" bIns="0" anchor="t">
            <a:spAutoFit/>
          </a:bodyPr>
          <a:lstStyle/>
          <a:p>
            <a:pPr algn="ctr">
              <a:lnSpc>
                <a:spcPct val="92000"/>
              </a:lnSpc>
            </a:pPr>
            <a:r>
              <a:rPr sz="520" b="0">
                <a:solidFill>
                  <a:srgbClr val="56646F"/>
                </a:solidFill>
                <a:latin typeface="Calibri"/>
              </a:rPr>
              <a:t>costlier, closer</a:t>
            </a:r>
          </a:p>
        </p:txBody>
      </p:sp>
      <p:sp>
        <p:nvSpPr>
          <p:cNvPr id="55" name="Rounded Rectangle 54"/>
          <p:cNvSpPr/>
          <p:nvPr/>
        </p:nvSpPr>
        <p:spPr>
          <a:xfrm>
            <a:off x="3266820" y="3302000"/>
            <a:ext cx="850900" cy="279400"/>
          </a:xfrm>
          <a:prstGeom prst="roundRect">
            <a:avLst>
              <a:gd name="adj" fmla="val 12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304920" y="3327400"/>
            <a:ext cx="774700" cy="127000"/>
          </a:xfrm>
          <a:prstGeom prst="rect">
            <a:avLst/>
          </a:prstGeom>
          <a:noFill/>
        </p:spPr>
        <p:txBody>
          <a:bodyPr wrap="none" lIns="0" tIns="0" rIns="0" bIns="0" anchor="t">
            <a:spAutoFit/>
          </a:bodyPr>
          <a:lstStyle/>
          <a:p>
            <a:pPr algn="ctr">
              <a:lnSpc>
                <a:spcPct val="100000"/>
              </a:lnSpc>
            </a:pPr>
            <a:r>
              <a:rPr sz="680" b="1">
                <a:solidFill>
                  <a:srgbClr val="1E2A36"/>
                </a:solidFill>
                <a:latin typeface="Calibri"/>
              </a:rPr>
              <a:t>Delivery A</a:t>
            </a:r>
          </a:p>
        </p:txBody>
      </p:sp>
      <p:sp>
        <p:nvSpPr>
          <p:cNvPr id="57" name="TextBox 56"/>
          <p:cNvSpPr txBox="1"/>
          <p:nvPr/>
        </p:nvSpPr>
        <p:spPr>
          <a:xfrm>
            <a:off x="3304920" y="3441700"/>
            <a:ext cx="774700" cy="127000"/>
          </a:xfrm>
          <a:prstGeom prst="rect">
            <a:avLst/>
          </a:prstGeom>
          <a:noFill/>
        </p:spPr>
        <p:txBody>
          <a:bodyPr wrap="square" lIns="0" tIns="0" rIns="0" bIns="0" anchor="t">
            <a:spAutoFit/>
          </a:bodyPr>
          <a:lstStyle/>
          <a:p>
            <a:pPr algn="ctr">
              <a:lnSpc>
                <a:spcPct val="92000"/>
              </a:lnSpc>
            </a:pPr>
            <a:r>
              <a:rPr sz="520" b="0">
                <a:solidFill>
                  <a:srgbClr val="56646F"/>
                </a:solidFill>
                <a:latin typeface="Calibri"/>
              </a:rPr>
              <a:t>firm, high value</a:t>
            </a:r>
          </a:p>
        </p:txBody>
      </p:sp>
      <p:sp>
        <p:nvSpPr>
          <p:cNvPr id="58" name="Rounded Rectangle 57"/>
          <p:cNvSpPr/>
          <p:nvPr/>
        </p:nvSpPr>
        <p:spPr>
          <a:xfrm>
            <a:off x="3266820" y="3657600"/>
            <a:ext cx="850900" cy="279400"/>
          </a:xfrm>
          <a:prstGeom prst="roundRect">
            <a:avLst>
              <a:gd name="adj" fmla="val 12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304920" y="3683000"/>
            <a:ext cx="774700" cy="127000"/>
          </a:xfrm>
          <a:prstGeom prst="rect">
            <a:avLst/>
          </a:prstGeom>
          <a:noFill/>
        </p:spPr>
        <p:txBody>
          <a:bodyPr wrap="none" lIns="0" tIns="0" rIns="0" bIns="0" anchor="t">
            <a:spAutoFit/>
          </a:bodyPr>
          <a:lstStyle/>
          <a:p>
            <a:pPr algn="ctr">
              <a:lnSpc>
                <a:spcPct val="100000"/>
              </a:lnSpc>
            </a:pPr>
            <a:r>
              <a:rPr sz="680" b="1">
                <a:solidFill>
                  <a:srgbClr val="1E2A36"/>
                </a:solidFill>
                <a:latin typeface="Calibri"/>
              </a:rPr>
              <a:t>Delivery B</a:t>
            </a:r>
          </a:p>
        </p:txBody>
      </p:sp>
      <p:sp>
        <p:nvSpPr>
          <p:cNvPr id="60" name="TextBox 59"/>
          <p:cNvSpPr txBox="1"/>
          <p:nvPr/>
        </p:nvSpPr>
        <p:spPr>
          <a:xfrm>
            <a:off x="3304920" y="3797300"/>
            <a:ext cx="774700" cy="127000"/>
          </a:xfrm>
          <a:prstGeom prst="rect">
            <a:avLst/>
          </a:prstGeom>
          <a:noFill/>
        </p:spPr>
        <p:txBody>
          <a:bodyPr wrap="square" lIns="0" tIns="0" rIns="0" bIns="0" anchor="t">
            <a:spAutoFit/>
          </a:bodyPr>
          <a:lstStyle/>
          <a:p>
            <a:pPr algn="ctr">
              <a:lnSpc>
                <a:spcPct val="92000"/>
              </a:lnSpc>
            </a:pPr>
            <a:r>
              <a:rPr sz="520" b="0">
                <a:solidFill>
                  <a:srgbClr val="56646F"/>
                </a:solidFill>
                <a:latin typeface="Calibri"/>
              </a:rPr>
              <a:t>interruptible</a:t>
            </a:r>
          </a:p>
        </p:txBody>
      </p:sp>
      <p:sp>
        <p:nvSpPr>
          <p:cNvPr id="61" name="Rounded Rectangle 60"/>
          <p:cNvSpPr/>
          <p:nvPr/>
        </p:nvSpPr>
        <p:spPr>
          <a:xfrm>
            <a:off x="1677860" y="3361267"/>
            <a:ext cx="1264334" cy="533400"/>
          </a:xfrm>
          <a:prstGeom prst="roundRect">
            <a:avLst>
              <a:gd name="adj" fmla="val 9000"/>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710075" y="3460750"/>
            <a:ext cx="1188134" cy="283091"/>
          </a:xfrm>
          <a:prstGeom prst="rect">
            <a:avLst/>
          </a:prstGeom>
          <a:noFill/>
        </p:spPr>
        <p:txBody>
          <a:bodyPr wrap="square" lIns="0" tIns="0" rIns="0" bIns="0" anchor="ctr">
            <a:spAutoFit/>
          </a:bodyPr>
          <a:lstStyle/>
          <a:p>
            <a:pPr algn="ctr">
              <a:lnSpc>
                <a:spcPct val="130000"/>
              </a:lnSpc>
            </a:pPr>
            <a:r>
              <a:rPr sz="900" b="1" dirty="0">
                <a:solidFill>
                  <a:srgbClr val="FFFFFF"/>
                </a:solidFill>
                <a:latin typeface="Calibri"/>
              </a:rPr>
              <a:t>Compressor Station</a:t>
            </a:r>
          </a:p>
          <a:p>
            <a:pPr algn="ctr">
              <a:lnSpc>
                <a:spcPct val="130000"/>
              </a:lnSpc>
            </a:pPr>
            <a:r>
              <a:rPr sz="560" b="0" dirty="0">
                <a:solidFill>
                  <a:srgbClr val="FFE4C7"/>
                </a:solidFill>
                <a:latin typeface="Calibri"/>
              </a:rPr>
              <a:t>raises pressure — the shared bottleneck</a:t>
            </a:r>
          </a:p>
        </p:txBody>
      </p:sp>
      <p:sp>
        <p:nvSpPr>
          <p:cNvPr id="63" name="TextBox 62"/>
          <p:cNvSpPr txBox="1"/>
          <p:nvPr/>
        </p:nvSpPr>
        <p:spPr>
          <a:xfrm>
            <a:off x="1295400" y="3505200"/>
            <a:ext cx="350710" cy="228600"/>
          </a:xfrm>
          <a:prstGeom prst="rect">
            <a:avLst/>
          </a:prstGeom>
          <a:noFill/>
        </p:spPr>
        <p:txBody>
          <a:bodyPr wrap="none" lIns="0" tIns="0" rIns="0" bIns="0" anchor="ctr">
            <a:spAutoFit/>
          </a:bodyPr>
          <a:lstStyle/>
          <a:p>
            <a:pPr algn="ctr">
              <a:lnSpc>
                <a:spcPct val="100000"/>
              </a:lnSpc>
            </a:pPr>
            <a:r>
              <a:rPr sz="1100" b="0">
                <a:solidFill>
                  <a:srgbClr val="56646F"/>
                </a:solidFill>
                <a:latin typeface="Calibri"/>
              </a:rPr>
              <a:t>→</a:t>
            </a:r>
          </a:p>
        </p:txBody>
      </p:sp>
      <p:sp>
        <p:nvSpPr>
          <p:cNvPr id="64" name="TextBox 63"/>
          <p:cNvSpPr txBox="1"/>
          <p:nvPr/>
        </p:nvSpPr>
        <p:spPr>
          <a:xfrm>
            <a:off x="2941510" y="3505200"/>
            <a:ext cx="350710" cy="228600"/>
          </a:xfrm>
          <a:prstGeom prst="rect">
            <a:avLst/>
          </a:prstGeom>
          <a:noFill/>
        </p:spPr>
        <p:txBody>
          <a:bodyPr wrap="none" lIns="0" tIns="0" rIns="0" bIns="0" anchor="ctr">
            <a:spAutoFit/>
          </a:bodyPr>
          <a:lstStyle/>
          <a:p>
            <a:pPr algn="ctr">
              <a:lnSpc>
                <a:spcPct val="100000"/>
              </a:lnSpc>
            </a:pPr>
            <a:r>
              <a:rPr sz="1100" b="0">
                <a:solidFill>
                  <a:srgbClr val="56646F"/>
                </a:solidFill>
                <a:latin typeface="Calibri"/>
              </a:rPr>
              <a:t>→</a:t>
            </a:r>
          </a:p>
        </p:txBody>
      </p:sp>
      <p:sp>
        <p:nvSpPr>
          <p:cNvPr id="65" name="Rectangle 64"/>
          <p:cNvSpPr/>
          <p:nvPr/>
        </p:nvSpPr>
        <p:spPr>
          <a:xfrm>
            <a:off x="2288730" y="3937000"/>
            <a:ext cx="10160" cy="63500"/>
          </a:xfrm>
          <a:prstGeom prst="rect">
            <a:avLst/>
          </a:prstGeom>
          <a:solidFill>
            <a:srgbClr val="DFE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2192210" y="3911600"/>
            <a:ext cx="203200" cy="114300"/>
          </a:xfrm>
          <a:prstGeom prst="rect">
            <a:avLst/>
          </a:prstGeom>
          <a:noFill/>
        </p:spPr>
        <p:txBody>
          <a:bodyPr wrap="none" lIns="0" tIns="0" rIns="0" bIns="0" anchor="t">
            <a:spAutoFit/>
          </a:bodyPr>
          <a:lstStyle/>
          <a:p>
            <a:pPr algn="ctr">
              <a:lnSpc>
                <a:spcPct val="100000"/>
              </a:lnSpc>
            </a:pPr>
            <a:r>
              <a:rPr sz="800" b="0">
                <a:solidFill>
                  <a:srgbClr val="56646F"/>
                </a:solidFill>
                <a:latin typeface="Calibri"/>
              </a:rPr>
              <a:t>↓</a:t>
            </a:r>
          </a:p>
        </p:txBody>
      </p:sp>
      <p:sp>
        <p:nvSpPr>
          <p:cNvPr id="67" name="Rounded Rectangle 66"/>
          <p:cNvSpPr/>
          <p:nvPr/>
        </p:nvSpPr>
        <p:spPr>
          <a:xfrm>
            <a:off x="1620710" y="4025900"/>
            <a:ext cx="1346200" cy="254000"/>
          </a:xfrm>
          <a:prstGeom prst="roundRect">
            <a:avLst>
              <a:gd name="adj" fmla="val 12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658810" y="4051300"/>
            <a:ext cx="1270000" cy="127000"/>
          </a:xfrm>
          <a:prstGeom prst="rect">
            <a:avLst/>
          </a:prstGeom>
          <a:noFill/>
        </p:spPr>
        <p:txBody>
          <a:bodyPr wrap="none" lIns="0" tIns="0" rIns="0" bIns="0" anchor="t">
            <a:spAutoFit/>
          </a:bodyPr>
          <a:lstStyle/>
          <a:p>
            <a:pPr algn="ctr">
              <a:lnSpc>
                <a:spcPct val="100000"/>
              </a:lnSpc>
            </a:pPr>
            <a:r>
              <a:rPr sz="640" b="1">
                <a:solidFill>
                  <a:srgbClr val="1E2A36"/>
                </a:solidFill>
                <a:latin typeface="Calibri"/>
              </a:rPr>
              <a:t>Linepack &amp; Storage</a:t>
            </a:r>
          </a:p>
        </p:txBody>
      </p:sp>
      <p:sp>
        <p:nvSpPr>
          <p:cNvPr id="69" name="TextBox 68"/>
          <p:cNvSpPr txBox="1"/>
          <p:nvPr/>
        </p:nvSpPr>
        <p:spPr>
          <a:xfrm>
            <a:off x="1658810" y="4165600"/>
            <a:ext cx="1270000" cy="101600"/>
          </a:xfrm>
          <a:prstGeom prst="rect">
            <a:avLst/>
          </a:prstGeom>
          <a:noFill/>
        </p:spPr>
        <p:txBody>
          <a:bodyPr wrap="square" lIns="0" tIns="0" rIns="0" bIns="0" anchor="t">
            <a:spAutoFit/>
          </a:bodyPr>
          <a:lstStyle/>
          <a:p>
            <a:pPr algn="ctr">
              <a:lnSpc>
                <a:spcPct val="92000"/>
              </a:lnSpc>
            </a:pPr>
            <a:r>
              <a:rPr sz="500" b="0">
                <a:solidFill>
                  <a:srgbClr val="56646F"/>
                </a:solidFill>
                <a:latin typeface="Calibri"/>
              </a:rPr>
              <a:t>buffers supply / demand swings</a:t>
            </a:r>
          </a:p>
        </p:txBody>
      </p:sp>
      <p:sp>
        <p:nvSpPr>
          <p:cNvPr id="70" name="TextBox 69"/>
          <p:cNvSpPr txBox="1"/>
          <p:nvPr/>
        </p:nvSpPr>
        <p:spPr>
          <a:xfrm>
            <a:off x="469900" y="4343400"/>
            <a:ext cx="3647820" cy="114300"/>
          </a:xfrm>
          <a:prstGeom prst="rect">
            <a:avLst/>
          </a:prstGeom>
          <a:noFill/>
        </p:spPr>
        <p:txBody>
          <a:bodyPr wrap="square" lIns="0" tIns="0" rIns="0" bIns="0" anchor="t">
            <a:spAutoFit/>
          </a:bodyPr>
          <a:lstStyle/>
          <a:p>
            <a:pPr algn="l">
              <a:lnSpc>
                <a:spcPct val="100000"/>
              </a:lnSpc>
            </a:pPr>
            <a:r>
              <a:rPr sz="600" b="0" i="1">
                <a:solidFill>
                  <a:srgbClr val="56646F"/>
                </a:solidFill>
                <a:latin typeface="Calibri"/>
              </a:rPr>
              <a:t>The optimizer chooses the source, the compression and which delivery to serve first.</a:t>
            </a:r>
          </a:p>
        </p:txBody>
      </p:sp>
      <p:sp>
        <p:nvSpPr>
          <p:cNvPr id="71" name="Oval 70"/>
          <p:cNvSpPr/>
          <p:nvPr/>
        </p:nvSpPr>
        <p:spPr>
          <a:xfrm>
            <a:off x="4549520" y="2921000"/>
            <a:ext cx="241300" cy="241300"/>
          </a:xfrm>
          <a:prstGeom prst="ellipse">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2" name="Picture 71" descr="image1.png"/>
          <p:cNvPicPr>
            <a:picLocks noChangeAspect="1"/>
          </p:cNvPicPr>
          <p:nvPr/>
        </p:nvPicPr>
        <p:blipFill>
          <a:blip r:embed="rId6"/>
          <a:stretch>
            <a:fillRect/>
          </a:stretch>
        </p:blipFill>
        <p:spPr>
          <a:xfrm>
            <a:off x="4600320" y="2971800"/>
            <a:ext cx="139700" cy="139700"/>
          </a:xfrm>
          <a:prstGeom prst="rect">
            <a:avLst/>
          </a:prstGeom>
        </p:spPr>
      </p:pic>
      <p:sp>
        <p:nvSpPr>
          <p:cNvPr id="73" name="TextBox 72"/>
          <p:cNvSpPr txBox="1"/>
          <p:nvPr/>
        </p:nvSpPr>
        <p:spPr>
          <a:xfrm>
            <a:off x="4879720" y="2908300"/>
            <a:ext cx="330200" cy="266700"/>
          </a:xfrm>
          <a:prstGeom prst="rect">
            <a:avLst/>
          </a:prstGeom>
          <a:noFill/>
        </p:spPr>
        <p:txBody>
          <a:bodyPr wrap="square" lIns="0" tIns="0" rIns="0" bIns="0" anchor="ctr">
            <a:spAutoFit/>
          </a:bodyPr>
          <a:lstStyle/>
          <a:p>
            <a:pPr algn="l">
              <a:lnSpc>
                <a:spcPct val="100000"/>
              </a:lnSpc>
            </a:pPr>
            <a:r>
              <a:rPr sz="1150" b="1">
                <a:solidFill>
                  <a:srgbClr val="E87A22"/>
                </a:solidFill>
                <a:latin typeface="Calibri"/>
              </a:rPr>
              <a:t>02</a:t>
            </a:r>
          </a:p>
        </p:txBody>
      </p:sp>
      <p:sp>
        <p:nvSpPr>
          <p:cNvPr id="74" name="TextBox 73"/>
          <p:cNvSpPr txBox="1"/>
          <p:nvPr/>
        </p:nvSpPr>
        <p:spPr>
          <a:xfrm>
            <a:off x="5171820" y="2895600"/>
            <a:ext cx="1921128" cy="292100"/>
          </a:xfrm>
          <a:prstGeom prst="rect">
            <a:avLst/>
          </a:prstGeom>
          <a:noFill/>
        </p:spPr>
        <p:txBody>
          <a:bodyPr wrap="none" lIns="0" tIns="0" rIns="0" bIns="0" anchor="ctr">
            <a:spAutoFit/>
          </a:bodyPr>
          <a:lstStyle/>
          <a:p>
            <a:pPr algn="l">
              <a:lnSpc>
                <a:spcPct val="100000"/>
              </a:lnSpc>
            </a:pPr>
            <a:r>
              <a:rPr sz="1000" b="1">
                <a:solidFill>
                  <a:srgbClr val="1E2A36"/>
                </a:solidFill>
                <a:latin typeface="Calibri"/>
              </a:rPr>
              <a:t>Economic &amp; Commercial Model</a:t>
            </a:r>
          </a:p>
        </p:txBody>
      </p:sp>
      <p:sp>
        <p:nvSpPr>
          <p:cNvPr id="75" name="TextBox 74"/>
          <p:cNvSpPr txBox="1"/>
          <p:nvPr/>
        </p:nvSpPr>
        <p:spPr>
          <a:xfrm>
            <a:off x="4549520" y="3162300"/>
            <a:ext cx="2543429" cy="107722"/>
          </a:xfrm>
          <a:prstGeom prst="rect">
            <a:avLst/>
          </a:prstGeom>
          <a:noFill/>
        </p:spPr>
        <p:txBody>
          <a:bodyPr wrap="square" lIns="0" tIns="0" rIns="0" bIns="0" anchor="t">
            <a:spAutoFit/>
          </a:bodyPr>
          <a:lstStyle/>
          <a:p>
            <a:pPr algn="l">
              <a:lnSpc>
                <a:spcPct val="100000"/>
              </a:lnSpc>
            </a:pPr>
            <a:r>
              <a:rPr sz="700" b="0" i="1" dirty="0">
                <a:solidFill>
                  <a:srgbClr val="56646F"/>
                </a:solidFill>
                <a:latin typeface="Calibri"/>
              </a:rPr>
              <a:t>Shown: today's margin, the GasNetX360 target</a:t>
            </a:r>
            <a:r>
              <a:rPr lang="en-US" sz="700" b="0" i="1" dirty="0">
                <a:solidFill>
                  <a:srgbClr val="56646F"/>
                </a:solidFill>
                <a:latin typeface="Calibri"/>
              </a:rPr>
              <a:t>,</a:t>
            </a:r>
            <a:r>
              <a:rPr sz="700" b="0" i="1" dirty="0">
                <a:solidFill>
                  <a:srgbClr val="56646F"/>
                </a:solidFill>
                <a:latin typeface="Calibri"/>
              </a:rPr>
              <a:t> and the ceiling</a:t>
            </a:r>
          </a:p>
        </p:txBody>
      </p:sp>
      <p:sp>
        <p:nvSpPr>
          <p:cNvPr id="76" name="TextBox 75"/>
          <p:cNvSpPr txBox="1"/>
          <p:nvPr/>
        </p:nvSpPr>
        <p:spPr>
          <a:xfrm>
            <a:off x="4549520" y="3276600"/>
            <a:ext cx="2543429" cy="114300"/>
          </a:xfrm>
          <a:prstGeom prst="rect">
            <a:avLst/>
          </a:prstGeom>
          <a:noFill/>
        </p:spPr>
        <p:txBody>
          <a:bodyPr wrap="square" lIns="0" tIns="0" rIns="0" bIns="0" anchor="t">
            <a:spAutoFit/>
          </a:bodyPr>
          <a:lstStyle/>
          <a:p>
            <a:pPr algn="l">
              <a:lnSpc>
                <a:spcPct val="100000"/>
              </a:lnSpc>
            </a:pPr>
            <a:r>
              <a:rPr sz="620" b="1" dirty="0">
                <a:solidFill>
                  <a:srgbClr val="E87A22"/>
                </a:solidFill>
                <a:latin typeface="Calibri"/>
              </a:rPr>
              <a:t>NET CONTRIBUTION MARGIN — TODAY vs THE THEORETICAL CEILING</a:t>
            </a:r>
          </a:p>
        </p:txBody>
      </p:sp>
      <p:sp>
        <p:nvSpPr>
          <p:cNvPr id="78" name="Rounded Rectangle 77"/>
          <p:cNvSpPr/>
          <p:nvPr/>
        </p:nvSpPr>
        <p:spPr>
          <a:xfrm>
            <a:off x="4582046" y="3606800"/>
            <a:ext cx="1557117" cy="146050"/>
          </a:xfrm>
          <a:prstGeom prst="roundRect">
            <a:avLst>
              <a:gd name="adj" fmla="val 10000"/>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p:cNvSpPr/>
          <p:nvPr/>
        </p:nvSpPr>
        <p:spPr>
          <a:xfrm>
            <a:off x="6113764" y="3606800"/>
            <a:ext cx="979185" cy="165100"/>
          </a:xfrm>
          <a:prstGeom prst="roundRect">
            <a:avLst>
              <a:gd name="adj" fmla="val 10000"/>
            </a:avLst>
          </a:prstGeom>
          <a:solidFill>
            <a:srgbClr val="FFFFFF"/>
          </a:solidFill>
          <a:ln w="13970">
            <a:solidFill>
              <a:srgbClr val="E87A2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4502893" y="3422650"/>
            <a:ext cx="304800" cy="114300"/>
          </a:xfrm>
          <a:prstGeom prst="rect">
            <a:avLst/>
          </a:prstGeom>
          <a:noFill/>
        </p:spPr>
        <p:txBody>
          <a:bodyPr wrap="none" lIns="0" tIns="0" rIns="0" bIns="0" anchor="t">
            <a:spAutoFit/>
          </a:bodyPr>
          <a:lstStyle/>
          <a:p>
            <a:pPr algn="l">
              <a:lnSpc>
                <a:spcPct val="100000"/>
              </a:lnSpc>
            </a:pPr>
            <a:r>
              <a:rPr sz="560" b="1" dirty="0">
                <a:solidFill>
                  <a:srgbClr val="1E2A36"/>
                </a:solidFill>
                <a:latin typeface="Calibri"/>
              </a:rPr>
              <a:t>today</a:t>
            </a:r>
          </a:p>
        </p:txBody>
      </p:sp>
      <p:sp>
        <p:nvSpPr>
          <p:cNvPr id="81" name="TextBox 80"/>
          <p:cNvSpPr txBox="1"/>
          <p:nvPr/>
        </p:nvSpPr>
        <p:spPr>
          <a:xfrm>
            <a:off x="5806598" y="3431117"/>
            <a:ext cx="508000" cy="114300"/>
          </a:xfrm>
          <a:prstGeom prst="rect">
            <a:avLst/>
          </a:prstGeom>
          <a:noFill/>
        </p:spPr>
        <p:txBody>
          <a:bodyPr wrap="none" lIns="0" tIns="0" rIns="0" bIns="0" anchor="t">
            <a:spAutoFit/>
          </a:bodyPr>
          <a:lstStyle/>
          <a:p>
            <a:pPr algn="ctr">
              <a:lnSpc>
                <a:spcPct val="100000"/>
              </a:lnSpc>
            </a:pPr>
            <a:r>
              <a:rPr sz="560" b="1" dirty="0">
                <a:solidFill>
                  <a:srgbClr val="E87A22"/>
                </a:solidFill>
                <a:latin typeface="Calibri"/>
              </a:rPr>
              <a:t>target</a:t>
            </a:r>
          </a:p>
        </p:txBody>
      </p:sp>
      <p:sp>
        <p:nvSpPr>
          <p:cNvPr id="82" name="TextBox 81"/>
          <p:cNvSpPr txBox="1"/>
          <p:nvPr/>
        </p:nvSpPr>
        <p:spPr>
          <a:xfrm>
            <a:off x="6605472" y="3431117"/>
            <a:ext cx="508000" cy="114300"/>
          </a:xfrm>
          <a:prstGeom prst="rect">
            <a:avLst/>
          </a:prstGeom>
          <a:noFill/>
        </p:spPr>
        <p:txBody>
          <a:bodyPr wrap="none" lIns="0" tIns="0" rIns="0" bIns="0" anchor="t">
            <a:spAutoFit/>
          </a:bodyPr>
          <a:lstStyle/>
          <a:p>
            <a:pPr algn="r">
              <a:lnSpc>
                <a:spcPct val="100000"/>
              </a:lnSpc>
            </a:pPr>
            <a:r>
              <a:rPr sz="560" b="1" dirty="0">
                <a:solidFill>
                  <a:srgbClr val="1E2A36"/>
                </a:solidFill>
                <a:latin typeface="Calibri"/>
              </a:rPr>
              <a:t>ceiling</a:t>
            </a:r>
          </a:p>
        </p:txBody>
      </p:sp>
      <p:sp>
        <p:nvSpPr>
          <p:cNvPr id="83" name="TextBox 82"/>
          <p:cNvSpPr txBox="1"/>
          <p:nvPr/>
        </p:nvSpPr>
        <p:spPr>
          <a:xfrm>
            <a:off x="4549520" y="3784600"/>
            <a:ext cx="1589643" cy="228600"/>
          </a:xfrm>
          <a:prstGeom prst="rect">
            <a:avLst/>
          </a:prstGeom>
          <a:noFill/>
        </p:spPr>
        <p:txBody>
          <a:bodyPr wrap="square" lIns="0" tIns="0" rIns="0" bIns="0" anchor="t">
            <a:spAutoFit/>
          </a:bodyPr>
          <a:lstStyle/>
          <a:p>
            <a:pPr algn="ctr">
              <a:lnSpc>
                <a:spcPct val="110000"/>
              </a:lnSpc>
            </a:pPr>
            <a:r>
              <a:rPr sz="700" b="1">
                <a:solidFill>
                  <a:srgbClr val="E87A22"/>
                </a:solidFill>
                <a:latin typeface="Calibri"/>
              </a:rPr>
              <a:t>+20%</a:t>
            </a:r>
          </a:p>
          <a:p>
            <a:pPr algn="ctr">
              <a:lnSpc>
                <a:spcPct val="110000"/>
              </a:lnSpc>
            </a:pPr>
            <a:r>
              <a:rPr sz="530" b="0">
                <a:solidFill>
                  <a:srgbClr val="56646F"/>
                </a:solidFill>
                <a:latin typeface="Calibri"/>
              </a:rPr>
              <a:t>what GasNetX360 targets</a:t>
            </a:r>
          </a:p>
        </p:txBody>
      </p:sp>
      <p:sp>
        <p:nvSpPr>
          <p:cNvPr id="84" name="TextBox 83"/>
          <p:cNvSpPr txBox="1"/>
          <p:nvPr/>
        </p:nvSpPr>
        <p:spPr>
          <a:xfrm>
            <a:off x="6139164" y="3784600"/>
            <a:ext cx="953785" cy="228600"/>
          </a:xfrm>
          <a:prstGeom prst="rect">
            <a:avLst/>
          </a:prstGeom>
          <a:noFill/>
        </p:spPr>
        <p:txBody>
          <a:bodyPr wrap="square" lIns="0" tIns="0" rIns="0" bIns="0" anchor="t">
            <a:spAutoFit/>
          </a:bodyPr>
          <a:lstStyle/>
          <a:p>
            <a:pPr algn="ctr">
              <a:lnSpc>
                <a:spcPct val="110000"/>
              </a:lnSpc>
            </a:pPr>
            <a:r>
              <a:rPr sz="700" b="1">
                <a:solidFill>
                  <a:srgbClr val="56646F"/>
                </a:solidFill>
                <a:latin typeface="Calibri"/>
              </a:rPr>
              <a:t>+12%</a:t>
            </a:r>
          </a:p>
          <a:p>
            <a:pPr algn="ctr">
              <a:lnSpc>
                <a:spcPct val="110000"/>
              </a:lnSpc>
            </a:pPr>
            <a:r>
              <a:rPr sz="530" b="0">
                <a:solidFill>
                  <a:srgbClr val="56646F"/>
                </a:solidFill>
                <a:latin typeface="Calibri"/>
              </a:rPr>
              <a:t>residual headroom</a:t>
            </a:r>
          </a:p>
        </p:txBody>
      </p:sp>
      <p:sp>
        <p:nvSpPr>
          <p:cNvPr id="85" name="TextBox 84"/>
          <p:cNvSpPr txBox="1"/>
          <p:nvPr/>
        </p:nvSpPr>
        <p:spPr>
          <a:xfrm>
            <a:off x="4549520" y="4013200"/>
            <a:ext cx="2543429" cy="353751"/>
          </a:xfrm>
          <a:prstGeom prst="rect">
            <a:avLst/>
          </a:prstGeom>
          <a:noFill/>
        </p:spPr>
        <p:txBody>
          <a:bodyPr wrap="square" lIns="0" tIns="0" rIns="0" bIns="0" anchor="t">
            <a:spAutoFit/>
          </a:bodyPr>
          <a:lstStyle/>
          <a:p>
            <a:pPr algn="l">
              <a:lnSpc>
                <a:spcPct val="112000"/>
              </a:lnSpc>
            </a:pPr>
            <a:r>
              <a:rPr sz="520" b="0" i="1" dirty="0">
                <a:solidFill>
                  <a:srgbClr val="56646F"/>
                </a:solidFill>
                <a:latin typeface="Calibri"/>
              </a:rPr>
              <a:t>Ceiling = margin under perfect foresight of demand, prices and equipment, with every physical, contractual and regulatory limit still enforced a benchmark, not a plan.</a:t>
            </a:r>
          </a:p>
          <a:p>
            <a:pPr algn="l">
              <a:lnSpc>
                <a:spcPct val="112000"/>
              </a:lnSpc>
            </a:pPr>
            <a:r>
              <a:rPr sz="520" b="0" i="1" dirty="0">
                <a:solidFill>
                  <a:srgbClr val="56646F"/>
                </a:solidFill>
                <a:latin typeface="Calibri"/>
              </a:rPr>
              <a:t>Debottlenecking (relaxing a binding limit) is valued separately, on top; the split above is quantified per site.</a:t>
            </a:r>
          </a:p>
        </p:txBody>
      </p:sp>
      <p:sp>
        <p:nvSpPr>
          <p:cNvPr id="86" name="Rounded Rectangle 85"/>
          <p:cNvSpPr/>
          <p:nvPr/>
        </p:nvSpPr>
        <p:spPr>
          <a:xfrm>
            <a:off x="330200" y="4610100"/>
            <a:ext cx="6902450" cy="2184400"/>
          </a:xfrm>
          <a:prstGeom prst="roundRect">
            <a:avLst>
              <a:gd name="adj" fmla="val 3000"/>
            </a:avLst>
          </a:prstGeom>
          <a:solidFill>
            <a:srgbClr val="FAFBFD"/>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469900" y="4749800"/>
            <a:ext cx="241300" cy="241300"/>
          </a:xfrm>
          <a:prstGeom prst="ellipse">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8" name="Picture 87" descr="image3.png"/>
          <p:cNvPicPr>
            <a:picLocks noChangeAspect="1"/>
          </p:cNvPicPr>
          <p:nvPr/>
        </p:nvPicPr>
        <p:blipFill>
          <a:blip r:embed="rId7"/>
          <a:stretch>
            <a:fillRect/>
          </a:stretch>
        </p:blipFill>
        <p:spPr>
          <a:xfrm>
            <a:off x="520700" y="4800600"/>
            <a:ext cx="139700" cy="139700"/>
          </a:xfrm>
          <a:prstGeom prst="rect">
            <a:avLst/>
          </a:prstGeom>
        </p:spPr>
      </p:pic>
      <p:sp>
        <p:nvSpPr>
          <p:cNvPr id="89" name="TextBox 88"/>
          <p:cNvSpPr txBox="1"/>
          <p:nvPr/>
        </p:nvSpPr>
        <p:spPr>
          <a:xfrm>
            <a:off x="800100" y="4737100"/>
            <a:ext cx="330200" cy="266700"/>
          </a:xfrm>
          <a:prstGeom prst="rect">
            <a:avLst/>
          </a:prstGeom>
          <a:noFill/>
        </p:spPr>
        <p:txBody>
          <a:bodyPr wrap="square" lIns="0" tIns="0" rIns="0" bIns="0" anchor="ctr">
            <a:spAutoFit/>
          </a:bodyPr>
          <a:lstStyle/>
          <a:p>
            <a:pPr algn="l">
              <a:lnSpc>
                <a:spcPct val="100000"/>
              </a:lnSpc>
            </a:pPr>
            <a:r>
              <a:rPr sz="1150" b="1">
                <a:solidFill>
                  <a:srgbClr val="E87A22"/>
                </a:solidFill>
                <a:latin typeface="Calibri"/>
              </a:rPr>
              <a:t>03</a:t>
            </a:r>
          </a:p>
        </p:txBody>
      </p:sp>
      <p:sp>
        <p:nvSpPr>
          <p:cNvPr id="90" name="TextBox 89"/>
          <p:cNvSpPr txBox="1"/>
          <p:nvPr/>
        </p:nvSpPr>
        <p:spPr>
          <a:xfrm>
            <a:off x="1092200" y="4724400"/>
            <a:ext cx="6000750" cy="292100"/>
          </a:xfrm>
          <a:prstGeom prst="rect">
            <a:avLst/>
          </a:prstGeom>
          <a:noFill/>
        </p:spPr>
        <p:txBody>
          <a:bodyPr wrap="none" lIns="0" tIns="0" rIns="0" bIns="0" anchor="ctr">
            <a:spAutoFit/>
          </a:bodyPr>
          <a:lstStyle/>
          <a:p>
            <a:pPr algn="l">
              <a:lnSpc>
                <a:spcPct val="100000"/>
              </a:lnSpc>
            </a:pPr>
            <a:r>
              <a:rPr sz="1250" b="1">
                <a:solidFill>
                  <a:srgbClr val="1E2A36"/>
                </a:solidFill>
                <a:latin typeface="Calibri"/>
              </a:rPr>
              <a:t>Optimization &amp; Scenario Engine</a:t>
            </a:r>
          </a:p>
        </p:txBody>
      </p:sp>
      <p:sp>
        <p:nvSpPr>
          <p:cNvPr id="91" name="TextBox 90"/>
          <p:cNvSpPr txBox="1"/>
          <p:nvPr/>
        </p:nvSpPr>
        <p:spPr>
          <a:xfrm>
            <a:off x="469900" y="5003800"/>
            <a:ext cx="6623050" cy="139700"/>
          </a:xfrm>
          <a:prstGeom prst="rect">
            <a:avLst/>
          </a:prstGeom>
          <a:noFill/>
        </p:spPr>
        <p:txBody>
          <a:bodyPr wrap="square" lIns="0" tIns="0" rIns="0" bIns="0" anchor="t">
            <a:spAutoFit/>
          </a:bodyPr>
          <a:lstStyle/>
          <a:p>
            <a:pPr algn="l">
              <a:lnSpc>
                <a:spcPct val="100000"/>
              </a:lnSpc>
            </a:pPr>
            <a:r>
              <a:rPr sz="760" b="0" i="1">
                <a:solidFill>
                  <a:srgbClr val="56646F"/>
                </a:solidFill>
                <a:latin typeface="Calibri"/>
              </a:rPr>
              <a:t>How the optimizer works — from inputs and hard constraints to a ranked, defended plan</a:t>
            </a:r>
          </a:p>
        </p:txBody>
      </p:sp>
      <p:sp>
        <p:nvSpPr>
          <p:cNvPr id="92" name="Rounded Rectangle 91"/>
          <p:cNvSpPr/>
          <p:nvPr/>
        </p:nvSpPr>
        <p:spPr>
          <a:xfrm>
            <a:off x="469900" y="5130800"/>
            <a:ext cx="6623050" cy="266700"/>
          </a:xfrm>
          <a:prstGeom prst="roundRect">
            <a:avLst>
              <a:gd name="adj" fmla="val 8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571500" y="5156200"/>
            <a:ext cx="6419850" cy="228600"/>
          </a:xfrm>
          <a:prstGeom prst="rect">
            <a:avLst/>
          </a:prstGeom>
          <a:noFill/>
        </p:spPr>
        <p:txBody>
          <a:bodyPr wrap="square" lIns="0" tIns="0" rIns="0" bIns="0" anchor="t">
            <a:spAutoFit/>
          </a:bodyPr>
          <a:lstStyle/>
          <a:p>
            <a:pPr algn="l">
              <a:lnSpc>
                <a:spcPct val="116000"/>
              </a:lnSpc>
            </a:pPr>
            <a:r>
              <a:rPr sz="560" b="1">
                <a:solidFill>
                  <a:srgbClr val="E87A22"/>
                </a:solidFill>
                <a:latin typeface="Calibri"/>
              </a:rPr>
              <a:t>APPROACH   </a:t>
            </a:r>
            <a:r>
              <a:rPr sz="560" b="0">
                <a:solidFill>
                  <a:srgbClr val="1E2A36"/>
                </a:solidFill>
                <a:latin typeface="Calibri"/>
              </a:rPr>
              <a:t>genuine mathematical optimization — mixed-integer plus nonlinear terms (hydraulics, compression, discrete commercial choices), solved on a rolling horizon.</a:t>
            </a:r>
          </a:p>
          <a:p>
            <a:pPr algn="l">
              <a:lnSpc>
                <a:spcPct val="116000"/>
              </a:lnSpc>
            </a:pPr>
            <a:r>
              <a:rPr sz="560" b="0">
                <a:solidFill>
                  <a:srgbClr val="56646F"/>
                </a:solidFill>
                <a:latin typeface="Calibri"/>
              </a:rPr>
              <a:t>Machine learning supplies the forecasts and fast network surrogates, not a replacement for the optimizer; the exact formulation, fidelity and solution method are fixed per site in Basis Definition.</a:t>
            </a:r>
          </a:p>
        </p:txBody>
      </p:sp>
      <p:sp>
        <p:nvSpPr>
          <p:cNvPr id="94" name="Rounded Rectangle 93"/>
          <p:cNvSpPr/>
          <p:nvPr/>
        </p:nvSpPr>
        <p:spPr>
          <a:xfrm>
            <a:off x="469900" y="5461000"/>
            <a:ext cx="3720147" cy="215900"/>
          </a:xfrm>
          <a:prstGeom prst="roundRect">
            <a:avLst>
              <a:gd name="adj" fmla="val 9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558800" y="5522783"/>
            <a:ext cx="238848" cy="92333"/>
          </a:xfrm>
          <a:prstGeom prst="rect">
            <a:avLst/>
          </a:prstGeom>
          <a:noFill/>
        </p:spPr>
        <p:txBody>
          <a:bodyPr wrap="none" lIns="0" tIns="0" rIns="0" bIns="0" anchor="ctr">
            <a:spAutoFit/>
          </a:bodyPr>
          <a:lstStyle/>
          <a:p>
            <a:pPr algn="l">
              <a:lnSpc>
                <a:spcPct val="100000"/>
              </a:lnSpc>
            </a:pPr>
            <a:r>
              <a:rPr sz="600" b="1">
                <a:solidFill>
                  <a:srgbClr val="E87A22"/>
                </a:solidFill>
                <a:latin typeface="Calibri"/>
              </a:rPr>
              <a:t>INPUTS</a:t>
            </a:r>
          </a:p>
        </p:txBody>
      </p:sp>
      <p:sp>
        <p:nvSpPr>
          <p:cNvPr id="96" name="TextBox 95"/>
          <p:cNvSpPr txBox="1"/>
          <p:nvPr/>
        </p:nvSpPr>
        <p:spPr>
          <a:xfrm>
            <a:off x="1358900" y="5519994"/>
            <a:ext cx="2742247" cy="97912"/>
          </a:xfrm>
          <a:prstGeom prst="rect">
            <a:avLst/>
          </a:prstGeom>
          <a:noFill/>
        </p:spPr>
        <p:txBody>
          <a:bodyPr wrap="square" lIns="0" tIns="0" rIns="0" bIns="0" anchor="ctr">
            <a:spAutoFit/>
          </a:bodyPr>
          <a:lstStyle/>
          <a:p>
            <a:pPr algn="l">
              <a:lnSpc>
                <a:spcPct val="112000"/>
              </a:lnSpc>
            </a:pPr>
            <a:r>
              <a:rPr sz="600" b="0" dirty="0">
                <a:solidFill>
                  <a:srgbClr val="56646F"/>
                </a:solidFill>
                <a:latin typeface="Calibri"/>
              </a:rPr>
              <a:t>network &amp; equipment model · contracts &amp; prices · demand / price forecasts · live SCADA</a:t>
            </a:r>
          </a:p>
        </p:txBody>
      </p:sp>
      <p:sp>
        <p:nvSpPr>
          <p:cNvPr id="97" name="TextBox 96"/>
          <p:cNvSpPr txBox="1"/>
          <p:nvPr/>
        </p:nvSpPr>
        <p:spPr>
          <a:xfrm>
            <a:off x="2228373" y="5664200"/>
            <a:ext cx="203200" cy="101600"/>
          </a:xfrm>
          <a:prstGeom prst="rect">
            <a:avLst/>
          </a:prstGeom>
          <a:noFill/>
        </p:spPr>
        <p:txBody>
          <a:bodyPr wrap="none" lIns="0" tIns="0" rIns="0" bIns="0" anchor="ctr">
            <a:spAutoFit/>
          </a:bodyPr>
          <a:lstStyle/>
          <a:p>
            <a:pPr algn="ctr">
              <a:lnSpc>
                <a:spcPct val="100000"/>
              </a:lnSpc>
            </a:pPr>
            <a:r>
              <a:rPr sz="680" b="1">
                <a:solidFill>
                  <a:srgbClr val="E87A22"/>
                </a:solidFill>
                <a:latin typeface="Calibri"/>
              </a:rPr>
              <a:t>↓</a:t>
            </a:r>
          </a:p>
        </p:txBody>
      </p:sp>
      <p:sp>
        <p:nvSpPr>
          <p:cNvPr id="98" name="Rounded Rectangle 97"/>
          <p:cNvSpPr/>
          <p:nvPr/>
        </p:nvSpPr>
        <p:spPr>
          <a:xfrm>
            <a:off x="469900" y="5753100"/>
            <a:ext cx="3720147" cy="254000"/>
          </a:xfrm>
          <a:prstGeom prst="roundRect">
            <a:avLst>
              <a:gd name="adj" fmla="val 9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558800" y="5753100"/>
            <a:ext cx="736600" cy="254000"/>
          </a:xfrm>
          <a:prstGeom prst="rect">
            <a:avLst/>
          </a:prstGeom>
          <a:noFill/>
        </p:spPr>
        <p:txBody>
          <a:bodyPr wrap="none" lIns="0" tIns="0" rIns="0" bIns="0" anchor="ctr">
            <a:spAutoFit/>
          </a:bodyPr>
          <a:lstStyle/>
          <a:p>
            <a:pPr algn="l">
              <a:lnSpc>
                <a:spcPct val="100000"/>
              </a:lnSpc>
            </a:pPr>
            <a:r>
              <a:rPr sz="590" b="1">
                <a:solidFill>
                  <a:srgbClr val="E87A22"/>
                </a:solidFill>
                <a:latin typeface="Calibri"/>
              </a:rPr>
              <a:t>HARD</a:t>
            </a:r>
          </a:p>
          <a:p>
            <a:pPr algn="l">
              <a:lnSpc>
                <a:spcPct val="100000"/>
              </a:lnSpc>
            </a:pPr>
            <a:r>
              <a:rPr sz="590" b="1">
                <a:solidFill>
                  <a:srgbClr val="E87A22"/>
                </a:solidFill>
                <a:latin typeface="Calibri"/>
              </a:rPr>
              <a:t>CONSTRAINTS</a:t>
            </a:r>
          </a:p>
        </p:txBody>
      </p:sp>
      <p:sp>
        <p:nvSpPr>
          <p:cNvPr id="100" name="TextBox 99"/>
          <p:cNvSpPr txBox="1"/>
          <p:nvPr/>
        </p:nvSpPr>
        <p:spPr>
          <a:xfrm>
            <a:off x="1358900" y="5779431"/>
            <a:ext cx="2742247" cy="201337"/>
          </a:xfrm>
          <a:prstGeom prst="rect">
            <a:avLst/>
          </a:prstGeom>
          <a:noFill/>
        </p:spPr>
        <p:txBody>
          <a:bodyPr wrap="square" lIns="0" tIns="0" rIns="0" bIns="0" anchor="ctr">
            <a:spAutoFit/>
          </a:bodyPr>
          <a:lstStyle/>
          <a:p>
            <a:pPr algn="l">
              <a:lnSpc>
                <a:spcPct val="112000"/>
              </a:lnSpc>
            </a:pPr>
            <a:r>
              <a:rPr sz="600" b="0" dirty="0">
                <a:solidFill>
                  <a:srgbClr val="56646F"/>
                </a:solidFill>
                <a:latin typeface="Calibri"/>
              </a:rPr>
              <a:t>M</a:t>
            </a:r>
            <a:r>
              <a:rPr lang="en-US" sz="600" b="0" dirty="0">
                <a:solidFill>
                  <a:srgbClr val="56646F"/>
                </a:solidFill>
                <a:latin typeface="Calibri"/>
              </a:rPr>
              <a:t>ax Allowable Pressure</a:t>
            </a:r>
            <a:r>
              <a:rPr sz="600" b="0" dirty="0">
                <a:solidFill>
                  <a:srgbClr val="56646F"/>
                </a:solidFill>
                <a:latin typeface="Calibri"/>
              </a:rPr>
              <a:t> &amp; integrity · compressor envelopes · gas-quality specs · contract &amp; nomination terms · mass balance &amp; reserves</a:t>
            </a:r>
          </a:p>
        </p:txBody>
      </p:sp>
      <p:sp>
        <p:nvSpPr>
          <p:cNvPr id="101" name="TextBox 100"/>
          <p:cNvSpPr txBox="1"/>
          <p:nvPr/>
        </p:nvSpPr>
        <p:spPr>
          <a:xfrm>
            <a:off x="2228373" y="5994400"/>
            <a:ext cx="203200" cy="101600"/>
          </a:xfrm>
          <a:prstGeom prst="rect">
            <a:avLst/>
          </a:prstGeom>
          <a:noFill/>
        </p:spPr>
        <p:txBody>
          <a:bodyPr wrap="none" lIns="0" tIns="0" rIns="0" bIns="0" anchor="ctr">
            <a:spAutoFit/>
          </a:bodyPr>
          <a:lstStyle/>
          <a:p>
            <a:pPr algn="ctr">
              <a:lnSpc>
                <a:spcPct val="100000"/>
              </a:lnSpc>
            </a:pPr>
            <a:r>
              <a:rPr sz="680" b="1">
                <a:solidFill>
                  <a:srgbClr val="E87A22"/>
                </a:solidFill>
                <a:latin typeface="Calibri"/>
              </a:rPr>
              <a:t>↓</a:t>
            </a:r>
          </a:p>
        </p:txBody>
      </p:sp>
      <p:sp>
        <p:nvSpPr>
          <p:cNvPr id="102" name="Rounded Rectangle 101"/>
          <p:cNvSpPr/>
          <p:nvPr/>
        </p:nvSpPr>
        <p:spPr>
          <a:xfrm>
            <a:off x="469900" y="6083300"/>
            <a:ext cx="3720147" cy="342900"/>
          </a:xfrm>
          <a:prstGeom prst="roundRect">
            <a:avLst>
              <a:gd name="adj" fmla="val 9000"/>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558800" y="6083300"/>
            <a:ext cx="736600" cy="342900"/>
          </a:xfrm>
          <a:prstGeom prst="rect">
            <a:avLst/>
          </a:prstGeom>
          <a:noFill/>
        </p:spPr>
        <p:txBody>
          <a:bodyPr wrap="none" lIns="0" tIns="0" rIns="0" bIns="0" anchor="ctr">
            <a:spAutoFit/>
          </a:bodyPr>
          <a:lstStyle/>
          <a:p>
            <a:pPr algn="l">
              <a:lnSpc>
                <a:spcPct val="100000"/>
              </a:lnSpc>
            </a:pPr>
            <a:r>
              <a:rPr sz="590" b="1">
                <a:solidFill>
                  <a:srgbClr val="FFFFFF"/>
                </a:solidFill>
                <a:latin typeface="Calibri"/>
              </a:rPr>
              <a:t>OPTIMIZER</a:t>
            </a:r>
          </a:p>
          <a:p>
            <a:pPr algn="l">
              <a:lnSpc>
                <a:spcPct val="100000"/>
              </a:lnSpc>
            </a:pPr>
            <a:r>
              <a:rPr sz="590" b="1">
                <a:solidFill>
                  <a:srgbClr val="FFFFFF"/>
                </a:solidFill>
                <a:latin typeface="Calibri"/>
              </a:rPr>
              <a:t>DECIDES</a:t>
            </a:r>
          </a:p>
        </p:txBody>
      </p:sp>
      <p:sp>
        <p:nvSpPr>
          <p:cNvPr id="104" name="TextBox 103"/>
          <p:cNvSpPr txBox="1"/>
          <p:nvPr/>
        </p:nvSpPr>
        <p:spPr>
          <a:xfrm>
            <a:off x="1358900" y="6102368"/>
            <a:ext cx="2742247" cy="304763"/>
          </a:xfrm>
          <a:prstGeom prst="rect">
            <a:avLst/>
          </a:prstGeom>
          <a:noFill/>
        </p:spPr>
        <p:txBody>
          <a:bodyPr wrap="square" lIns="0" tIns="0" rIns="0" bIns="0" anchor="ctr">
            <a:spAutoFit/>
          </a:bodyPr>
          <a:lstStyle/>
          <a:p>
            <a:pPr algn="l">
              <a:lnSpc>
                <a:spcPct val="112000"/>
              </a:lnSpc>
            </a:pPr>
            <a:r>
              <a:rPr sz="600" b="0" dirty="0">
                <a:solidFill>
                  <a:srgbClr val="FFE4C7"/>
                </a:solidFill>
                <a:latin typeface="Calibri"/>
              </a:rPr>
              <a:t>physical compressor loads, pressures, routing    commercial </a:t>
            </a:r>
            <a:r>
              <a:rPr lang="en-US" sz="600" b="0" dirty="0">
                <a:solidFill>
                  <a:srgbClr val="FFE4C7"/>
                </a:solidFill>
                <a:latin typeface="Calibri"/>
              </a:rPr>
              <a:t>:</a:t>
            </a:r>
            <a:r>
              <a:rPr sz="600" b="0" dirty="0">
                <a:solidFill>
                  <a:srgbClr val="FFE4C7"/>
                </a:solidFill>
                <a:latin typeface="Calibri"/>
              </a:rPr>
              <a:t> nominations, firm vs interruptible, storage, curtailment  </a:t>
            </a:r>
            <a:r>
              <a:rPr lang="en-US" sz="600" b="0" dirty="0">
                <a:solidFill>
                  <a:srgbClr val="FFE4C7"/>
                </a:solidFill>
                <a:latin typeface="Calibri"/>
              </a:rPr>
              <a:t>;</a:t>
            </a:r>
            <a:r>
              <a:rPr sz="600" b="0" dirty="0">
                <a:solidFill>
                  <a:srgbClr val="FFE4C7"/>
                </a:solidFill>
                <a:latin typeface="Calibri"/>
              </a:rPr>
              <a:t>  reliability </a:t>
            </a:r>
            <a:r>
              <a:rPr lang="en-US" sz="600" dirty="0">
                <a:solidFill>
                  <a:srgbClr val="FFE4C7"/>
                </a:solidFill>
                <a:latin typeface="Calibri"/>
              </a:rPr>
              <a:t>: </a:t>
            </a:r>
            <a:r>
              <a:rPr sz="600" b="0" dirty="0">
                <a:solidFill>
                  <a:srgbClr val="FFE4C7"/>
                </a:solidFill>
                <a:latin typeface="Calibri"/>
              </a:rPr>
              <a:t>standby rotation, outage timing, reserves</a:t>
            </a:r>
          </a:p>
        </p:txBody>
      </p:sp>
      <p:sp>
        <p:nvSpPr>
          <p:cNvPr id="105" name="TextBox 104"/>
          <p:cNvSpPr txBox="1"/>
          <p:nvPr/>
        </p:nvSpPr>
        <p:spPr>
          <a:xfrm>
            <a:off x="2228373" y="6413500"/>
            <a:ext cx="203200" cy="101600"/>
          </a:xfrm>
          <a:prstGeom prst="rect">
            <a:avLst/>
          </a:prstGeom>
          <a:noFill/>
        </p:spPr>
        <p:txBody>
          <a:bodyPr wrap="none" lIns="0" tIns="0" rIns="0" bIns="0" anchor="ctr">
            <a:spAutoFit/>
          </a:bodyPr>
          <a:lstStyle/>
          <a:p>
            <a:pPr algn="ctr">
              <a:lnSpc>
                <a:spcPct val="100000"/>
              </a:lnSpc>
            </a:pPr>
            <a:r>
              <a:rPr sz="680" b="1">
                <a:solidFill>
                  <a:srgbClr val="E87A22"/>
                </a:solidFill>
                <a:latin typeface="Calibri"/>
              </a:rPr>
              <a:t>↓</a:t>
            </a:r>
          </a:p>
        </p:txBody>
      </p:sp>
      <p:sp>
        <p:nvSpPr>
          <p:cNvPr id="106" name="Rounded Rectangle 105"/>
          <p:cNvSpPr/>
          <p:nvPr/>
        </p:nvSpPr>
        <p:spPr>
          <a:xfrm>
            <a:off x="469900" y="6502400"/>
            <a:ext cx="3720147" cy="254000"/>
          </a:xfrm>
          <a:prstGeom prst="roundRect">
            <a:avLst>
              <a:gd name="adj" fmla="val 9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558800" y="6502400"/>
            <a:ext cx="736600" cy="254000"/>
          </a:xfrm>
          <a:prstGeom prst="rect">
            <a:avLst/>
          </a:prstGeom>
          <a:noFill/>
        </p:spPr>
        <p:txBody>
          <a:bodyPr wrap="none" lIns="0" tIns="0" rIns="0" bIns="0" anchor="ctr">
            <a:spAutoFit/>
          </a:bodyPr>
          <a:lstStyle/>
          <a:p>
            <a:pPr algn="l">
              <a:lnSpc>
                <a:spcPct val="100000"/>
              </a:lnSpc>
            </a:pPr>
            <a:r>
              <a:rPr sz="590" b="1">
                <a:solidFill>
                  <a:srgbClr val="E87A22"/>
                </a:solidFill>
                <a:latin typeface="Calibri"/>
              </a:rPr>
              <a:t>RESULTS</a:t>
            </a:r>
          </a:p>
        </p:txBody>
      </p:sp>
      <p:sp>
        <p:nvSpPr>
          <p:cNvPr id="108" name="TextBox 107"/>
          <p:cNvSpPr txBox="1"/>
          <p:nvPr/>
        </p:nvSpPr>
        <p:spPr>
          <a:xfrm>
            <a:off x="1358900" y="6528731"/>
            <a:ext cx="2742247" cy="201337"/>
          </a:xfrm>
          <a:prstGeom prst="rect">
            <a:avLst/>
          </a:prstGeom>
          <a:noFill/>
        </p:spPr>
        <p:txBody>
          <a:bodyPr wrap="square" lIns="0" tIns="0" rIns="0" bIns="0" anchor="ctr">
            <a:spAutoFit/>
          </a:bodyPr>
          <a:lstStyle/>
          <a:p>
            <a:pPr algn="l">
              <a:lnSpc>
                <a:spcPct val="112000"/>
              </a:lnSpc>
            </a:pPr>
            <a:r>
              <a:rPr sz="600" b="0" dirty="0">
                <a:solidFill>
                  <a:srgbClr val="56646F"/>
                </a:solidFill>
                <a:latin typeface="Calibri"/>
              </a:rPr>
              <a:t>ranked, quantified recommendations · predicted network state &amp; bottlenecks · margin vs plan &amp; budget · scenario &amp; forecast-error sensitivity</a:t>
            </a:r>
          </a:p>
        </p:txBody>
      </p:sp>
      <p:sp>
        <p:nvSpPr>
          <p:cNvPr id="109" name="Rounded Rectangle 108"/>
          <p:cNvSpPr/>
          <p:nvPr/>
        </p:nvSpPr>
        <p:spPr>
          <a:xfrm>
            <a:off x="4393247" y="5448300"/>
            <a:ext cx="2699702" cy="1333500"/>
          </a:xfrm>
          <a:prstGeom prst="roundRect">
            <a:avLst>
              <a:gd name="adj" fmla="val 5000"/>
            </a:avLst>
          </a:prstGeom>
          <a:solidFill>
            <a:srgbClr val="FFFFFF"/>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4520247" y="5499100"/>
            <a:ext cx="2445702" cy="139700"/>
          </a:xfrm>
          <a:prstGeom prst="rect">
            <a:avLst/>
          </a:prstGeom>
          <a:noFill/>
        </p:spPr>
        <p:txBody>
          <a:bodyPr wrap="none" lIns="0" tIns="0" rIns="0" bIns="0" anchor="t">
            <a:spAutoFit/>
          </a:bodyPr>
          <a:lstStyle/>
          <a:p>
            <a:pPr algn="l">
              <a:lnSpc>
                <a:spcPct val="100000"/>
              </a:lnSpc>
            </a:pPr>
            <a:r>
              <a:rPr sz="700" b="1">
                <a:solidFill>
                  <a:srgbClr val="E87A22"/>
                </a:solidFill>
                <a:latin typeface="Calibri"/>
              </a:rPr>
              <a:t>Why GasNetX360, not a rule-based optimizer</a:t>
            </a:r>
          </a:p>
        </p:txBody>
      </p:sp>
      <p:sp>
        <p:nvSpPr>
          <p:cNvPr id="111" name="Rectangle 110"/>
          <p:cNvSpPr/>
          <p:nvPr/>
        </p:nvSpPr>
        <p:spPr>
          <a:xfrm>
            <a:off x="4494847" y="5676900"/>
            <a:ext cx="1184751" cy="13970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5806598" y="5676900"/>
            <a:ext cx="1184751" cy="13970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4558347" y="5689600"/>
            <a:ext cx="1083151" cy="114300"/>
          </a:xfrm>
          <a:prstGeom prst="rect">
            <a:avLst/>
          </a:prstGeom>
          <a:noFill/>
        </p:spPr>
        <p:txBody>
          <a:bodyPr wrap="none" lIns="0" tIns="0" rIns="0" bIns="0" anchor="t">
            <a:spAutoFit/>
          </a:bodyPr>
          <a:lstStyle/>
          <a:p>
            <a:pPr algn="l">
              <a:lnSpc>
                <a:spcPct val="100000"/>
              </a:lnSpc>
            </a:pPr>
            <a:r>
              <a:rPr sz="600" b="1">
                <a:solidFill>
                  <a:srgbClr val="1E2A36"/>
                </a:solidFill>
                <a:latin typeface="Calibri"/>
              </a:rPr>
              <a:t>Rule-based / energy tools</a:t>
            </a:r>
          </a:p>
        </p:txBody>
      </p:sp>
      <p:sp>
        <p:nvSpPr>
          <p:cNvPr id="114" name="TextBox 113"/>
          <p:cNvSpPr txBox="1"/>
          <p:nvPr/>
        </p:nvSpPr>
        <p:spPr>
          <a:xfrm>
            <a:off x="5870098" y="5689600"/>
            <a:ext cx="1083151" cy="114300"/>
          </a:xfrm>
          <a:prstGeom prst="rect">
            <a:avLst/>
          </a:prstGeom>
          <a:noFill/>
        </p:spPr>
        <p:txBody>
          <a:bodyPr wrap="none" lIns="0" tIns="0" rIns="0" bIns="0" anchor="t">
            <a:spAutoFit/>
          </a:bodyPr>
          <a:lstStyle/>
          <a:p>
            <a:pPr algn="l">
              <a:lnSpc>
                <a:spcPct val="100000"/>
              </a:lnSpc>
            </a:pPr>
            <a:r>
              <a:rPr sz="600" b="1">
                <a:solidFill>
                  <a:srgbClr val="E87A22"/>
                </a:solidFill>
                <a:latin typeface="Calibri"/>
              </a:rPr>
              <a:t>GasNetX360</a:t>
            </a:r>
          </a:p>
        </p:txBody>
      </p:sp>
      <p:sp>
        <p:nvSpPr>
          <p:cNvPr id="115" name="Rectangle 114"/>
          <p:cNvSpPr/>
          <p:nvPr/>
        </p:nvSpPr>
        <p:spPr>
          <a:xfrm>
            <a:off x="4469447" y="5829300"/>
            <a:ext cx="2547302" cy="184150"/>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4558347" y="5842000"/>
            <a:ext cx="1083151" cy="184150"/>
          </a:xfrm>
          <a:prstGeom prst="rect">
            <a:avLst/>
          </a:prstGeom>
          <a:noFill/>
        </p:spPr>
        <p:txBody>
          <a:bodyPr wrap="square" lIns="0" tIns="0" rIns="0" bIns="0" anchor="t">
            <a:spAutoFit/>
          </a:bodyPr>
          <a:lstStyle/>
          <a:p>
            <a:pPr algn="l">
              <a:lnSpc>
                <a:spcPct val="100000"/>
              </a:lnSpc>
            </a:pPr>
            <a:r>
              <a:rPr sz="580" b="0">
                <a:solidFill>
                  <a:srgbClr val="56646F"/>
                </a:solidFill>
                <a:latin typeface="Calibri"/>
              </a:rPr>
              <a:t>Fixed rules, re-tuned by hand</a:t>
            </a:r>
          </a:p>
        </p:txBody>
      </p:sp>
      <p:sp>
        <p:nvSpPr>
          <p:cNvPr id="117" name="TextBox 116"/>
          <p:cNvSpPr txBox="1"/>
          <p:nvPr/>
        </p:nvSpPr>
        <p:spPr>
          <a:xfrm>
            <a:off x="5870098" y="5842000"/>
            <a:ext cx="1083151" cy="184150"/>
          </a:xfrm>
          <a:prstGeom prst="rect">
            <a:avLst/>
          </a:prstGeom>
          <a:noFill/>
        </p:spPr>
        <p:txBody>
          <a:bodyPr wrap="square" lIns="0" tIns="0" rIns="0" bIns="0" anchor="t">
            <a:spAutoFit/>
          </a:bodyPr>
          <a:lstStyle/>
          <a:p>
            <a:pPr algn="l">
              <a:lnSpc>
                <a:spcPct val="100000"/>
              </a:lnSpc>
            </a:pPr>
            <a:r>
              <a:rPr sz="580" b="0">
                <a:solidFill>
                  <a:srgbClr val="1E2A36"/>
                </a:solidFill>
                <a:latin typeface="Calibri"/>
              </a:rPr>
              <a:t>Learns from operating history</a:t>
            </a:r>
          </a:p>
        </p:txBody>
      </p:sp>
      <p:sp>
        <p:nvSpPr>
          <p:cNvPr id="118" name="TextBox 117"/>
          <p:cNvSpPr txBox="1"/>
          <p:nvPr/>
        </p:nvSpPr>
        <p:spPr>
          <a:xfrm>
            <a:off x="4558347" y="6026150"/>
            <a:ext cx="1083151" cy="184150"/>
          </a:xfrm>
          <a:prstGeom prst="rect">
            <a:avLst/>
          </a:prstGeom>
          <a:noFill/>
        </p:spPr>
        <p:txBody>
          <a:bodyPr wrap="square" lIns="0" tIns="0" rIns="0" bIns="0" anchor="t">
            <a:spAutoFit/>
          </a:bodyPr>
          <a:lstStyle/>
          <a:p>
            <a:pPr algn="l">
              <a:lnSpc>
                <a:spcPct val="100000"/>
              </a:lnSpc>
            </a:pPr>
            <a:r>
              <a:rPr sz="580" b="0">
                <a:solidFill>
                  <a:srgbClr val="56646F"/>
                </a:solidFill>
                <a:latin typeface="Calibri"/>
              </a:rPr>
              <a:t>Optimizes flow or energy alone</a:t>
            </a:r>
          </a:p>
        </p:txBody>
      </p:sp>
      <p:sp>
        <p:nvSpPr>
          <p:cNvPr id="119" name="TextBox 118"/>
          <p:cNvSpPr txBox="1"/>
          <p:nvPr/>
        </p:nvSpPr>
        <p:spPr>
          <a:xfrm>
            <a:off x="5870098" y="6026150"/>
            <a:ext cx="1083151" cy="184150"/>
          </a:xfrm>
          <a:prstGeom prst="rect">
            <a:avLst/>
          </a:prstGeom>
          <a:noFill/>
        </p:spPr>
        <p:txBody>
          <a:bodyPr wrap="square" lIns="0" tIns="0" rIns="0" bIns="0" anchor="t">
            <a:spAutoFit/>
          </a:bodyPr>
          <a:lstStyle/>
          <a:p>
            <a:pPr algn="l">
              <a:lnSpc>
                <a:spcPct val="100000"/>
              </a:lnSpc>
            </a:pPr>
            <a:r>
              <a:rPr sz="580" b="0">
                <a:solidFill>
                  <a:srgbClr val="1E2A36"/>
                </a:solidFill>
                <a:latin typeface="Calibri"/>
              </a:rPr>
              <a:t>Optimizes margin, not just flow</a:t>
            </a:r>
          </a:p>
        </p:txBody>
      </p:sp>
      <p:sp>
        <p:nvSpPr>
          <p:cNvPr id="120" name="Rectangle 119"/>
          <p:cNvSpPr/>
          <p:nvPr/>
        </p:nvSpPr>
        <p:spPr>
          <a:xfrm>
            <a:off x="4469447" y="6197600"/>
            <a:ext cx="2547302" cy="184150"/>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4558347" y="6210300"/>
            <a:ext cx="1083151" cy="184150"/>
          </a:xfrm>
          <a:prstGeom prst="rect">
            <a:avLst/>
          </a:prstGeom>
          <a:noFill/>
        </p:spPr>
        <p:txBody>
          <a:bodyPr wrap="square" lIns="0" tIns="0" rIns="0" bIns="0" anchor="t">
            <a:spAutoFit/>
          </a:bodyPr>
          <a:lstStyle/>
          <a:p>
            <a:pPr algn="l">
              <a:lnSpc>
                <a:spcPct val="100000"/>
              </a:lnSpc>
            </a:pPr>
            <a:r>
              <a:rPr sz="580" b="0">
                <a:solidFill>
                  <a:srgbClr val="56646F"/>
                </a:solidFill>
                <a:latin typeface="Calibri"/>
              </a:rPr>
              <a:t>One best-guess forecast</a:t>
            </a:r>
          </a:p>
        </p:txBody>
      </p:sp>
      <p:sp>
        <p:nvSpPr>
          <p:cNvPr id="122" name="TextBox 121"/>
          <p:cNvSpPr txBox="1"/>
          <p:nvPr/>
        </p:nvSpPr>
        <p:spPr>
          <a:xfrm>
            <a:off x="5870098" y="6210300"/>
            <a:ext cx="1083151" cy="184150"/>
          </a:xfrm>
          <a:prstGeom prst="rect">
            <a:avLst/>
          </a:prstGeom>
          <a:noFill/>
        </p:spPr>
        <p:txBody>
          <a:bodyPr wrap="square" lIns="0" tIns="0" rIns="0" bIns="0" anchor="t">
            <a:spAutoFit/>
          </a:bodyPr>
          <a:lstStyle/>
          <a:p>
            <a:pPr algn="l">
              <a:lnSpc>
                <a:spcPct val="100000"/>
              </a:lnSpc>
            </a:pPr>
            <a:r>
              <a:rPr sz="580" b="0">
                <a:solidFill>
                  <a:srgbClr val="1E2A36"/>
                </a:solidFill>
                <a:latin typeface="Calibri"/>
              </a:rPr>
              <a:t>Scenarios + error sensitivity</a:t>
            </a:r>
          </a:p>
        </p:txBody>
      </p:sp>
      <p:sp>
        <p:nvSpPr>
          <p:cNvPr id="123" name="TextBox 122"/>
          <p:cNvSpPr txBox="1"/>
          <p:nvPr/>
        </p:nvSpPr>
        <p:spPr>
          <a:xfrm>
            <a:off x="4558347" y="6394450"/>
            <a:ext cx="1083151" cy="184150"/>
          </a:xfrm>
          <a:prstGeom prst="rect">
            <a:avLst/>
          </a:prstGeom>
          <a:noFill/>
        </p:spPr>
        <p:txBody>
          <a:bodyPr wrap="square" lIns="0" tIns="0" rIns="0" bIns="0" anchor="t">
            <a:spAutoFit/>
          </a:bodyPr>
          <a:lstStyle/>
          <a:p>
            <a:pPr algn="l">
              <a:lnSpc>
                <a:spcPct val="100000"/>
              </a:lnSpc>
            </a:pPr>
            <a:r>
              <a:rPr sz="580" b="0">
                <a:solidFill>
                  <a:srgbClr val="56646F"/>
                </a:solidFill>
                <a:latin typeface="Calibri"/>
              </a:rPr>
              <a:t>Opaque, static output</a:t>
            </a:r>
          </a:p>
        </p:txBody>
      </p:sp>
      <p:sp>
        <p:nvSpPr>
          <p:cNvPr id="124" name="TextBox 123"/>
          <p:cNvSpPr txBox="1"/>
          <p:nvPr/>
        </p:nvSpPr>
        <p:spPr>
          <a:xfrm>
            <a:off x="5870098" y="6394450"/>
            <a:ext cx="1083151" cy="184150"/>
          </a:xfrm>
          <a:prstGeom prst="rect">
            <a:avLst/>
          </a:prstGeom>
          <a:noFill/>
        </p:spPr>
        <p:txBody>
          <a:bodyPr wrap="square" lIns="0" tIns="0" rIns="0" bIns="0" anchor="t">
            <a:spAutoFit/>
          </a:bodyPr>
          <a:lstStyle/>
          <a:p>
            <a:pPr algn="l">
              <a:lnSpc>
                <a:spcPct val="100000"/>
              </a:lnSpc>
            </a:pPr>
            <a:r>
              <a:rPr sz="580" b="0">
                <a:solidFill>
                  <a:srgbClr val="1E2A36"/>
                </a:solidFill>
                <a:latin typeface="Calibri"/>
              </a:rPr>
              <a:t>Explains action, driver &amp; confidence</a:t>
            </a:r>
          </a:p>
        </p:txBody>
      </p:sp>
      <p:sp>
        <p:nvSpPr>
          <p:cNvPr id="125" name="Rectangle 124"/>
          <p:cNvSpPr/>
          <p:nvPr/>
        </p:nvSpPr>
        <p:spPr>
          <a:xfrm>
            <a:off x="4469447" y="6565900"/>
            <a:ext cx="2547302" cy="184150"/>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4558347" y="6578600"/>
            <a:ext cx="1083151" cy="184150"/>
          </a:xfrm>
          <a:prstGeom prst="rect">
            <a:avLst/>
          </a:prstGeom>
          <a:noFill/>
        </p:spPr>
        <p:txBody>
          <a:bodyPr wrap="square" lIns="0" tIns="0" rIns="0" bIns="0" anchor="t">
            <a:spAutoFit/>
          </a:bodyPr>
          <a:lstStyle/>
          <a:p>
            <a:pPr algn="l">
              <a:lnSpc>
                <a:spcPct val="100000"/>
              </a:lnSpc>
            </a:pPr>
            <a:r>
              <a:rPr sz="580" b="0">
                <a:solidFill>
                  <a:srgbClr val="56646F"/>
                </a:solidFill>
                <a:latin typeface="Calibri"/>
              </a:rPr>
              <a:t>Re-run by an engineer, ad hoc</a:t>
            </a:r>
          </a:p>
        </p:txBody>
      </p:sp>
      <p:sp>
        <p:nvSpPr>
          <p:cNvPr id="127" name="TextBox 126"/>
          <p:cNvSpPr txBox="1"/>
          <p:nvPr/>
        </p:nvSpPr>
        <p:spPr>
          <a:xfrm>
            <a:off x="5870098" y="6578600"/>
            <a:ext cx="1083151" cy="184150"/>
          </a:xfrm>
          <a:prstGeom prst="rect">
            <a:avLst/>
          </a:prstGeom>
          <a:noFill/>
        </p:spPr>
        <p:txBody>
          <a:bodyPr wrap="square" lIns="0" tIns="0" rIns="0" bIns="0" anchor="t">
            <a:spAutoFit/>
          </a:bodyPr>
          <a:lstStyle/>
          <a:p>
            <a:pPr algn="l">
              <a:lnSpc>
                <a:spcPct val="100000"/>
              </a:lnSpc>
            </a:pPr>
            <a:r>
              <a:rPr sz="580" b="0">
                <a:solidFill>
                  <a:srgbClr val="1E2A36"/>
                </a:solidFill>
                <a:latin typeface="Calibri"/>
              </a:rPr>
              <a:t>Re-runs automatically each cycle</a:t>
            </a:r>
          </a:p>
        </p:txBody>
      </p:sp>
      <p:sp>
        <p:nvSpPr>
          <p:cNvPr id="128" name="Rounded Rectangle 127"/>
          <p:cNvSpPr/>
          <p:nvPr/>
        </p:nvSpPr>
        <p:spPr>
          <a:xfrm>
            <a:off x="330200" y="6858000"/>
            <a:ext cx="6902450" cy="2133600"/>
          </a:xfrm>
          <a:prstGeom prst="roundRect">
            <a:avLst>
              <a:gd name="adj" fmla="val 3000"/>
            </a:avLst>
          </a:prstGeom>
          <a:solidFill>
            <a:srgbClr val="FFFFFF"/>
          </a:solidFill>
          <a:ln w="9525">
            <a:solidFill>
              <a:srgbClr val="DFE5EC"/>
            </a:solidFill>
          </a:ln>
          <a:effectLst>
            <a:outerShdw blurRad="50000" dist="20000" dir="5400000" rotWithShape="0">
              <a:srgbClr val="A6B2BE">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469900" y="6997700"/>
            <a:ext cx="241300" cy="241300"/>
          </a:xfrm>
          <a:prstGeom prst="ellipse">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0" name="Picture 129" descr="image10.png"/>
          <p:cNvPicPr>
            <a:picLocks noChangeAspect="1"/>
          </p:cNvPicPr>
          <p:nvPr/>
        </p:nvPicPr>
        <p:blipFill>
          <a:blip r:embed="rId8"/>
          <a:stretch>
            <a:fillRect/>
          </a:stretch>
        </p:blipFill>
        <p:spPr>
          <a:xfrm>
            <a:off x="520700" y="7048500"/>
            <a:ext cx="139700" cy="139700"/>
          </a:xfrm>
          <a:prstGeom prst="rect">
            <a:avLst/>
          </a:prstGeom>
        </p:spPr>
      </p:pic>
      <p:sp>
        <p:nvSpPr>
          <p:cNvPr id="131" name="TextBox 130"/>
          <p:cNvSpPr txBox="1"/>
          <p:nvPr/>
        </p:nvSpPr>
        <p:spPr>
          <a:xfrm>
            <a:off x="800100" y="6985000"/>
            <a:ext cx="330200" cy="266700"/>
          </a:xfrm>
          <a:prstGeom prst="rect">
            <a:avLst/>
          </a:prstGeom>
          <a:noFill/>
        </p:spPr>
        <p:txBody>
          <a:bodyPr wrap="square" lIns="0" tIns="0" rIns="0" bIns="0" anchor="ctr">
            <a:spAutoFit/>
          </a:bodyPr>
          <a:lstStyle/>
          <a:p>
            <a:pPr algn="l">
              <a:lnSpc>
                <a:spcPct val="100000"/>
              </a:lnSpc>
            </a:pPr>
            <a:r>
              <a:rPr sz="1150" b="1">
                <a:solidFill>
                  <a:srgbClr val="E87A22"/>
                </a:solidFill>
                <a:latin typeface="Calibri"/>
              </a:rPr>
              <a:t>04</a:t>
            </a:r>
          </a:p>
        </p:txBody>
      </p:sp>
      <p:sp>
        <p:nvSpPr>
          <p:cNvPr id="132" name="TextBox 131"/>
          <p:cNvSpPr txBox="1"/>
          <p:nvPr/>
        </p:nvSpPr>
        <p:spPr>
          <a:xfrm>
            <a:off x="1092200" y="6972300"/>
            <a:ext cx="6000750" cy="292100"/>
          </a:xfrm>
          <a:prstGeom prst="rect">
            <a:avLst/>
          </a:prstGeom>
          <a:noFill/>
        </p:spPr>
        <p:txBody>
          <a:bodyPr wrap="none" lIns="0" tIns="0" rIns="0" bIns="0" anchor="ctr">
            <a:spAutoFit/>
          </a:bodyPr>
          <a:lstStyle/>
          <a:p>
            <a:pPr algn="l">
              <a:lnSpc>
                <a:spcPct val="100000"/>
              </a:lnSpc>
            </a:pPr>
            <a:r>
              <a:rPr sz="1250" b="1">
                <a:solidFill>
                  <a:srgbClr val="1E2A36"/>
                </a:solidFill>
                <a:latin typeface="Calibri"/>
              </a:rPr>
              <a:t>Opportunity and Recommended Actions</a:t>
            </a:r>
          </a:p>
        </p:txBody>
      </p:sp>
      <p:sp>
        <p:nvSpPr>
          <p:cNvPr id="133" name="TextBox 132"/>
          <p:cNvSpPr txBox="1"/>
          <p:nvPr/>
        </p:nvSpPr>
        <p:spPr>
          <a:xfrm>
            <a:off x="469900" y="7251700"/>
            <a:ext cx="6623050" cy="139700"/>
          </a:xfrm>
          <a:prstGeom prst="rect">
            <a:avLst/>
          </a:prstGeom>
          <a:noFill/>
        </p:spPr>
        <p:txBody>
          <a:bodyPr wrap="square" lIns="0" tIns="0" rIns="0" bIns="0" anchor="t">
            <a:spAutoFit/>
          </a:bodyPr>
          <a:lstStyle/>
          <a:p>
            <a:pPr algn="l">
              <a:lnSpc>
                <a:spcPct val="100000"/>
              </a:lnSpc>
            </a:pPr>
            <a:r>
              <a:rPr sz="740" b="0" i="1">
                <a:solidFill>
                  <a:srgbClr val="56646F"/>
                </a:solidFill>
                <a:latin typeface="Calibri"/>
              </a:rPr>
              <a:t>What a recommendation looks like — ranked, quantified, and traced to the constraint that drove it</a:t>
            </a:r>
          </a:p>
        </p:txBody>
      </p:sp>
      <p:sp>
        <p:nvSpPr>
          <p:cNvPr id="134" name="Rounded Rectangle 133"/>
          <p:cNvSpPr/>
          <p:nvPr/>
        </p:nvSpPr>
        <p:spPr>
          <a:xfrm>
            <a:off x="469900" y="7416800"/>
            <a:ext cx="2139950" cy="254000"/>
          </a:xfrm>
          <a:prstGeom prst="roundRect">
            <a:avLst>
              <a:gd name="adj" fmla="val 12000"/>
            </a:avLst>
          </a:prstGeom>
          <a:solidFill>
            <a:srgbClr val="F7F9FB"/>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558800" y="7454900"/>
            <a:ext cx="1962150" cy="88900"/>
          </a:xfrm>
          <a:prstGeom prst="rect">
            <a:avLst/>
          </a:prstGeom>
          <a:noFill/>
        </p:spPr>
        <p:txBody>
          <a:bodyPr wrap="none" lIns="0" tIns="0" rIns="0" bIns="0" anchor="t">
            <a:spAutoFit/>
          </a:bodyPr>
          <a:lstStyle/>
          <a:p>
            <a:pPr algn="l">
              <a:lnSpc>
                <a:spcPct val="100000"/>
              </a:lnSpc>
            </a:pPr>
            <a:r>
              <a:rPr sz="480" b="1">
                <a:solidFill>
                  <a:srgbClr val="E87A22"/>
                </a:solidFill>
                <a:latin typeface="Calibri"/>
              </a:rPr>
              <a:t>MARGIN vs PLAN</a:t>
            </a:r>
          </a:p>
        </p:txBody>
      </p:sp>
      <p:sp>
        <p:nvSpPr>
          <p:cNvPr id="136" name="TextBox 135"/>
          <p:cNvSpPr txBox="1"/>
          <p:nvPr/>
        </p:nvSpPr>
        <p:spPr>
          <a:xfrm>
            <a:off x="558800" y="7531100"/>
            <a:ext cx="1962150" cy="114300"/>
          </a:xfrm>
          <a:prstGeom prst="rect">
            <a:avLst/>
          </a:prstGeom>
          <a:noFill/>
        </p:spPr>
        <p:txBody>
          <a:bodyPr wrap="none" lIns="0" tIns="0" rIns="0" bIns="0" anchor="t">
            <a:spAutoFit/>
          </a:bodyPr>
          <a:lstStyle/>
          <a:p>
            <a:pPr algn="l">
              <a:lnSpc>
                <a:spcPct val="100000"/>
              </a:lnSpc>
            </a:pPr>
            <a:r>
              <a:rPr sz="600" b="1">
                <a:solidFill>
                  <a:srgbClr val="1E2A36"/>
                </a:solidFill>
                <a:latin typeface="Calibri"/>
              </a:rPr>
              <a:t>+ illustrative $/day</a:t>
            </a:r>
          </a:p>
        </p:txBody>
      </p:sp>
      <p:sp>
        <p:nvSpPr>
          <p:cNvPr id="137" name="Rounded Rectangle 136"/>
          <p:cNvSpPr/>
          <p:nvPr/>
        </p:nvSpPr>
        <p:spPr>
          <a:xfrm>
            <a:off x="2711450" y="7416800"/>
            <a:ext cx="2139950" cy="254000"/>
          </a:xfrm>
          <a:prstGeom prst="roundRect">
            <a:avLst>
              <a:gd name="adj" fmla="val 12000"/>
            </a:avLst>
          </a:prstGeom>
          <a:solidFill>
            <a:srgbClr val="F7F9FB"/>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2800350" y="7454900"/>
            <a:ext cx="1962150" cy="88900"/>
          </a:xfrm>
          <a:prstGeom prst="rect">
            <a:avLst/>
          </a:prstGeom>
          <a:noFill/>
        </p:spPr>
        <p:txBody>
          <a:bodyPr wrap="none" lIns="0" tIns="0" rIns="0" bIns="0" anchor="t">
            <a:spAutoFit/>
          </a:bodyPr>
          <a:lstStyle/>
          <a:p>
            <a:pPr algn="l">
              <a:lnSpc>
                <a:spcPct val="100000"/>
              </a:lnSpc>
            </a:pPr>
            <a:r>
              <a:rPr sz="480" b="1">
                <a:solidFill>
                  <a:srgbClr val="E87A22"/>
                </a:solidFill>
                <a:latin typeface="Calibri"/>
              </a:rPr>
              <a:t>BINDING NOW</a:t>
            </a:r>
          </a:p>
        </p:txBody>
      </p:sp>
      <p:sp>
        <p:nvSpPr>
          <p:cNvPr id="139" name="TextBox 138"/>
          <p:cNvSpPr txBox="1"/>
          <p:nvPr/>
        </p:nvSpPr>
        <p:spPr>
          <a:xfrm>
            <a:off x="2800350" y="7531100"/>
            <a:ext cx="1962150" cy="114300"/>
          </a:xfrm>
          <a:prstGeom prst="rect">
            <a:avLst/>
          </a:prstGeom>
          <a:noFill/>
        </p:spPr>
        <p:txBody>
          <a:bodyPr wrap="none" lIns="0" tIns="0" rIns="0" bIns="0" anchor="t">
            <a:spAutoFit/>
          </a:bodyPr>
          <a:lstStyle/>
          <a:p>
            <a:pPr algn="l">
              <a:lnSpc>
                <a:spcPct val="100000"/>
              </a:lnSpc>
            </a:pPr>
            <a:r>
              <a:rPr sz="600" b="1">
                <a:solidFill>
                  <a:srgbClr val="1E2A36"/>
                </a:solidFill>
                <a:latin typeface="Calibri"/>
              </a:rPr>
              <a:t>Station B MAOP — 87% of limit</a:t>
            </a:r>
          </a:p>
        </p:txBody>
      </p:sp>
      <p:sp>
        <p:nvSpPr>
          <p:cNvPr id="140" name="Rounded Rectangle 139"/>
          <p:cNvSpPr/>
          <p:nvPr/>
        </p:nvSpPr>
        <p:spPr>
          <a:xfrm>
            <a:off x="4953000" y="7416800"/>
            <a:ext cx="2139950" cy="254000"/>
          </a:xfrm>
          <a:prstGeom prst="roundRect">
            <a:avLst>
              <a:gd name="adj" fmla="val 12000"/>
            </a:avLst>
          </a:prstGeom>
          <a:solidFill>
            <a:srgbClr val="F7F9FB"/>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5041900" y="7454900"/>
            <a:ext cx="1962150" cy="88900"/>
          </a:xfrm>
          <a:prstGeom prst="rect">
            <a:avLst/>
          </a:prstGeom>
          <a:noFill/>
        </p:spPr>
        <p:txBody>
          <a:bodyPr wrap="none" lIns="0" tIns="0" rIns="0" bIns="0" anchor="t">
            <a:spAutoFit/>
          </a:bodyPr>
          <a:lstStyle/>
          <a:p>
            <a:pPr algn="l">
              <a:lnSpc>
                <a:spcPct val="100000"/>
              </a:lnSpc>
            </a:pPr>
            <a:r>
              <a:rPr sz="480" b="1">
                <a:solidFill>
                  <a:srgbClr val="E87A22"/>
                </a:solidFill>
                <a:latin typeface="Calibri"/>
              </a:rPr>
              <a:t>PLAN HORIZON</a:t>
            </a:r>
          </a:p>
        </p:txBody>
      </p:sp>
      <p:sp>
        <p:nvSpPr>
          <p:cNvPr id="142" name="TextBox 141"/>
          <p:cNvSpPr txBox="1"/>
          <p:nvPr/>
        </p:nvSpPr>
        <p:spPr>
          <a:xfrm>
            <a:off x="5041900" y="7531100"/>
            <a:ext cx="1962150" cy="114300"/>
          </a:xfrm>
          <a:prstGeom prst="rect">
            <a:avLst/>
          </a:prstGeom>
          <a:noFill/>
        </p:spPr>
        <p:txBody>
          <a:bodyPr wrap="none" lIns="0" tIns="0" rIns="0" bIns="0" anchor="t">
            <a:spAutoFit/>
          </a:bodyPr>
          <a:lstStyle/>
          <a:p>
            <a:pPr algn="l">
              <a:lnSpc>
                <a:spcPct val="100000"/>
              </a:lnSpc>
            </a:pPr>
            <a:r>
              <a:rPr sz="600" b="1">
                <a:solidFill>
                  <a:srgbClr val="1E2A36"/>
                </a:solidFill>
                <a:latin typeface="Calibri"/>
              </a:rPr>
              <a:t>rolling 7 days · 1-hour steps</a:t>
            </a:r>
          </a:p>
        </p:txBody>
      </p:sp>
      <p:sp>
        <p:nvSpPr>
          <p:cNvPr id="143" name="TextBox 142"/>
          <p:cNvSpPr txBox="1"/>
          <p:nvPr/>
        </p:nvSpPr>
        <p:spPr>
          <a:xfrm>
            <a:off x="673100" y="7721600"/>
            <a:ext cx="2286000" cy="101600"/>
          </a:xfrm>
          <a:prstGeom prst="rect">
            <a:avLst/>
          </a:prstGeom>
          <a:noFill/>
        </p:spPr>
        <p:txBody>
          <a:bodyPr wrap="none" lIns="0" tIns="0" rIns="0" bIns="0" anchor="t">
            <a:spAutoFit/>
          </a:bodyPr>
          <a:lstStyle/>
          <a:p>
            <a:pPr algn="l">
              <a:lnSpc>
                <a:spcPct val="100000"/>
              </a:lnSpc>
            </a:pPr>
            <a:r>
              <a:rPr sz="470" b="0" i="1">
                <a:solidFill>
                  <a:srgbClr val="56646F"/>
                </a:solidFill>
                <a:latin typeface="Calibri"/>
              </a:rPr>
              <a:t>RANKED ACTION</a:t>
            </a:r>
          </a:p>
        </p:txBody>
      </p:sp>
      <p:sp>
        <p:nvSpPr>
          <p:cNvPr id="144" name="TextBox 143"/>
          <p:cNvSpPr txBox="1"/>
          <p:nvPr/>
        </p:nvSpPr>
        <p:spPr>
          <a:xfrm>
            <a:off x="3035300" y="7721600"/>
            <a:ext cx="2813050" cy="101600"/>
          </a:xfrm>
          <a:prstGeom prst="rect">
            <a:avLst/>
          </a:prstGeom>
          <a:noFill/>
        </p:spPr>
        <p:txBody>
          <a:bodyPr wrap="none" lIns="0" tIns="0" rIns="0" bIns="0" anchor="t">
            <a:spAutoFit/>
          </a:bodyPr>
          <a:lstStyle/>
          <a:p>
            <a:pPr algn="l">
              <a:lnSpc>
                <a:spcPct val="100000"/>
              </a:lnSpc>
            </a:pPr>
            <a:r>
              <a:rPr sz="470" b="0" i="1">
                <a:solidFill>
                  <a:srgbClr val="56646F"/>
                </a:solidFill>
                <a:latin typeface="Calibri"/>
              </a:rPr>
              <a:t>EXPECTED VALUE  ·  illustrative</a:t>
            </a:r>
          </a:p>
        </p:txBody>
      </p:sp>
      <p:sp>
        <p:nvSpPr>
          <p:cNvPr id="145" name="TextBox 144"/>
          <p:cNvSpPr txBox="1"/>
          <p:nvPr/>
        </p:nvSpPr>
        <p:spPr>
          <a:xfrm>
            <a:off x="6000750" y="7721600"/>
            <a:ext cx="1092200" cy="101600"/>
          </a:xfrm>
          <a:prstGeom prst="rect">
            <a:avLst/>
          </a:prstGeom>
          <a:noFill/>
        </p:spPr>
        <p:txBody>
          <a:bodyPr wrap="none" lIns="0" tIns="0" rIns="0" bIns="0" anchor="t">
            <a:spAutoFit/>
          </a:bodyPr>
          <a:lstStyle/>
          <a:p>
            <a:pPr algn="r">
              <a:lnSpc>
                <a:spcPct val="100000"/>
              </a:lnSpc>
            </a:pPr>
            <a:r>
              <a:rPr sz="470" b="0" i="1">
                <a:solidFill>
                  <a:srgbClr val="56646F"/>
                </a:solidFill>
                <a:latin typeface="Calibri"/>
              </a:rPr>
              <a:t>VALUE  ·  CONFIDENCE</a:t>
            </a:r>
          </a:p>
        </p:txBody>
      </p:sp>
      <p:sp>
        <p:nvSpPr>
          <p:cNvPr id="146" name="Rectangle 145"/>
          <p:cNvSpPr/>
          <p:nvPr/>
        </p:nvSpPr>
        <p:spPr>
          <a:xfrm>
            <a:off x="431800" y="7816850"/>
            <a:ext cx="6699250" cy="2413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469900" y="7861300"/>
            <a:ext cx="139700" cy="139700"/>
          </a:xfrm>
          <a:prstGeom prst="ellipse">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469900" y="7861300"/>
            <a:ext cx="139700" cy="139700"/>
          </a:xfrm>
          <a:prstGeom prst="rect">
            <a:avLst/>
          </a:prstGeom>
          <a:noFill/>
        </p:spPr>
        <p:txBody>
          <a:bodyPr wrap="none" lIns="0" tIns="0" rIns="0" bIns="0" anchor="ctr">
            <a:spAutoFit/>
          </a:bodyPr>
          <a:lstStyle/>
          <a:p>
            <a:pPr algn="ctr">
              <a:lnSpc>
                <a:spcPct val="100000"/>
              </a:lnSpc>
            </a:pPr>
            <a:r>
              <a:rPr sz="640" b="1">
                <a:solidFill>
                  <a:srgbClr val="FFFFFF"/>
                </a:solidFill>
                <a:latin typeface="Calibri"/>
              </a:rPr>
              <a:t>1</a:t>
            </a:r>
          </a:p>
        </p:txBody>
      </p:sp>
      <p:sp>
        <p:nvSpPr>
          <p:cNvPr id="149" name="TextBox 148"/>
          <p:cNvSpPr txBox="1"/>
          <p:nvPr/>
        </p:nvSpPr>
        <p:spPr>
          <a:xfrm>
            <a:off x="673100" y="7835900"/>
            <a:ext cx="2286000" cy="114300"/>
          </a:xfrm>
          <a:prstGeom prst="rect">
            <a:avLst/>
          </a:prstGeom>
          <a:noFill/>
        </p:spPr>
        <p:txBody>
          <a:bodyPr wrap="none" lIns="0" tIns="0" rIns="0" bIns="0" anchor="t">
            <a:spAutoFit/>
          </a:bodyPr>
          <a:lstStyle/>
          <a:p>
            <a:pPr algn="l">
              <a:lnSpc>
                <a:spcPct val="100000"/>
              </a:lnSpc>
            </a:pPr>
            <a:r>
              <a:rPr sz="620" b="1" dirty="0">
                <a:solidFill>
                  <a:srgbClr val="1E2A36"/>
                </a:solidFill>
                <a:latin typeface="Calibri"/>
              </a:rPr>
              <a:t>Shift 35% of receipt volume Source B → Source A</a:t>
            </a:r>
          </a:p>
        </p:txBody>
      </p:sp>
      <p:sp>
        <p:nvSpPr>
          <p:cNvPr id="150" name="TextBox 149"/>
          <p:cNvSpPr txBox="1"/>
          <p:nvPr/>
        </p:nvSpPr>
        <p:spPr>
          <a:xfrm>
            <a:off x="673100" y="7950200"/>
            <a:ext cx="2286000" cy="114300"/>
          </a:xfrm>
          <a:prstGeom prst="rect">
            <a:avLst/>
          </a:prstGeom>
          <a:noFill/>
        </p:spPr>
        <p:txBody>
          <a:bodyPr wrap="none" lIns="0" tIns="0" rIns="0" bIns="0" anchor="t">
            <a:spAutoFit/>
          </a:bodyPr>
          <a:lstStyle/>
          <a:p>
            <a:pPr algn="l">
              <a:lnSpc>
                <a:spcPct val="100000"/>
              </a:lnSpc>
            </a:pPr>
            <a:r>
              <a:rPr sz="509" b="0" dirty="0">
                <a:solidFill>
                  <a:srgbClr val="56646F"/>
                </a:solidFill>
                <a:latin typeface="Calibri"/>
              </a:rPr>
              <a:t>receipt header · next 8 h   ·   binding: </a:t>
            </a:r>
            <a:r>
              <a:rPr sz="509" b="0" dirty="0">
                <a:solidFill>
                  <a:srgbClr val="1E2A36"/>
                </a:solidFill>
                <a:latin typeface="Calibri"/>
              </a:rPr>
              <a:t>delivered-cost spread</a:t>
            </a:r>
          </a:p>
        </p:txBody>
      </p:sp>
      <p:sp>
        <p:nvSpPr>
          <p:cNvPr id="151" name="Rounded Rectangle 150"/>
          <p:cNvSpPr/>
          <p:nvPr/>
        </p:nvSpPr>
        <p:spPr>
          <a:xfrm>
            <a:off x="3035300" y="7880350"/>
            <a:ext cx="2813050" cy="63500"/>
          </a:xfrm>
          <a:prstGeom prst="roundRect">
            <a:avLst>
              <a:gd name="adj" fmla="val 50000"/>
            </a:avLst>
          </a:prstGeom>
          <a:solidFill>
            <a:srgbClr val="E9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ounded Rectangle 151"/>
          <p:cNvSpPr/>
          <p:nvPr/>
        </p:nvSpPr>
        <p:spPr>
          <a:xfrm>
            <a:off x="3035300" y="7880350"/>
            <a:ext cx="2813050" cy="63500"/>
          </a:xfrm>
          <a:prstGeom prst="roundRect">
            <a:avLst>
              <a:gd name="adj" fmla="val 50000"/>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6000750" y="7823200"/>
            <a:ext cx="1092200" cy="114300"/>
          </a:xfrm>
          <a:prstGeom prst="rect">
            <a:avLst/>
          </a:prstGeom>
          <a:noFill/>
        </p:spPr>
        <p:txBody>
          <a:bodyPr wrap="none" lIns="0" tIns="0" rIns="0" bIns="0" anchor="t">
            <a:spAutoFit/>
          </a:bodyPr>
          <a:lstStyle/>
          <a:p>
            <a:pPr algn="r">
              <a:lnSpc>
                <a:spcPct val="100000"/>
              </a:lnSpc>
            </a:pPr>
            <a:r>
              <a:rPr sz="620" b="1">
                <a:solidFill>
                  <a:srgbClr val="E87A22"/>
                </a:solidFill>
                <a:latin typeface="Calibri"/>
              </a:rPr>
              <a:t>+$4,100/day</a:t>
            </a:r>
          </a:p>
        </p:txBody>
      </p:sp>
      <p:sp>
        <p:nvSpPr>
          <p:cNvPr id="154" name="TextBox 153"/>
          <p:cNvSpPr txBox="1"/>
          <p:nvPr/>
        </p:nvSpPr>
        <p:spPr>
          <a:xfrm>
            <a:off x="6000750" y="7943850"/>
            <a:ext cx="1092200" cy="114300"/>
          </a:xfrm>
          <a:prstGeom prst="rect">
            <a:avLst/>
          </a:prstGeom>
          <a:noFill/>
        </p:spPr>
        <p:txBody>
          <a:bodyPr wrap="none" lIns="0" tIns="0" rIns="0" bIns="0" anchor="t">
            <a:spAutoFit/>
          </a:bodyPr>
          <a:lstStyle/>
          <a:p>
            <a:pPr algn="r">
              <a:lnSpc>
                <a:spcPct val="100000"/>
              </a:lnSpc>
            </a:pPr>
            <a:r>
              <a:rPr sz="500" b="0">
                <a:solidFill>
                  <a:srgbClr val="56646F"/>
                </a:solidFill>
                <a:latin typeface="Calibri"/>
              </a:rPr>
              <a:t>conf:  </a:t>
            </a:r>
            <a:r>
              <a:rPr sz="500" b="1">
                <a:solidFill>
                  <a:srgbClr val="1E2A36"/>
                </a:solidFill>
                <a:latin typeface="Calibri"/>
              </a:rPr>
              <a:t>High</a:t>
            </a:r>
          </a:p>
        </p:txBody>
      </p:sp>
      <p:sp>
        <p:nvSpPr>
          <p:cNvPr id="155" name="Oval 154"/>
          <p:cNvSpPr/>
          <p:nvPr/>
        </p:nvSpPr>
        <p:spPr>
          <a:xfrm>
            <a:off x="469900" y="8102600"/>
            <a:ext cx="139700" cy="139700"/>
          </a:xfrm>
          <a:prstGeom prst="ellipse">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469900" y="8102600"/>
            <a:ext cx="139700" cy="139700"/>
          </a:xfrm>
          <a:prstGeom prst="rect">
            <a:avLst/>
          </a:prstGeom>
          <a:noFill/>
        </p:spPr>
        <p:txBody>
          <a:bodyPr wrap="none" lIns="0" tIns="0" rIns="0" bIns="0" anchor="ctr">
            <a:spAutoFit/>
          </a:bodyPr>
          <a:lstStyle/>
          <a:p>
            <a:pPr algn="ctr">
              <a:lnSpc>
                <a:spcPct val="100000"/>
              </a:lnSpc>
            </a:pPr>
            <a:r>
              <a:rPr sz="640" b="1">
                <a:solidFill>
                  <a:srgbClr val="FFFFFF"/>
                </a:solidFill>
                <a:latin typeface="Calibri"/>
              </a:rPr>
              <a:t>2</a:t>
            </a:r>
          </a:p>
        </p:txBody>
      </p:sp>
      <p:sp>
        <p:nvSpPr>
          <p:cNvPr id="157" name="TextBox 156"/>
          <p:cNvSpPr txBox="1"/>
          <p:nvPr/>
        </p:nvSpPr>
        <p:spPr>
          <a:xfrm>
            <a:off x="673100" y="8077200"/>
            <a:ext cx="2286000" cy="114300"/>
          </a:xfrm>
          <a:prstGeom prst="rect">
            <a:avLst/>
          </a:prstGeom>
          <a:noFill/>
        </p:spPr>
        <p:txBody>
          <a:bodyPr wrap="none" lIns="0" tIns="0" rIns="0" bIns="0" anchor="t">
            <a:spAutoFit/>
          </a:bodyPr>
          <a:lstStyle/>
          <a:p>
            <a:pPr algn="l">
              <a:lnSpc>
                <a:spcPct val="100000"/>
              </a:lnSpc>
            </a:pPr>
            <a:r>
              <a:rPr sz="620" b="1">
                <a:solidFill>
                  <a:srgbClr val="1E2A36"/>
                </a:solidFill>
                <a:latin typeface="Calibri"/>
              </a:rPr>
              <a:t>Raise Compressor Station 2 discharge setpoint by 30 psi</a:t>
            </a:r>
          </a:p>
        </p:txBody>
      </p:sp>
      <p:sp>
        <p:nvSpPr>
          <p:cNvPr id="158" name="TextBox 157"/>
          <p:cNvSpPr txBox="1"/>
          <p:nvPr/>
        </p:nvSpPr>
        <p:spPr>
          <a:xfrm>
            <a:off x="673100" y="8191500"/>
            <a:ext cx="2286000" cy="114300"/>
          </a:xfrm>
          <a:prstGeom prst="rect">
            <a:avLst/>
          </a:prstGeom>
          <a:noFill/>
        </p:spPr>
        <p:txBody>
          <a:bodyPr wrap="none" lIns="0" tIns="0" rIns="0" bIns="0" anchor="t">
            <a:spAutoFit/>
          </a:bodyPr>
          <a:lstStyle/>
          <a:p>
            <a:pPr algn="l">
              <a:lnSpc>
                <a:spcPct val="100000"/>
              </a:lnSpc>
            </a:pPr>
            <a:r>
              <a:rPr sz="509" b="0">
                <a:solidFill>
                  <a:srgbClr val="56646F"/>
                </a:solidFill>
                <a:latin typeface="Calibri"/>
              </a:rPr>
              <a:t>Station 2 · next 4 h   ·   binding: </a:t>
            </a:r>
            <a:r>
              <a:rPr sz="509" b="0">
                <a:solidFill>
                  <a:srgbClr val="1E2A36"/>
                </a:solidFill>
                <a:latin typeface="Calibri"/>
              </a:rPr>
              <a:t>Station B MAOP headroom</a:t>
            </a:r>
          </a:p>
        </p:txBody>
      </p:sp>
      <p:sp>
        <p:nvSpPr>
          <p:cNvPr id="159" name="Rounded Rectangle 158"/>
          <p:cNvSpPr/>
          <p:nvPr/>
        </p:nvSpPr>
        <p:spPr>
          <a:xfrm>
            <a:off x="3035300" y="8121650"/>
            <a:ext cx="2813050" cy="63500"/>
          </a:xfrm>
          <a:prstGeom prst="roundRect">
            <a:avLst>
              <a:gd name="adj" fmla="val 50000"/>
            </a:avLst>
          </a:prstGeom>
          <a:solidFill>
            <a:srgbClr val="E9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ounded Rectangle 159"/>
          <p:cNvSpPr/>
          <p:nvPr/>
        </p:nvSpPr>
        <p:spPr>
          <a:xfrm>
            <a:off x="3035300" y="8121650"/>
            <a:ext cx="1234997" cy="63500"/>
          </a:xfrm>
          <a:prstGeom prst="roundRect">
            <a:avLst>
              <a:gd name="adj" fmla="val 50000"/>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p:cNvSpPr txBox="1"/>
          <p:nvPr/>
        </p:nvSpPr>
        <p:spPr>
          <a:xfrm>
            <a:off x="6000750" y="8064500"/>
            <a:ext cx="1092200" cy="114300"/>
          </a:xfrm>
          <a:prstGeom prst="rect">
            <a:avLst/>
          </a:prstGeom>
          <a:noFill/>
        </p:spPr>
        <p:txBody>
          <a:bodyPr wrap="none" lIns="0" tIns="0" rIns="0" bIns="0" anchor="t">
            <a:spAutoFit/>
          </a:bodyPr>
          <a:lstStyle/>
          <a:p>
            <a:pPr algn="r">
              <a:lnSpc>
                <a:spcPct val="100000"/>
              </a:lnSpc>
            </a:pPr>
            <a:r>
              <a:rPr sz="620" b="1">
                <a:solidFill>
                  <a:srgbClr val="E87A22"/>
                </a:solidFill>
                <a:latin typeface="Calibri"/>
              </a:rPr>
              <a:t>+$1,800/day</a:t>
            </a:r>
          </a:p>
        </p:txBody>
      </p:sp>
      <p:sp>
        <p:nvSpPr>
          <p:cNvPr id="162" name="TextBox 161"/>
          <p:cNvSpPr txBox="1"/>
          <p:nvPr/>
        </p:nvSpPr>
        <p:spPr>
          <a:xfrm>
            <a:off x="6000750" y="8185150"/>
            <a:ext cx="1092200" cy="114300"/>
          </a:xfrm>
          <a:prstGeom prst="rect">
            <a:avLst/>
          </a:prstGeom>
          <a:noFill/>
        </p:spPr>
        <p:txBody>
          <a:bodyPr wrap="none" lIns="0" tIns="0" rIns="0" bIns="0" anchor="t">
            <a:spAutoFit/>
          </a:bodyPr>
          <a:lstStyle/>
          <a:p>
            <a:pPr algn="r">
              <a:lnSpc>
                <a:spcPct val="100000"/>
              </a:lnSpc>
            </a:pPr>
            <a:r>
              <a:rPr sz="500" b="0">
                <a:solidFill>
                  <a:srgbClr val="56646F"/>
                </a:solidFill>
                <a:latin typeface="Calibri"/>
              </a:rPr>
              <a:t>conf:  </a:t>
            </a:r>
            <a:r>
              <a:rPr sz="500" b="1">
                <a:solidFill>
                  <a:srgbClr val="1E2A36"/>
                </a:solidFill>
                <a:latin typeface="Calibri"/>
              </a:rPr>
              <a:t>Medium</a:t>
            </a:r>
          </a:p>
        </p:txBody>
      </p:sp>
      <p:sp>
        <p:nvSpPr>
          <p:cNvPr id="163" name="Rectangle 162"/>
          <p:cNvSpPr/>
          <p:nvPr/>
        </p:nvSpPr>
        <p:spPr>
          <a:xfrm>
            <a:off x="431800" y="8299450"/>
            <a:ext cx="6699250" cy="2413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val 163"/>
          <p:cNvSpPr/>
          <p:nvPr/>
        </p:nvSpPr>
        <p:spPr>
          <a:xfrm>
            <a:off x="469900" y="8343900"/>
            <a:ext cx="139700" cy="139700"/>
          </a:xfrm>
          <a:prstGeom prst="ellipse">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TextBox 164"/>
          <p:cNvSpPr txBox="1"/>
          <p:nvPr/>
        </p:nvSpPr>
        <p:spPr>
          <a:xfrm>
            <a:off x="469900" y="8343900"/>
            <a:ext cx="139700" cy="139700"/>
          </a:xfrm>
          <a:prstGeom prst="rect">
            <a:avLst/>
          </a:prstGeom>
          <a:noFill/>
        </p:spPr>
        <p:txBody>
          <a:bodyPr wrap="none" lIns="0" tIns="0" rIns="0" bIns="0" anchor="ctr">
            <a:spAutoFit/>
          </a:bodyPr>
          <a:lstStyle/>
          <a:p>
            <a:pPr algn="ctr">
              <a:lnSpc>
                <a:spcPct val="100000"/>
              </a:lnSpc>
            </a:pPr>
            <a:r>
              <a:rPr sz="640" b="1">
                <a:solidFill>
                  <a:srgbClr val="FFFFFF"/>
                </a:solidFill>
                <a:latin typeface="Calibri"/>
              </a:rPr>
              <a:t>3</a:t>
            </a:r>
          </a:p>
        </p:txBody>
      </p:sp>
      <p:sp>
        <p:nvSpPr>
          <p:cNvPr id="166" name="TextBox 165"/>
          <p:cNvSpPr txBox="1"/>
          <p:nvPr/>
        </p:nvSpPr>
        <p:spPr>
          <a:xfrm>
            <a:off x="673100" y="8318500"/>
            <a:ext cx="2286000" cy="114300"/>
          </a:xfrm>
          <a:prstGeom prst="rect">
            <a:avLst/>
          </a:prstGeom>
          <a:noFill/>
        </p:spPr>
        <p:txBody>
          <a:bodyPr wrap="none" lIns="0" tIns="0" rIns="0" bIns="0" anchor="t">
            <a:spAutoFit/>
          </a:bodyPr>
          <a:lstStyle/>
          <a:p>
            <a:pPr algn="l">
              <a:lnSpc>
                <a:spcPct val="100000"/>
              </a:lnSpc>
            </a:pPr>
            <a:r>
              <a:rPr sz="620" b="1">
                <a:solidFill>
                  <a:srgbClr val="1E2A36"/>
                </a:solidFill>
                <a:latin typeface="Calibri"/>
              </a:rPr>
              <a:t>Build linepack 2% ahead of tomorrow's peak</a:t>
            </a:r>
          </a:p>
        </p:txBody>
      </p:sp>
      <p:sp>
        <p:nvSpPr>
          <p:cNvPr id="167" name="TextBox 166"/>
          <p:cNvSpPr txBox="1"/>
          <p:nvPr/>
        </p:nvSpPr>
        <p:spPr>
          <a:xfrm>
            <a:off x="673100" y="8432800"/>
            <a:ext cx="2286000" cy="114300"/>
          </a:xfrm>
          <a:prstGeom prst="rect">
            <a:avLst/>
          </a:prstGeom>
          <a:noFill/>
        </p:spPr>
        <p:txBody>
          <a:bodyPr wrap="none" lIns="0" tIns="0" rIns="0" bIns="0" anchor="t">
            <a:spAutoFit/>
          </a:bodyPr>
          <a:lstStyle/>
          <a:p>
            <a:pPr algn="l">
              <a:lnSpc>
                <a:spcPct val="100000"/>
              </a:lnSpc>
            </a:pPr>
            <a:r>
              <a:rPr sz="509" b="0">
                <a:solidFill>
                  <a:srgbClr val="56646F"/>
                </a:solidFill>
                <a:latin typeface="Calibri"/>
              </a:rPr>
              <a:t>Zone 3 · overnight   ·   binding: </a:t>
            </a:r>
            <a:r>
              <a:rPr sz="509" b="0">
                <a:solidFill>
                  <a:srgbClr val="1E2A36"/>
                </a:solidFill>
                <a:latin typeface="Calibri"/>
              </a:rPr>
              <a:t>peak-hour delivery limit</a:t>
            </a:r>
          </a:p>
        </p:txBody>
      </p:sp>
      <p:sp>
        <p:nvSpPr>
          <p:cNvPr id="168" name="Rounded Rectangle 167"/>
          <p:cNvSpPr/>
          <p:nvPr/>
        </p:nvSpPr>
        <p:spPr>
          <a:xfrm>
            <a:off x="3035300" y="8362950"/>
            <a:ext cx="2813050" cy="63500"/>
          </a:xfrm>
          <a:prstGeom prst="roundRect">
            <a:avLst>
              <a:gd name="adj" fmla="val 50000"/>
            </a:avLst>
          </a:prstGeom>
          <a:solidFill>
            <a:srgbClr val="E9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Rounded Rectangle 168"/>
          <p:cNvSpPr/>
          <p:nvPr/>
        </p:nvSpPr>
        <p:spPr>
          <a:xfrm>
            <a:off x="3035300" y="8362950"/>
            <a:ext cx="823331" cy="63500"/>
          </a:xfrm>
          <a:prstGeom prst="roundRect">
            <a:avLst>
              <a:gd name="adj" fmla="val 50000"/>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6000750" y="8305800"/>
            <a:ext cx="1092200" cy="114300"/>
          </a:xfrm>
          <a:prstGeom prst="rect">
            <a:avLst/>
          </a:prstGeom>
          <a:noFill/>
        </p:spPr>
        <p:txBody>
          <a:bodyPr wrap="none" lIns="0" tIns="0" rIns="0" bIns="0" anchor="t">
            <a:spAutoFit/>
          </a:bodyPr>
          <a:lstStyle/>
          <a:p>
            <a:pPr algn="r">
              <a:lnSpc>
                <a:spcPct val="100000"/>
              </a:lnSpc>
            </a:pPr>
            <a:r>
              <a:rPr sz="620" b="1">
                <a:solidFill>
                  <a:srgbClr val="E87A22"/>
                </a:solidFill>
                <a:latin typeface="Calibri"/>
              </a:rPr>
              <a:t>+$1,200/day</a:t>
            </a:r>
          </a:p>
        </p:txBody>
      </p:sp>
      <p:sp>
        <p:nvSpPr>
          <p:cNvPr id="171" name="TextBox 170"/>
          <p:cNvSpPr txBox="1"/>
          <p:nvPr/>
        </p:nvSpPr>
        <p:spPr>
          <a:xfrm>
            <a:off x="6000750" y="8426450"/>
            <a:ext cx="1092200" cy="114300"/>
          </a:xfrm>
          <a:prstGeom prst="rect">
            <a:avLst/>
          </a:prstGeom>
          <a:noFill/>
        </p:spPr>
        <p:txBody>
          <a:bodyPr wrap="none" lIns="0" tIns="0" rIns="0" bIns="0" anchor="t">
            <a:spAutoFit/>
          </a:bodyPr>
          <a:lstStyle/>
          <a:p>
            <a:pPr algn="r">
              <a:lnSpc>
                <a:spcPct val="100000"/>
              </a:lnSpc>
            </a:pPr>
            <a:r>
              <a:rPr sz="500" b="0">
                <a:solidFill>
                  <a:srgbClr val="56646F"/>
                </a:solidFill>
                <a:latin typeface="Calibri"/>
              </a:rPr>
              <a:t>conf:  </a:t>
            </a:r>
            <a:r>
              <a:rPr sz="500" b="1">
                <a:solidFill>
                  <a:srgbClr val="1E2A36"/>
                </a:solidFill>
                <a:latin typeface="Calibri"/>
              </a:rPr>
              <a:t>High</a:t>
            </a:r>
          </a:p>
        </p:txBody>
      </p:sp>
      <p:sp>
        <p:nvSpPr>
          <p:cNvPr id="172" name="Oval 171"/>
          <p:cNvSpPr/>
          <p:nvPr/>
        </p:nvSpPr>
        <p:spPr>
          <a:xfrm>
            <a:off x="469900" y="8585200"/>
            <a:ext cx="139700" cy="139700"/>
          </a:xfrm>
          <a:prstGeom prst="ellipse">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172"/>
          <p:cNvSpPr txBox="1"/>
          <p:nvPr/>
        </p:nvSpPr>
        <p:spPr>
          <a:xfrm>
            <a:off x="469900" y="8585200"/>
            <a:ext cx="139700" cy="139700"/>
          </a:xfrm>
          <a:prstGeom prst="rect">
            <a:avLst/>
          </a:prstGeom>
          <a:noFill/>
        </p:spPr>
        <p:txBody>
          <a:bodyPr wrap="none" lIns="0" tIns="0" rIns="0" bIns="0" anchor="ctr">
            <a:spAutoFit/>
          </a:bodyPr>
          <a:lstStyle/>
          <a:p>
            <a:pPr algn="ctr">
              <a:lnSpc>
                <a:spcPct val="100000"/>
              </a:lnSpc>
            </a:pPr>
            <a:r>
              <a:rPr sz="640" b="1">
                <a:solidFill>
                  <a:srgbClr val="FFFFFF"/>
                </a:solidFill>
                <a:latin typeface="Calibri"/>
              </a:rPr>
              <a:t>4</a:t>
            </a:r>
          </a:p>
        </p:txBody>
      </p:sp>
      <p:sp>
        <p:nvSpPr>
          <p:cNvPr id="174" name="TextBox 173"/>
          <p:cNvSpPr txBox="1"/>
          <p:nvPr/>
        </p:nvSpPr>
        <p:spPr>
          <a:xfrm>
            <a:off x="673100" y="8559800"/>
            <a:ext cx="2286000" cy="114300"/>
          </a:xfrm>
          <a:prstGeom prst="rect">
            <a:avLst/>
          </a:prstGeom>
          <a:noFill/>
        </p:spPr>
        <p:txBody>
          <a:bodyPr wrap="none" lIns="0" tIns="0" rIns="0" bIns="0" anchor="t">
            <a:spAutoFit/>
          </a:bodyPr>
          <a:lstStyle/>
          <a:p>
            <a:pPr algn="l">
              <a:lnSpc>
                <a:spcPct val="100000"/>
              </a:lnSpc>
            </a:pPr>
            <a:r>
              <a:rPr sz="620" b="1" dirty="0">
                <a:solidFill>
                  <a:srgbClr val="1E2A36"/>
                </a:solidFill>
                <a:latin typeface="Calibri"/>
              </a:rPr>
              <a:t>Trim interruptible nomination on Route 4 by 10 </a:t>
            </a:r>
            <a:r>
              <a:rPr sz="620" b="1" dirty="0" err="1">
                <a:solidFill>
                  <a:srgbClr val="1E2A36"/>
                </a:solidFill>
                <a:latin typeface="Calibri"/>
              </a:rPr>
              <a:t>MMscf</a:t>
            </a:r>
            <a:r>
              <a:rPr sz="620" b="1" dirty="0">
                <a:solidFill>
                  <a:srgbClr val="1E2A36"/>
                </a:solidFill>
                <a:latin typeface="Calibri"/>
              </a:rPr>
              <a:t>/d</a:t>
            </a:r>
          </a:p>
        </p:txBody>
      </p:sp>
      <p:sp>
        <p:nvSpPr>
          <p:cNvPr id="175" name="TextBox 174"/>
          <p:cNvSpPr txBox="1"/>
          <p:nvPr/>
        </p:nvSpPr>
        <p:spPr>
          <a:xfrm>
            <a:off x="673100" y="8674100"/>
            <a:ext cx="2286000" cy="114300"/>
          </a:xfrm>
          <a:prstGeom prst="rect">
            <a:avLst/>
          </a:prstGeom>
          <a:noFill/>
        </p:spPr>
        <p:txBody>
          <a:bodyPr wrap="none" lIns="0" tIns="0" rIns="0" bIns="0" anchor="t">
            <a:spAutoFit/>
          </a:bodyPr>
          <a:lstStyle/>
          <a:p>
            <a:pPr algn="l">
              <a:lnSpc>
                <a:spcPct val="100000"/>
              </a:lnSpc>
            </a:pPr>
            <a:r>
              <a:rPr sz="509" b="0" dirty="0">
                <a:solidFill>
                  <a:srgbClr val="56646F"/>
                </a:solidFill>
                <a:latin typeface="Calibri"/>
              </a:rPr>
              <a:t>Route 4 · day-ahead cycle   ·   binding: </a:t>
            </a:r>
            <a:r>
              <a:rPr sz="509" b="0" dirty="0">
                <a:solidFill>
                  <a:srgbClr val="1E2A36"/>
                </a:solidFill>
                <a:latin typeface="Calibri"/>
              </a:rPr>
              <a:t>imbalance tolerance</a:t>
            </a:r>
          </a:p>
        </p:txBody>
      </p:sp>
      <p:sp>
        <p:nvSpPr>
          <p:cNvPr id="176" name="Rounded Rectangle 175"/>
          <p:cNvSpPr/>
          <p:nvPr/>
        </p:nvSpPr>
        <p:spPr>
          <a:xfrm>
            <a:off x="3035300" y="8604250"/>
            <a:ext cx="2813050" cy="63500"/>
          </a:xfrm>
          <a:prstGeom prst="roundRect">
            <a:avLst>
              <a:gd name="adj" fmla="val 50000"/>
            </a:avLst>
          </a:prstGeom>
          <a:solidFill>
            <a:srgbClr val="E9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Rounded Rectangle 176"/>
          <p:cNvSpPr/>
          <p:nvPr/>
        </p:nvSpPr>
        <p:spPr>
          <a:xfrm>
            <a:off x="3035300" y="8604250"/>
            <a:ext cx="411665" cy="63500"/>
          </a:xfrm>
          <a:prstGeom prst="roundRect">
            <a:avLst>
              <a:gd name="adj" fmla="val 50000"/>
            </a:avLst>
          </a:prstGeom>
          <a:solidFill>
            <a:srgbClr val="C9D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6000750" y="8547100"/>
            <a:ext cx="1092200" cy="114300"/>
          </a:xfrm>
          <a:prstGeom prst="rect">
            <a:avLst/>
          </a:prstGeom>
          <a:noFill/>
        </p:spPr>
        <p:txBody>
          <a:bodyPr wrap="none" lIns="0" tIns="0" rIns="0" bIns="0" anchor="t">
            <a:spAutoFit/>
          </a:bodyPr>
          <a:lstStyle/>
          <a:p>
            <a:pPr algn="r">
              <a:lnSpc>
                <a:spcPct val="100000"/>
              </a:lnSpc>
            </a:pPr>
            <a:r>
              <a:rPr sz="620" b="1">
                <a:solidFill>
                  <a:srgbClr val="E87A22"/>
                </a:solidFill>
                <a:latin typeface="Calibri"/>
              </a:rPr>
              <a:t>−$600 penalty avoided</a:t>
            </a:r>
          </a:p>
        </p:txBody>
      </p:sp>
      <p:sp>
        <p:nvSpPr>
          <p:cNvPr id="179" name="TextBox 178"/>
          <p:cNvSpPr txBox="1"/>
          <p:nvPr/>
        </p:nvSpPr>
        <p:spPr>
          <a:xfrm>
            <a:off x="6000750" y="8667750"/>
            <a:ext cx="1092200" cy="114300"/>
          </a:xfrm>
          <a:prstGeom prst="rect">
            <a:avLst/>
          </a:prstGeom>
          <a:noFill/>
        </p:spPr>
        <p:txBody>
          <a:bodyPr wrap="none" lIns="0" tIns="0" rIns="0" bIns="0" anchor="t">
            <a:spAutoFit/>
          </a:bodyPr>
          <a:lstStyle/>
          <a:p>
            <a:pPr algn="r">
              <a:lnSpc>
                <a:spcPct val="100000"/>
              </a:lnSpc>
            </a:pPr>
            <a:r>
              <a:rPr sz="500" b="0">
                <a:solidFill>
                  <a:srgbClr val="56646F"/>
                </a:solidFill>
                <a:latin typeface="Calibri"/>
              </a:rPr>
              <a:t>conf:  </a:t>
            </a:r>
            <a:r>
              <a:rPr sz="500" b="1">
                <a:solidFill>
                  <a:srgbClr val="1E2A36"/>
                </a:solidFill>
                <a:latin typeface="Calibri"/>
              </a:rPr>
              <a:t>Medium</a:t>
            </a:r>
          </a:p>
        </p:txBody>
      </p:sp>
      <p:sp>
        <p:nvSpPr>
          <p:cNvPr id="180" name="TextBox 179"/>
          <p:cNvSpPr txBox="1"/>
          <p:nvPr/>
        </p:nvSpPr>
        <p:spPr>
          <a:xfrm>
            <a:off x="469900" y="8826500"/>
            <a:ext cx="6623050" cy="165100"/>
          </a:xfrm>
          <a:prstGeom prst="rect">
            <a:avLst/>
          </a:prstGeom>
          <a:noFill/>
        </p:spPr>
        <p:txBody>
          <a:bodyPr wrap="square" lIns="0" tIns="0" rIns="0" bIns="0" anchor="t">
            <a:spAutoFit/>
          </a:bodyPr>
          <a:lstStyle/>
          <a:p>
            <a:pPr algn="l">
              <a:lnSpc>
                <a:spcPct val="105000"/>
              </a:lnSpc>
            </a:pPr>
            <a:r>
              <a:rPr sz="660" b="1">
                <a:solidFill>
                  <a:srgbClr val="1E2A36"/>
                </a:solidFill>
                <a:latin typeface="Calibri"/>
              </a:rPr>
              <a:t>Each recommendation carries  </a:t>
            </a:r>
            <a:r>
              <a:rPr sz="660" b="0">
                <a:solidFill>
                  <a:srgbClr val="56646F"/>
                </a:solidFill>
                <a:latin typeface="Calibri"/>
              </a:rPr>
              <a:t>rationale, constraints considered, and forecast-error sensitivity, plus a full audit trail — advisory only.  $ values are illustrative pending a site value study.</a:t>
            </a:r>
          </a:p>
        </p:txBody>
      </p:sp>
      <p:sp>
        <p:nvSpPr>
          <p:cNvPr id="181" name="Rounded Rectangle 180"/>
          <p:cNvSpPr/>
          <p:nvPr/>
        </p:nvSpPr>
        <p:spPr>
          <a:xfrm>
            <a:off x="330200" y="9055100"/>
            <a:ext cx="6902450" cy="939800"/>
          </a:xfrm>
          <a:prstGeom prst="roundRect">
            <a:avLst>
              <a:gd name="adj" fmla="val 3000"/>
            </a:avLst>
          </a:prstGeom>
          <a:solidFill>
            <a:srgbClr val="FFFFFF"/>
          </a:solidFill>
          <a:ln w="9525">
            <a:solidFill>
              <a:srgbClr val="DFE5EC"/>
            </a:solidFill>
          </a:ln>
          <a:effectLst>
            <a:outerShdw blurRad="50000" dist="20000" dir="5400000" rotWithShape="0">
              <a:srgbClr val="A6B2BE">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81"/>
          <p:cNvSpPr/>
          <p:nvPr/>
        </p:nvSpPr>
        <p:spPr>
          <a:xfrm>
            <a:off x="469900" y="9194800"/>
            <a:ext cx="241300" cy="241300"/>
          </a:xfrm>
          <a:prstGeom prst="ellipse">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3" name="Picture 182" descr="image11.png"/>
          <p:cNvPicPr>
            <a:picLocks noChangeAspect="1"/>
          </p:cNvPicPr>
          <p:nvPr/>
        </p:nvPicPr>
        <p:blipFill>
          <a:blip r:embed="rId9"/>
          <a:stretch>
            <a:fillRect/>
          </a:stretch>
        </p:blipFill>
        <p:spPr>
          <a:xfrm>
            <a:off x="520700" y="9245600"/>
            <a:ext cx="139700" cy="139700"/>
          </a:xfrm>
          <a:prstGeom prst="rect">
            <a:avLst/>
          </a:prstGeom>
        </p:spPr>
      </p:pic>
      <p:sp>
        <p:nvSpPr>
          <p:cNvPr id="184" name="TextBox 183"/>
          <p:cNvSpPr txBox="1"/>
          <p:nvPr/>
        </p:nvSpPr>
        <p:spPr>
          <a:xfrm>
            <a:off x="800100" y="9182100"/>
            <a:ext cx="330200" cy="266700"/>
          </a:xfrm>
          <a:prstGeom prst="rect">
            <a:avLst/>
          </a:prstGeom>
          <a:noFill/>
        </p:spPr>
        <p:txBody>
          <a:bodyPr wrap="square" lIns="0" tIns="0" rIns="0" bIns="0" anchor="ctr">
            <a:spAutoFit/>
          </a:bodyPr>
          <a:lstStyle/>
          <a:p>
            <a:pPr algn="l">
              <a:lnSpc>
                <a:spcPct val="100000"/>
              </a:lnSpc>
            </a:pPr>
            <a:r>
              <a:rPr sz="1150" b="1">
                <a:solidFill>
                  <a:srgbClr val="E87A22"/>
                </a:solidFill>
                <a:latin typeface="Calibri"/>
              </a:rPr>
              <a:t>05</a:t>
            </a:r>
          </a:p>
        </p:txBody>
      </p:sp>
      <p:sp>
        <p:nvSpPr>
          <p:cNvPr id="185" name="TextBox 184"/>
          <p:cNvSpPr txBox="1"/>
          <p:nvPr/>
        </p:nvSpPr>
        <p:spPr>
          <a:xfrm>
            <a:off x="1092200" y="9169400"/>
            <a:ext cx="6000750" cy="292100"/>
          </a:xfrm>
          <a:prstGeom prst="rect">
            <a:avLst/>
          </a:prstGeom>
          <a:noFill/>
        </p:spPr>
        <p:txBody>
          <a:bodyPr wrap="none" lIns="0" tIns="0" rIns="0" bIns="0" anchor="ctr">
            <a:spAutoFit/>
          </a:bodyPr>
          <a:lstStyle/>
          <a:p>
            <a:pPr algn="l">
              <a:lnSpc>
                <a:spcPct val="100000"/>
              </a:lnSpc>
            </a:pPr>
            <a:r>
              <a:rPr sz="1250" b="1">
                <a:solidFill>
                  <a:srgbClr val="1E2A36"/>
                </a:solidFill>
                <a:latin typeface="Calibri"/>
              </a:rPr>
              <a:t>Platform</a:t>
            </a:r>
          </a:p>
        </p:txBody>
      </p:sp>
      <p:sp>
        <p:nvSpPr>
          <p:cNvPr id="186" name="Rounded Rectangle 185"/>
          <p:cNvSpPr/>
          <p:nvPr/>
        </p:nvSpPr>
        <p:spPr>
          <a:xfrm>
            <a:off x="469900" y="9436100"/>
            <a:ext cx="1243330" cy="469900"/>
          </a:xfrm>
          <a:prstGeom prst="roundRect">
            <a:avLst>
              <a:gd name="adj" fmla="val 10000"/>
            </a:avLst>
          </a:prstGeom>
          <a:solidFill>
            <a:srgbClr val="FAFBFD"/>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558800" y="9499600"/>
            <a:ext cx="1090930" cy="114300"/>
          </a:xfrm>
          <a:prstGeom prst="rect">
            <a:avLst/>
          </a:prstGeom>
          <a:noFill/>
        </p:spPr>
        <p:txBody>
          <a:bodyPr wrap="none" lIns="0" tIns="0" rIns="0" bIns="0" anchor="t">
            <a:spAutoFit/>
          </a:bodyPr>
          <a:lstStyle/>
          <a:p>
            <a:pPr algn="l">
              <a:lnSpc>
                <a:spcPct val="100000"/>
              </a:lnSpc>
            </a:pPr>
            <a:r>
              <a:rPr sz="630" b="1">
                <a:solidFill>
                  <a:srgbClr val="1E2A36"/>
                </a:solidFill>
                <a:latin typeface="Calibri"/>
              </a:rPr>
              <a:t>Historian &amp; SCADA links</a:t>
            </a:r>
          </a:p>
        </p:txBody>
      </p:sp>
      <p:sp>
        <p:nvSpPr>
          <p:cNvPr id="188" name="TextBox 187"/>
          <p:cNvSpPr txBox="1"/>
          <p:nvPr/>
        </p:nvSpPr>
        <p:spPr>
          <a:xfrm>
            <a:off x="558800" y="9626600"/>
            <a:ext cx="1090930" cy="254000"/>
          </a:xfrm>
          <a:prstGeom prst="rect">
            <a:avLst/>
          </a:prstGeom>
          <a:noFill/>
        </p:spPr>
        <p:txBody>
          <a:bodyPr wrap="square" lIns="0" tIns="0" rIns="0" bIns="0" anchor="t">
            <a:spAutoFit/>
          </a:bodyPr>
          <a:lstStyle/>
          <a:p>
            <a:pPr algn="l">
              <a:lnSpc>
                <a:spcPct val="105000"/>
              </a:lnSpc>
            </a:pPr>
            <a:r>
              <a:rPr sz="530" b="0">
                <a:solidFill>
                  <a:srgbClr val="56646F"/>
                </a:solidFill>
                <a:latin typeface="Calibri"/>
              </a:rPr>
              <a:t>plug-and-play to plant historians and real-time feeds</a:t>
            </a:r>
          </a:p>
        </p:txBody>
      </p:sp>
      <p:sp>
        <p:nvSpPr>
          <p:cNvPr id="189" name="Rounded Rectangle 188"/>
          <p:cNvSpPr/>
          <p:nvPr/>
        </p:nvSpPr>
        <p:spPr>
          <a:xfrm>
            <a:off x="1814830" y="9436100"/>
            <a:ext cx="1243330" cy="469900"/>
          </a:xfrm>
          <a:prstGeom prst="roundRect">
            <a:avLst>
              <a:gd name="adj" fmla="val 10000"/>
            </a:avLst>
          </a:prstGeom>
          <a:solidFill>
            <a:srgbClr val="FAFBFD"/>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1903730" y="9499600"/>
            <a:ext cx="1090930" cy="114300"/>
          </a:xfrm>
          <a:prstGeom prst="rect">
            <a:avLst/>
          </a:prstGeom>
          <a:noFill/>
        </p:spPr>
        <p:txBody>
          <a:bodyPr wrap="none" lIns="0" tIns="0" rIns="0" bIns="0" anchor="t">
            <a:spAutoFit/>
          </a:bodyPr>
          <a:lstStyle/>
          <a:p>
            <a:pPr algn="l">
              <a:lnSpc>
                <a:spcPct val="100000"/>
              </a:lnSpc>
            </a:pPr>
            <a:r>
              <a:rPr sz="630" b="1">
                <a:solidFill>
                  <a:srgbClr val="1E2A36"/>
                </a:solidFill>
                <a:latin typeface="Calibri"/>
              </a:rPr>
              <a:t>Simulator &amp; scheduler links</a:t>
            </a:r>
          </a:p>
        </p:txBody>
      </p:sp>
      <p:sp>
        <p:nvSpPr>
          <p:cNvPr id="191" name="TextBox 190"/>
          <p:cNvSpPr txBox="1"/>
          <p:nvPr/>
        </p:nvSpPr>
        <p:spPr>
          <a:xfrm>
            <a:off x="1903730" y="9626600"/>
            <a:ext cx="1090930" cy="254000"/>
          </a:xfrm>
          <a:prstGeom prst="rect">
            <a:avLst/>
          </a:prstGeom>
          <a:noFill/>
        </p:spPr>
        <p:txBody>
          <a:bodyPr wrap="square" lIns="0" tIns="0" rIns="0" bIns="0" anchor="t">
            <a:spAutoFit/>
          </a:bodyPr>
          <a:lstStyle/>
          <a:p>
            <a:pPr algn="l">
              <a:lnSpc>
                <a:spcPct val="105000"/>
              </a:lnSpc>
            </a:pPr>
            <a:r>
              <a:rPr sz="530" b="0">
                <a:solidFill>
                  <a:srgbClr val="56646F"/>
                </a:solidFill>
                <a:latin typeface="Calibri"/>
              </a:rPr>
              <a:t>runs alongside hydraulic models, nomination and ETRM systems</a:t>
            </a:r>
          </a:p>
        </p:txBody>
      </p:sp>
      <p:sp>
        <p:nvSpPr>
          <p:cNvPr id="192" name="Rounded Rectangle 191"/>
          <p:cNvSpPr/>
          <p:nvPr/>
        </p:nvSpPr>
        <p:spPr>
          <a:xfrm>
            <a:off x="3159760" y="9436100"/>
            <a:ext cx="1243330" cy="469900"/>
          </a:xfrm>
          <a:prstGeom prst="roundRect">
            <a:avLst>
              <a:gd name="adj" fmla="val 10000"/>
            </a:avLst>
          </a:prstGeom>
          <a:solidFill>
            <a:srgbClr val="FAFBFD"/>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192"/>
          <p:cNvSpPr txBox="1"/>
          <p:nvPr/>
        </p:nvSpPr>
        <p:spPr>
          <a:xfrm>
            <a:off x="3248660" y="9499600"/>
            <a:ext cx="1090930" cy="114300"/>
          </a:xfrm>
          <a:prstGeom prst="rect">
            <a:avLst/>
          </a:prstGeom>
          <a:noFill/>
        </p:spPr>
        <p:txBody>
          <a:bodyPr wrap="none" lIns="0" tIns="0" rIns="0" bIns="0" anchor="t">
            <a:spAutoFit/>
          </a:bodyPr>
          <a:lstStyle/>
          <a:p>
            <a:pPr algn="l">
              <a:lnSpc>
                <a:spcPct val="100000"/>
              </a:lnSpc>
            </a:pPr>
            <a:r>
              <a:rPr sz="630" b="1">
                <a:solidFill>
                  <a:srgbClr val="1E2A36"/>
                </a:solidFill>
                <a:latin typeface="Calibri"/>
              </a:rPr>
              <a:t>Real-time to planning</a:t>
            </a:r>
          </a:p>
        </p:txBody>
      </p:sp>
      <p:sp>
        <p:nvSpPr>
          <p:cNvPr id="194" name="TextBox 193"/>
          <p:cNvSpPr txBox="1"/>
          <p:nvPr/>
        </p:nvSpPr>
        <p:spPr>
          <a:xfrm>
            <a:off x="3248660" y="9626600"/>
            <a:ext cx="1090930" cy="254000"/>
          </a:xfrm>
          <a:prstGeom prst="rect">
            <a:avLst/>
          </a:prstGeom>
          <a:noFill/>
        </p:spPr>
        <p:txBody>
          <a:bodyPr wrap="square" lIns="0" tIns="0" rIns="0" bIns="0" anchor="t">
            <a:spAutoFit/>
          </a:bodyPr>
          <a:lstStyle/>
          <a:p>
            <a:pPr algn="l">
              <a:lnSpc>
                <a:spcPct val="105000"/>
              </a:lnSpc>
            </a:pPr>
            <a:r>
              <a:rPr sz="530" b="0">
                <a:solidFill>
                  <a:srgbClr val="56646F"/>
                </a:solidFill>
                <a:latin typeface="Calibri"/>
              </a:rPr>
              <a:t>one engine from live operations to the monthly plan</a:t>
            </a:r>
          </a:p>
        </p:txBody>
      </p:sp>
      <p:sp>
        <p:nvSpPr>
          <p:cNvPr id="195" name="Rounded Rectangle 194"/>
          <p:cNvSpPr/>
          <p:nvPr/>
        </p:nvSpPr>
        <p:spPr>
          <a:xfrm>
            <a:off x="4504690" y="9436100"/>
            <a:ext cx="1243330" cy="469900"/>
          </a:xfrm>
          <a:prstGeom prst="roundRect">
            <a:avLst>
              <a:gd name="adj" fmla="val 10000"/>
            </a:avLst>
          </a:prstGeom>
          <a:solidFill>
            <a:srgbClr val="FAFBFD"/>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4593590" y="9499600"/>
            <a:ext cx="1090930" cy="114300"/>
          </a:xfrm>
          <a:prstGeom prst="rect">
            <a:avLst/>
          </a:prstGeom>
          <a:noFill/>
        </p:spPr>
        <p:txBody>
          <a:bodyPr wrap="none" lIns="0" tIns="0" rIns="0" bIns="0" anchor="t">
            <a:spAutoFit/>
          </a:bodyPr>
          <a:lstStyle/>
          <a:p>
            <a:pPr algn="l">
              <a:lnSpc>
                <a:spcPct val="100000"/>
              </a:lnSpc>
            </a:pPr>
            <a:r>
              <a:rPr sz="630" b="1">
                <a:solidFill>
                  <a:srgbClr val="1E2A36"/>
                </a:solidFill>
                <a:latin typeface="Calibri"/>
              </a:rPr>
              <a:t>Gen AI assistant</a:t>
            </a:r>
          </a:p>
        </p:txBody>
      </p:sp>
      <p:sp>
        <p:nvSpPr>
          <p:cNvPr id="197" name="TextBox 196"/>
          <p:cNvSpPr txBox="1"/>
          <p:nvPr/>
        </p:nvSpPr>
        <p:spPr>
          <a:xfrm>
            <a:off x="4593590" y="9626600"/>
            <a:ext cx="1090930" cy="254000"/>
          </a:xfrm>
          <a:prstGeom prst="rect">
            <a:avLst/>
          </a:prstGeom>
          <a:noFill/>
        </p:spPr>
        <p:txBody>
          <a:bodyPr wrap="square" lIns="0" tIns="0" rIns="0" bIns="0" anchor="t">
            <a:spAutoFit/>
          </a:bodyPr>
          <a:lstStyle/>
          <a:p>
            <a:pPr algn="l">
              <a:lnSpc>
                <a:spcPct val="105000"/>
              </a:lnSpc>
            </a:pPr>
            <a:r>
              <a:rPr sz="530" b="0">
                <a:solidFill>
                  <a:srgbClr val="56646F"/>
                </a:solidFill>
                <a:latin typeface="Calibri"/>
              </a:rPr>
              <a:t>answers network and margin questions inside the workflow</a:t>
            </a:r>
          </a:p>
        </p:txBody>
      </p:sp>
      <p:sp>
        <p:nvSpPr>
          <p:cNvPr id="198" name="Rounded Rectangle 197"/>
          <p:cNvSpPr/>
          <p:nvPr/>
        </p:nvSpPr>
        <p:spPr>
          <a:xfrm>
            <a:off x="5849620" y="9436100"/>
            <a:ext cx="1243330" cy="469900"/>
          </a:xfrm>
          <a:prstGeom prst="roundRect">
            <a:avLst>
              <a:gd name="adj" fmla="val 10000"/>
            </a:avLst>
          </a:prstGeom>
          <a:solidFill>
            <a:srgbClr val="FAFBFD"/>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TextBox 198"/>
          <p:cNvSpPr txBox="1"/>
          <p:nvPr/>
        </p:nvSpPr>
        <p:spPr>
          <a:xfrm>
            <a:off x="5938520" y="9499600"/>
            <a:ext cx="1090930" cy="114300"/>
          </a:xfrm>
          <a:prstGeom prst="rect">
            <a:avLst/>
          </a:prstGeom>
          <a:noFill/>
        </p:spPr>
        <p:txBody>
          <a:bodyPr wrap="none" lIns="0" tIns="0" rIns="0" bIns="0" anchor="t">
            <a:spAutoFit/>
          </a:bodyPr>
          <a:lstStyle/>
          <a:p>
            <a:pPr algn="l">
              <a:lnSpc>
                <a:spcPct val="100000"/>
              </a:lnSpc>
            </a:pPr>
            <a:r>
              <a:rPr sz="630" b="1">
                <a:solidFill>
                  <a:srgbClr val="1E2A36"/>
                </a:solidFill>
                <a:latin typeface="Calibri"/>
              </a:rPr>
              <a:t>Role-based dashboards</a:t>
            </a:r>
          </a:p>
        </p:txBody>
      </p:sp>
      <p:sp>
        <p:nvSpPr>
          <p:cNvPr id="200" name="TextBox 199"/>
          <p:cNvSpPr txBox="1"/>
          <p:nvPr/>
        </p:nvSpPr>
        <p:spPr>
          <a:xfrm>
            <a:off x="5938520" y="9626600"/>
            <a:ext cx="1090930" cy="254000"/>
          </a:xfrm>
          <a:prstGeom prst="rect">
            <a:avLst/>
          </a:prstGeom>
          <a:noFill/>
        </p:spPr>
        <p:txBody>
          <a:bodyPr wrap="square" lIns="0" tIns="0" rIns="0" bIns="0" anchor="t">
            <a:spAutoFit/>
          </a:bodyPr>
          <a:lstStyle/>
          <a:p>
            <a:pPr algn="l">
              <a:lnSpc>
                <a:spcPct val="105000"/>
              </a:lnSpc>
            </a:pPr>
            <a:r>
              <a:rPr sz="530" b="0">
                <a:solidFill>
                  <a:srgbClr val="56646F"/>
                </a:solidFill>
                <a:latin typeface="Calibri"/>
              </a:rPr>
              <a:t>operations, scheduling and commercial each get their own view</a:t>
            </a:r>
          </a:p>
        </p:txBody>
      </p:sp>
      <p:sp>
        <p:nvSpPr>
          <p:cNvPr id="201" name="Rectangle 200"/>
          <p:cNvSpPr/>
          <p:nvPr/>
        </p:nvSpPr>
        <p:spPr>
          <a:xfrm>
            <a:off x="0" y="10104437"/>
            <a:ext cx="7562850" cy="584200"/>
          </a:xfrm>
          <a:prstGeom prst="rect">
            <a:avLst/>
          </a:prstGeom>
          <a:solidFill>
            <a:srgbClr val="152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p:cNvSpPr txBox="1"/>
          <p:nvPr/>
        </p:nvSpPr>
        <p:spPr>
          <a:xfrm>
            <a:off x="330200" y="10206037"/>
            <a:ext cx="1498600" cy="127000"/>
          </a:xfrm>
          <a:prstGeom prst="rect">
            <a:avLst/>
          </a:prstGeom>
          <a:noFill/>
        </p:spPr>
        <p:txBody>
          <a:bodyPr wrap="square" lIns="0" tIns="0" rIns="0" bIns="0" anchor="t">
            <a:spAutoFit/>
          </a:bodyPr>
          <a:lstStyle/>
          <a:p>
            <a:pPr algn="l">
              <a:lnSpc>
                <a:spcPct val="100000"/>
              </a:lnSpc>
            </a:pPr>
            <a:r>
              <a:rPr sz="770" b="1">
                <a:solidFill>
                  <a:srgbClr val="E87A22"/>
                </a:solidFill>
                <a:latin typeface="Calibri"/>
              </a:rPr>
              <a:t>DELIVERY</a:t>
            </a:r>
          </a:p>
        </p:txBody>
      </p:sp>
      <p:sp>
        <p:nvSpPr>
          <p:cNvPr id="203" name="TextBox 202"/>
          <p:cNvSpPr txBox="1"/>
          <p:nvPr/>
        </p:nvSpPr>
        <p:spPr>
          <a:xfrm>
            <a:off x="330200" y="10320337"/>
            <a:ext cx="1498600" cy="381000"/>
          </a:xfrm>
          <a:prstGeom prst="rect">
            <a:avLst/>
          </a:prstGeom>
          <a:noFill/>
        </p:spPr>
        <p:txBody>
          <a:bodyPr wrap="square" lIns="0" tIns="0" rIns="0" bIns="0" anchor="t">
            <a:spAutoFit/>
          </a:bodyPr>
          <a:lstStyle/>
          <a:p>
            <a:pPr algn="l">
              <a:lnSpc>
                <a:spcPct val="102000"/>
              </a:lnSpc>
            </a:pPr>
            <a:r>
              <a:rPr sz="650" b="0">
                <a:solidFill>
                  <a:srgbClr val="FFFFFF"/>
                </a:solidFill>
                <a:latin typeface="Calibri"/>
              </a:rPr>
              <a:t>Configured, validated and commissioned per site by Ingenero engineers.</a:t>
            </a:r>
          </a:p>
        </p:txBody>
      </p:sp>
      <p:sp>
        <p:nvSpPr>
          <p:cNvPr id="204" name="TextBox 203"/>
          <p:cNvSpPr txBox="1"/>
          <p:nvPr/>
        </p:nvSpPr>
        <p:spPr>
          <a:xfrm>
            <a:off x="1905000" y="10206037"/>
            <a:ext cx="1498600" cy="127000"/>
          </a:xfrm>
          <a:prstGeom prst="rect">
            <a:avLst/>
          </a:prstGeom>
          <a:noFill/>
        </p:spPr>
        <p:txBody>
          <a:bodyPr wrap="square" lIns="0" tIns="0" rIns="0" bIns="0" anchor="t">
            <a:spAutoFit/>
          </a:bodyPr>
          <a:lstStyle/>
          <a:p>
            <a:pPr algn="l">
              <a:lnSpc>
                <a:spcPct val="100000"/>
              </a:lnSpc>
            </a:pPr>
            <a:r>
              <a:rPr sz="770" b="1">
                <a:solidFill>
                  <a:srgbClr val="E87A22"/>
                </a:solidFill>
                <a:latin typeface="Calibri"/>
              </a:rPr>
              <a:t>FLEXIBILITY</a:t>
            </a:r>
          </a:p>
        </p:txBody>
      </p:sp>
      <p:sp>
        <p:nvSpPr>
          <p:cNvPr id="205" name="TextBox 204"/>
          <p:cNvSpPr txBox="1"/>
          <p:nvPr/>
        </p:nvSpPr>
        <p:spPr>
          <a:xfrm>
            <a:off x="1905000" y="10320337"/>
            <a:ext cx="1498600" cy="381000"/>
          </a:xfrm>
          <a:prstGeom prst="rect">
            <a:avLst/>
          </a:prstGeom>
          <a:noFill/>
        </p:spPr>
        <p:txBody>
          <a:bodyPr wrap="square" lIns="0" tIns="0" rIns="0" bIns="0" anchor="t">
            <a:spAutoFit/>
          </a:bodyPr>
          <a:lstStyle/>
          <a:p>
            <a:pPr algn="l">
              <a:lnSpc>
                <a:spcPct val="102000"/>
              </a:lnSpc>
            </a:pPr>
            <a:r>
              <a:rPr sz="650" b="0">
                <a:solidFill>
                  <a:srgbClr val="FFFFFF"/>
                </a:solidFill>
                <a:latin typeface="Calibri"/>
              </a:rPr>
              <a:t>Any network topology; natural gas, extendable to NGL / refinery fuel gas.</a:t>
            </a:r>
          </a:p>
        </p:txBody>
      </p:sp>
      <p:sp>
        <p:nvSpPr>
          <p:cNvPr id="206" name="TextBox 205"/>
          <p:cNvSpPr txBox="1"/>
          <p:nvPr/>
        </p:nvSpPr>
        <p:spPr>
          <a:xfrm>
            <a:off x="3479800" y="10206037"/>
            <a:ext cx="1498600" cy="127000"/>
          </a:xfrm>
          <a:prstGeom prst="rect">
            <a:avLst/>
          </a:prstGeom>
          <a:noFill/>
        </p:spPr>
        <p:txBody>
          <a:bodyPr wrap="square" lIns="0" tIns="0" rIns="0" bIns="0" anchor="t">
            <a:spAutoFit/>
          </a:bodyPr>
          <a:lstStyle/>
          <a:p>
            <a:pPr algn="l">
              <a:lnSpc>
                <a:spcPct val="100000"/>
              </a:lnSpc>
            </a:pPr>
            <a:r>
              <a:rPr sz="770" b="1">
                <a:solidFill>
                  <a:srgbClr val="E87A22"/>
                </a:solidFill>
                <a:latin typeface="Calibri"/>
              </a:rPr>
              <a:t>SCALE</a:t>
            </a:r>
          </a:p>
        </p:txBody>
      </p:sp>
      <p:sp>
        <p:nvSpPr>
          <p:cNvPr id="207" name="TextBox 206"/>
          <p:cNvSpPr txBox="1"/>
          <p:nvPr/>
        </p:nvSpPr>
        <p:spPr>
          <a:xfrm>
            <a:off x="3479800" y="10320337"/>
            <a:ext cx="1498600" cy="381000"/>
          </a:xfrm>
          <a:prstGeom prst="rect">
            <a:avLst/>
          </a:prstGeom>
          <a:noFill/>
        </p:spPr>
        <p:txBody>
          <a:bodyPr wrap="square" lIns="0" tIns="0" rIns="0" bIns="0" anchor="t">
            <a:spAutoFit/>
          </a:bodyPr>
          <a:lstStyle/>
          <a:p>
            <a:pPr algn="l">
              <a:lnSpc>
                <a:spcPct val="102000"/>
              </a:lnSpc>
            </a:pPr>
            <a:r>
              <a:rPr sz="650" b="0">
                <a:solidFill>
                  <a:srgbClr val="FFFFFF"/>
                </a:solidFill>
                <a:latin typeface="Calibri"/>
              </a:rPr>
              <a:t>Repeat networks reuse the configuration, with minimal rework.</a:t>
            </a:r>
          </a:p>
        </p:txBody>
      </p:sp>
      <p:sp>
        <p:nvSpPr>
          <p:cNvPr id="208" name="Rounded Rectangle 207"/>
          <p:cNvSpPr/>
          <p:nvPr/>
        </p:nvSpPr>
        <p:spPr>
          <a:xfrm>
            <a:off x="5048250" y="10244137"/>
            <a:ext cx="2184400" cy="330200"/>
          </a:xfrm>
          <a:prstGeom prst="roundRect">
            <a:avLst>
              <a:gd name="adj" fmla="val 20000"/>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TextBox 208"/>
          <p:cNvSpPr txBox="1"/>
          <p:nvPr/>
        </p:nvSpPr>
        <p:spPr>
          <a:xfrm>
            <a:off x="5048250" y="10244137"/>
            <a:ext cx="2184400" cy="330200"/>
          </a:xfrm>
          <a:prstGeom prst="rect">
            <a:avLst/>
          </a:prstGeom>
          <a:noFill/>
        </p:spPr>
        <p:txBody>
          <a:bodyPr wrap="square" lIns="0" tIns="0" rIns="0" bIns="0" anchor="ctr">
            <a:spAutoFit/>
          </a:bodyPr>
          <a:lstStyle/>
          <a:p>
            <a:pPr algn="ctr">
              <a:lnSpc>
                <a:spcPct val="105000"/>
              </a:lnSpc>
            </a:pPr>
            <a:r>
              <a:rPr sz="770" b="1">
                <a:solidFill>
                  <a:srgbClr val="FFFFFF"/>
                </a:solidFill>
                <a:latin typeface="Calibri"/>
              </a:rPr>
              <a:t>Contact for a value assessment</a:t>
            </a:r>
          </a:p>
          <a:p>
            <a:pPr algn="ctr">
              <a:lnSpc>
                <a:spcPct val="105000"/>
              </a:lnSpc>
            </a:pPr>
            <a:r>
              <a:rPr sz="800" b="1">
                <a:solidFill>
                  <a:srgbClr val="FFFFFF"/>
                </a:solidFill>
                <a:latin typeface="Calibri"/>
              </a:rPr>
              <a:t>marketing@ingenero.com</a:t>
            </a:r>
          </a:p>
        </p:txBody>
      </p:sp>
      <p:sp>
        <p:nvSpPr>
          <p:cNvPr id="211" name="Rectangle: Rounded Corners 210">
            <a:extLst>
              <a:ext uri="{FF2B5EF4-FFF2-40B4-BE49-F238E27FC236}">
                <a16:creationId xmlns:a16="http://schemas.microsoft.com/office/drawing/2014/main" id="{7147CC19-E0E3-4739-850C-DDA5420C4D54}"/>
              </a:ext>
            </a:extLst>
          </p:cNvPr>
          <p:cNvSpPr/>
          <p:nvPr/>
        </p:nvSpPr>
        <p:spPr>
          <a:xfrm>
            <a:off x="4553429" y="3568700"/>
            <a:ext cx="45719" cy="247650"/>
          </a:xfrm>
          <a:prstGeom prst="roundRect">
            <a:avLst/>
          </a:prstGeom>
          <a:solidFill>
            <a:schemeClr val="accent6">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2" name="Rectangle: Rounded Corners 211">
            <a:extLst>
              <a:ext uri="{FF2B5EF4-FFF2-40B4-BE49-F238E27FC236}">
                <a16:creationId xmlns:a16="http://schemas.microsoft.com/office/drawing/2014/main" id="{ED627B43-CCE7-4257-8867-441C4A60C29F}"/>
              </a:ext>
            </a:extLst>
          </p:cNvPr>
          <p:cNvSpPr/>
          <p:nvPr/>
        </p:nvSpPr>
        <p:spPr>
          <a:xfrm>
            <a:off x="6083441" y="3568700"/>
            <a:ext cx="45719" cy="247650"/>
          </a:xfrm>
          <a:prstGeom prst="roundRect">
            <a:avLst/>
          </a:prstGeom>
          <a:solidFill>
            <a:schemeClr val="accent6">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3" name="Rectangle: Rounded Corners 212">
            <a:extLst>
              <a:ext uri="{FF2B5EF4-FFF2-40B4-BE49-F238E27FC236}">
                <a16:creationId xmlns:a16="http://schemas.microsoft.com/office/drawing/2014/main" id="{B7ABA298-202F-4439-B657-2357EC2326C6}"/>
              </a:ext>
            </a:extLst>
          </p:cNvPr>
          <p:cNvSpPr/>
          <p:nvPr/>
        </p:nvSpPr>
        <p:spPr>
          <a:xfrm>
            <a:off x="7064145" y="3573992"/>
            <a:ext cx="45719" cy="247650"/>
          </a:xfrm>
          <a:prstGeom prst="roundRect">
            <a:avLst/>
          </a:prstGeom>
          <a:solidFill>
            <a:schemeClr val="accent6">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562850" cy="914400"/>
          </a:xfrm>
          <a:prstGeom prst="rect">
            <a:avLst/>
          </a:prstGeom>
          <a:solidFill>
            <a:srgbClr val="152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21.png"/>
          <p:cNvPicPr>
            <a:picLocks noChangeAspect="1"/>
          </p:cNvPicPr>
          <p:nvPr/>
        </p:nvPicPr>
        <p:blipFill>
          <a:blip r:embed="rId3"/>
          <a:stretch>
            <a:fillRect/>
          </a:stretch>
        </p:blipFill>
        <p:spPr>
          <a:xfrm>
            <a:off x="330200" y="203200"/>
            <a:ext cx="1286706" cy="431800"/>
          </a:xfrm>
          <a:prstGeom prst="rect">
            <a:avLst/>
          </a:prstGeom>
        </p:spPr>
      </p:pic>
      <p:pic>
        <p:nvPicPr>
          <p:cNvPr id="4" name="Picture 3" descr="titleX.png"/>
          <p:cNvPicPr>
            <a:picLocks noChangeAspect="1"/>
          </p:cNvPicPr>
          <p:nvPr/>
        </p:nvPicPr>
        <p:blipFill>
          <a:blip r:embed="rId4"/>
          <a:stretch>
            <a:fillRect/>
          </a:stretch>
        </p:blipFill>
        <p:spPr>
          <a:xfrm>
            <a:off x="3603625" y="177800"/>
            <a:ext cx="406400" cy="368489"/>
          </a:xfrm>
          <a:prstGeom prst="rect">
            <a:avLst/>
          </a:prstGeom>
        </p:spPr>
      </p:pic>
      <p:sp>
        <p:nvSpPr>
          <p:cNvPr id="5" name="TextBox 4"/>
          <p:cNvSpPr txBox="1"/>
          <p:nvPr/>
        </p:nvSpPr>
        <p:spPr>
          <a:xfrm>
            <a:off x="1304925" y="101600"/>
            <a:ext cx="2286000" cy="533400"/>
          </a:xfrm>
          <a:prstGeom prst="rect">
            <a:avLst/>
          </a:prstGeom>
          <a:noFill/>
        </p:spPr>
        <p:txBody>
          <a:bodyPr wrap="square" lIns="0" tIns="0" rIns="0" bIns="0" anchor="ctr">
            <a:spAutoFit/>
          </a:bodyPr>
          <a:lstStyle/>
          <a:p>
            <a:pPr algn="r">
              <a:lnSpc>
                <a:spcPct val="100000"/>
              </a:lnSpc>
            </a:pPr>
            <a:r>
              <a:rPr sz="2700" b="1">
                <a:solidFill>
                  <a:srgbClr val="FFFFFF"/>
                </a:solidFill>
                <a:latin typeface="Calibri"/>
              </a:rPr>
              <a:t>gasnet</a:t>
            </a:r>
          </a:p>
        </p:txBody>
      </p:sp>
      <p:sp>
        <p:nvSpPr>
          <p:cNvPr id="6" name="TextBox 5"/>
          <p:cNvSpPr txBox="1"/>
          <p:nvPr/>
        </p:nvSpPr>
        <p:spPr>
          <a:xfrm>
            <a:off x="3997325" y="101600"/>
            <a:ext cx="2159000" cy="533400"/>
          </a:xfrm>
          <a:prstGeom prst="rect">
            <a:avLst/>
          </a:prstGeom>
          <a:noFill/>
        </p:spPr>
        <p:txBody>
          <a:bodyPr wrap="square" lIns="0" tIns="0" rIns="0" bIns="0" anchor="ctr">
            <a:spAutoFit/>
          </a:bodyPr>
          <a:lstStyle/>
          <a:p>
            <a:pPr algn="l">
              <a:lnSpc>
                <a:spcPct val="100000"/>
              </a:lnSpc>
            </a:pPr>
            <a:r>
              <a:rPr sz="2700" b="1">
                <a:solidFill>
                  <a:srgbClr val="FFFFFF"/>
                </a:solidFill>
                <a:latin typeface="Calibri"/>
              </a:rPr>
              <a:t>360</a:t>
            </a:r>
          </a:p>
        </p:txBody>
      </p:sp>
      <p:sp>
        <p:nvSpPr>
          <p:cNvPr id="7" name="TextBox 6"/>
          <p:cNvSpPr txBox="1"/>
          <p:nvPr/>
        </p:nvSpPr>
        <p:spPr>
          <a:xfrm>
            <a:off x="4565650" y="127000"/>
            <a:ext cx="2667000" cy="330200"/>
          </a:xfrm>
          <a:prstGeom prst="rect">
            <a:avLst/>
          </a:prstGeom>
          <a:noFill/>
        </p:spPr>
        <p:txBody>
          <a:bodyPr wrap="square" lIns="0" tIns="0" rIns="0" bIns="0" anchor="t">
            <a:spAutoFit/>
          </a:bodyPr>
          <a:lstStyle/>
          <a:p>
            <a:pPr algn="r">
              <a:lnSpc>
                <a:spcPct val="115000"/>
              </a:lnSpc>
            </a:pPr>
            <a:r>
              <a:rPr sz="800" b="1">
                <a:solidFill>
                  <a:srgbClr val="E87A22"/>
                </a:solidFill>
                <a:latin typeface="Calibri"/>
              </a:rPr>
              <a:t>MODULE OF THE</a:t>
            </a:r>
          </a:p>
          <a:p>
            <a:pPr algn="r">
              <a:lnSpc>
                <a:spcPct val="115000"/>
              </a:lnSpc>
            </a:pPr>
            <a:r>
              <a:rPr sz="800" b="1">
                <a:solidFill>
                  <a:srgbClr val="E87A22"/>
                </a:solidFill>
                <a:latin typeface="Calibri"/>
              </a:rPr>
              <a:t>INGENEROX360 AI SUITE</a:t>
            </a:r>
          </a:p>
        </p:txBody>
      </p:sp>
      <p:sp>
        <p:nvSpPr>
          <p:cNvPr id="8" name="TextBox 7"/>
          <p:cNvSpPr txBox="1"/>
          <p:nvPr/>
        </p:nvSpPr>
        <p:spPr>
          <a:xfrm>
            <a:off x="0" y="635000"/>
            <a:ext cx="7562850" cy="228600"/>
          </a:xfrm>
          <a:prstGeom prst="rect">
            <a:avLst/>
          </a:prstGeom>
          <a:noFill/>
        </p:spPr>
        <p:txBody>
          <a:bodyPr wrap="square" lIns="0" tIns="0" rIns="0" bIns="0" anchor="ctr">
            <a:spAutoFit/>
          </a:bodyPr>
          <a:lstStyle/>
          <a:p>
            <a:pPr algn="ctr">
              <a:lnSpc>
                <a:spcPct val="100000"/>
              </a:lnSpc>
            </a:pPr>
            <a:r>
              <a:rPr sz="1000" b="0">
                <a:solidFill>
                  <a:srgbClr val="FFFFFF"/>
                </a:solidFill>
                <a:latin typeface="Calibri"/>
              </a:rPr>
              <a:t>The complete picture — network inputs, physical system, constraints and the optimization engine</a:t>
            </a:r>
          </a:p>
        </p:txBody>
      </p:sp>
      <p:sp>
        <p:nvSpPr>
          <p:cNvPr id="9" name="TextBox 8"/>
          <p:cNvSpPr txBox="1"/>
          <p:nvPr/>
        </p:nvSpPr>
        <p:spPr>
          <a:xfrm>
            <a:off x="330200" y="1028700"/>
            <a:ext cx="6902450" cy="165100"/>
          </a:xfrm>
          <a:prstGeom prst="rect">
            <a:avLst/>
          </a:prstGeom>
          <a:noFill/>
        </p:spPr>
        <p:txBody>
          <a:bodyPr wrap="square" lIns="0" tIns="0" rIns="0" bIns="0" anchor="t">
            <a:spAutoFit/>
          </a:bodyPr>
          <a:lstStyle/>
          <a:p>
            <a:pPr algn="l">
              <a:lnSpc>
                <a:spcPct val="100000"/>
              </a:lnSpc>
            </a:pPr>
            <a:r>
              <a:rPr sz="1100" b="1">
                <a:solidFill>
                  <a:srgbClr val="E87A22"/>
                </a:solidFill>
                <a:latin typeface="Calibri"/>
              </a:rPr>
              <a:t>GASNETX360 — END TO END</a:t>
            </a:r>
          </a:p>
        </p:txBody>
      </p:sp>
      <p:sp>
        <p:nvSpPr>
          <p:cNvPr id="10" name="TextBox 9"/>
          <p:cNvSpPr txBox="1"/>
          <p:nvPr/>
        </p:nvSpPr>
        <p:spPr>
          <a:xfrm>
            <a:off x="330200" y="1219200"/>
            <a:ext cx="6902450" cy="152400"/>
          </a:xfrm>
          <a:prstGeom prst="rect">
            <a:avLst/>
          </a:prstGeom>
          <a:noFill/>
        </p:spPr>
        <p:txBody>
          <a:bodyPr wrap="square" lIns="0" tIns="0" rIns="0" bIns="0" anchor="t">
            <a:spAutoFit/>
          </a:bodyPr>
          <a:lstStyle/>
          <a:p>
            <a:pPr algn="l">
              <a:lnSpc>
                <a:spcPct val="105000"/>
              </a:lnSpc>
            </a:pPr>
            <a:r>
              <a:rPr sz="800" b="0">
                <a:solidFill>
                  <a:srgbClr val="56646F"/>
                </a:solidFill>
                <a:latin typeface="Calibri"/>
              </a:rPr>
              <a:t>From supply to customer — the inputs, the physical network, the constraints and the optimization engine behind every recommendation on page 1.</a:t>
            </a:r>
          </a:p>
        </p:txBody>
      </p:sp>
      <p:sp>
        <p:nvSpPr>
          <p:cNvPr id="11" name="Rounded Rectangle 10"/>
          <p:cNvSpPr/>
          <p:nvPr/>
        </p:nvSpPr>
        <p:spPr>
          <a:xfrm>
            <a:off x="254000" y="1447800"/>
            <a:ext cx="7054850" cy="4754033"/>
          </a:xfrm>
          <a:prstGeom prst="roundRect">
            <a:avLst>
              <a:gd name="adj" fmla="val 2000"/>
            </a:avLst>
          </a:prstGeom>
          <a:solidFill>
            <a:srgbClr val="FFFFFF"/>
          </a:solidFill>
          <a:ln w="9525">
            <a:solidFill>
              <a:srgbClr val="DFE5EC"/>
            </a:solidFill>
          </a:ln>
          <a:effectLst>
            <a:outerShdw blurRad="50000" dist="20000" dir="5400000" rotWithShape="0">
              <a:srgbClr val="A6B2BE">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nfographic.png"/>
          <p:cNvPicPr>
            <a:picLocks noChangeAspect="1"/>
          </p:cNvPicPr>
          <p:nvPr/>
        </p:nvPicPr>
        <p:blipFill>
          <a:blip r:embed="rId5"/>
          <a:stretch>
            <a:fillRect/>
          </a:stretch>
        </p:blipFill>
        <p:spPr>
          <a:xfrm>
            <a:off x="330200" y="1524000"/>
            <a:ext cx="6902450" cy="4601633"/>
          </a:xfrm>
          <a:prstGeom prst="rect">
            <a:avLst/>
          </a:prstGeom>
        </p:spPr>
      </p:pic>
      <p:sp>
        <p:nvSpPr>
          <p:cNvPr id="13" name="Rounded Rectangle 12"/>
          <p:cNvSpPr/>
          <p:nvPr/>
        </p:nvSpPr>
        <p:spPr>
          <a:xfrm>
            <a:off x="330200" y="6328833"/>
            <a:ext cx="6902450" cy="3505200"/>
          </a:xfrm>
          <a:prstGeom prst="roundRect">
            <a:avLst>
              <a:gd name="adj" fmla="val 2000"/>
            </a:avLst>
          </a:prstGeom>
          <a:solidFill>
            <a:srgbClr val="FAFBFD"/>
          </a:solidFill>
          <a:ln w="9525">
            <a:solidFill>
              <a:srgbClr val="DF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8000" y="6443133"/>
            <a:ext cx="556243" cy="129266"/>
          </a:xfrm>
          <a:prstGeom prst="rect">
            <a:avLst/>
          </a:prstGeom>
          <a:noFill/>
        </p:spPr>
        <p:txBody>
          <a:bodyPr wrap="none" lIns="0" tIns="0" rIns="0" bIns="0" anchor="t">
            <a:spAutoFit/>
          </a:bodyPr>
          <a:lstStyle/>
          <a:p>
            <a:pPr algn="l">
              <a:lnSpc>
                <a:spcPct val="100000"/>
              </a:lnSpc>
            </a:pPr>
            <a:r>
              <a:rPr sz="840" b="1" dirty="0">
                <a:solidFill>
                  <a:srgbClr val="E87A22"/>
                </a:solidFill>
                <a:latin typeface="Calibri"/>
              </a:rPr>
              <a:t>IMPORTANT</a:t>
            </a:r>
          </a:p>
        </p:txBody>
      </p:sp>
      <p:sp>
        <p:nvSpPr>
          <p:cNvPr id="15" name="TextBox 14"/>
          <p:cNvSpPr txBox="1"/>
          <p:nvPr/>
        </p:nvSpPr>
        <p:spPr>
          <a:xfrm>
            <a:off x="508000" y="6684433"/>
            <a:ext cx="6546850" cy="508000"/>
          </a:xfrm>
          <a:prstGeom prst="rect">
            <a:avLst/>
          </a:prstGeom>
          <a:noFill/>
        </p:spPr>
        <p:txBody>
          <a:bodyPr wrap="square" lIns="0" tIns="0" rIns="0" bIns="0" anchor="t">
            <a:spAutoFit/>
          </a:bodyPr>
          <a:lstStyle/>
          <a:p>
            <a:pPr algn="l">
              <a:lnSpc>
                <a:spcPct val="116000"/>
              </a:lnSpc>
            </a:pPr>
            <a:r>
              <a:rPr sz="680" b="1">
                <a:solidFill>
                  <a:srgbClr val="E87A22"/>
                </a:solidFill>
                <a:latin typeface="Calibri"/>
              </a:rPr>
              <a:t>•  </a:t>
            </a:r>
            <a:r>
              <a:rPr sz="680" b="1">
                <a:solidFill>
                  <a:srgbClr val="1E2A36"/>
                </a:solidFill>
                <a:latin typeface="Calibri"/>
              </a:rPr>
              <a:t>Directional, not a specification.  </a:t>
            </a:r>
            <a:r>
              <a:rPr sz="680" b="0">
                <a:solidFill>
                  <a:srgbClr val="56646F"/>
                </a:solidFill>
                <a:latin typeface="Calibri"/>
              </a:rPr>
              <a:t>This brochure describes Ingenero's intended approach and an indicative solution for gas transmission and delivery network profitability optimization. It is provided for evaluation and discussion only, and does not form part of any contract, offer or commitment.</a:t>
            </a:r>
          </a:p>
        </p:txBody>
      </p:sp>
      <p:sp>
        <p:nvSpPr>
          <p:cNvPr id="16" name="TextBox 15"/>
          <p:cNvSpPr txBox="1"/>
          <p:nvPr/>
        </p:nvSpPr>
        <p:spPr>
          <a:xfrm>
            <a:off x="508000" y="7192433"/>
            <a:ext cx="6546850" cy="508000"/>
          </a:xfrm>
          <a:prstGeom prst="rect">
            <a:avLst/>
          </a:prstGeom>
          <a:noFill/>
        </p:spPr>
        <p:txBody>
          <a:bodyPr wrap="square" lIns="0" tIns="0" rIns="0" bIns="0" anchor="t">
            <a:spAutoFit/>
          </a:bodyPr>
          <a:lstStyle/>
          <a:p>
            <a:pPr algn="l">
              <a:lnSpc>
                <a:spcPct val="116000"/>
              </a:lnSpc>
            </a:pPr>
            <a:r>
              <a:rPr sz="680" b="1" dirty="0">
                <a:solidFill>
                  <a:srgbClr val="E87A22"/>
                </a:solidFill>
                <a:latin typeface="Calibri"/>
              </a:rPr>
              <a:t>•  </a:t>
            </a:r>
            <a:r>
              <a:rPr sz="680" b="1" dirty="0">
                <a:solidFill>
                  <a:srgbClr val="1E2A36"/>
                </a:solidFill>
                <a:latin typeface="Calibri"/>
              </a:rPr>
              <a:t>The delivered product will differ.  </a:t>
            </a:r>
            <a:r>
              <a:rPr sz="680" b="0" dirty="0">
                <a:solidFill>
                  <a:srgbClr val="56646F"/>
                </a:solidFill>
                <a:latin typeface="Calibri"/>
              </a:rPr>
              <a:t>The actual scope, optimization formulation, objective function, constraints, planning horizon, time resolution, user workflows, deliverables and schedule are defined jointly during the Discovery &amp; Basis phase and depend on each site's network configuration, equipment, operating practice and commercial arrangements.</a:t>
            </a:r>
          </a:p>
        </p:txBody>
      </p:sp>
      <p:sp>
        <p:nvSpPr>
          <p:cNvPr id="17" name="TextBox 16"/>
          <p:cNvSpPr txBox="1"/>
          <p:nvPr/>
        </p:nvSpPr>
        <p:spPr>
          <a:xfrm>
            <a:off x="508000" y="7700433"/>
            <a:ext cx="6546850" cy="508000"/>
          </a:xfrm>
          <a:prstGeom prst="rect">
            <a:avLst/>
          </a:prstGeom>
          <a:noFill/>
        </p:spPr>
        <p:txBody>
          <a:bodyPr wrap="square" lIns="0" tIns="0" rIns="0" bIns="0" anchor="t">
            <a:spAutoFit/>
          </a:bodyPr>
          <a:lstStyle/>
          <a:p>
            <a:pPr algn="l">
              <a:lnSpc>
                <a:spcPct val="116000"/>
              </a:lnSpc>
            </a:pPr>
            <a:r>
              <a:rPr sz="680" b="1">
                <a:solidFill>
                  <a:srgbClr val="E87A22"/>
                </a:solidFill>
                <a:latin typeface="Calibri"/>
              </a:rPr>
              <a:t>•  </a:t>
            </a:r>
            <a:r>
              <a:rPr sz="680" b="1">
                <a:solidFill>
                  <a:srgbClr val="1E2A36"/>
                </a:solidFill>
                <a:latin typeface="Calibri"/>
              </a:rPr>
              <a:t>Dependent on data, systems and access.  </a:t>
            </a:r>
            <a:r>
              <a:rPr sz="680" b="0">
                <a:solidFill>
                  <a:srgbClr val="56646F"/>
                </a:solidFill>
                <a:latin typeface="Calibri"/>
              </a:rPr>
              <a:t>Functionality and accuracy depend on the availability, quality and timeliness of operational, equipment, contractual and market data; on the existing SCADA, historian, hydraulic-simulation and scheduling systems and the interfaces that can be built to them; and on the access, permissions, cybersecurity and architecture approvals granted by the customer, together with the availability of subject-matter experts.</a:t>
            </a:r>
          </a:p>
        </p:txBody>
      </p:sp>
      <p:sp>
        <p:nvSpPr>
          <p:cNvPr id="18" name="TextBox 17"/>
          <p:cNvSpPr txBox="1"/>
          <p:nvPr/>
        </p:nvSpPr>
        <p:spPr>
          <a:xfrm>
            <a:off x="508000" y="8208433"/>
            <a:ext cx="6546850" cy="508000"/>
          </a:xfrm>
          <a:prstGeom prst="rect">
            <a:avLst/>
          </a:prstGeom>
          <a:noFill/>
        </p:spPr>
        <p:txBody>
          <a:bodyPr wrap="square" lIns="0" tIns="0" rIns="0" bIns="0" anchor="t">
            <a:spAutoFit/>
          </a:bodyPr>
          <a:lstStyle/>
          <a:p>
            <a:pPr algn="l">
              <a:lnSpc>
                <a:spcPct val="116000"/>
              </a:lnSpc>
            </a:pPr>
            <a:r>
              <a:rPr sz="680" b="1">
                <a:solidFill>
                  <a:srgbClr val="E87A22"/>
                </a:solidFill>
                <a:latin typeface="Calibri"/>
              </a:rPr>
              <a:t>•  </a:t>
            </a:r>
            <a:r>
              <a:rPr sz="680" b="1">
                <a:solidFill>
                  <a:srgbClr val="1E2A36"/>
                </a:solidFill>
                <a:latin typeface="Calibri"/>
              </a:rPr>
              <a:t>All figures are illustrative.  </a:t>
            </a:r>
            <a:r>
              <a:rPr sz="680" b="0">
                <a:solidFill>
                  <a:srgbClr val="56646F"/>
                </a:solidFill>
                <a:latin typeface="Calibri"/>
              </a:rPr>
              <a:t>Every number, chart, waterfall, mock recommendation and screenshot shown here is a placeholder for layout purposes and is not a prediction, guarantee or typical result. Benefit potential is quantified per site in a value study; realized value depends on implementation, adoption and operating conditions, and no specific saving or margin uplift is warranted.</a:t>
            </a:r>
          </a:p>
        </p:txBody>
      </p:sp>
      <p:sp>
        <p:nvSpPr>
          <p:cNvPr id="19" name="TextBox 18"/>
          <p:cNvSpPr txBox="1"/>
          <p:nvPr/>
        </p:nvSpPr>
        <p:spPr>
          <a:xfrm>
            <a:off x="508000" y="8716433"/>
            <a:ext cx="6546850" cy="235449"/>
          </a:xfrm>
          <a:prstGeom prst="rect">
            <a:avLst/>
          </a:prstGeom>
          <a:noFill/>
        </p:spPr>
        <p:txBody>
          <a:bodyPr wrap="square" lIns="0" tIns="0" rIns="0" bIns="0" anchor="t">
            <a:spAutoFit/>
          </a:bodyPr>
          <a:lstStyle/>
          <a:p>
            <a:pPr algn="l">
              <a:lnSpc>
                <a:spcPct val="116000"/>
              </a:lnSpc>
            </a:pPr>
            <a:r>
              <a:rPr sz="680" b="1" dirty="0">
                <a:solidFill>
                  <a:srgbClr val="E87A22"/>
                </a:solidFill>
                <a:latin typeface="Calibri"/>
              </a:rPr>
              <a:t>•  </a:t>
            </a:r>
            <a:r>
              <a:rPr sz="680" b="1" dirty="0">
                <a:solidFill>
                  <a:srgbClr val="1E2A36"/>
                </a:solidFill>
                <a:latin typeface="Calibri"/>
              </a:rPr>
              <a:t>Advisory system.  </a:t>
            </a:r>
            <a:r>
              <a:rPr sz="680" b="0" dirty="0">
                <a:solidFill>
                  <a:srgbClr val="56646F"/>
                </a:solidFill>
                <a:latin typeface="Calibri"/>
              </a:rPr>
              <a:t>The initial deployment is decision-support only</a:t>
            </a:r>
            <a:r>
              <a:rPr lang="en-US" sz="680" b="0" dirty="0">
                <a:solidFill>
                  <a:srgbClr val="56646F"/>
                </a:solidFill>
                <a:latin typeface="Calibri"/>
              </a:rPr>
              <a:t>.</a:t>
            </a:r>
            <a:r>
              <a:rPr sz="680" b="0" dirty="0">
                <a:solidFill>
                  <a:srgbClr val="56646F"/>
                </a:solidFill>
                <a:latin typeface="Calibri"/>
              </a:rPr>
              <a:t> GasNetX360 provides recommendations; operations and control-room staff retain full authority for every decision. Closed-loop control, changes to regulatory control logic and third-party interface development, if required, are separately scoped.</a:t>
            </a:r>
          </a:p>
        </p:txBody>
      </p:sp>
      <p:sp>
        <p:nvSpPr>
          <p:cNvPr id="20" name="TextBox 19"/>
          <p:cNvSpPr txBox="1"/>
          <p:nvPr/>
        </p:nvSpPr>
        <p:spPr>
          <a:xfrm>
            <a:off x="508000" y="9224433"/>
            <a:ext cx="6546850" cy="508000"/>
          </a:xfrm>
          <a:prstGeom prst="rect">
            <a:avLst/>
          </a:prstGeom>
          <a:noFill/>
        </p:spPr>
        <p:txBody>
          <a:bodyPr wrap="square" lIns="0" tIns="0" rIns="0" bIns="0" anchor="t">
            <a:spAutoFit/>
          </a:bodyPr>
          <a:lstStyle/>
          <a:p>
            <a:pPr algn="l">
              <a:lnSpc>
                <a:spcPct val="116000"/>
              </a:lnSpc>
            </a:pPr>
            <a:r>
              <a:rPr sz="680" b="1" dirty="0">
                <a:solidFill>
                  <a:srgbClr val="E87A22"/>
                </a:solidFill>
                <a:latin typeface="Calibri"/>
              </a:rPr>
              <a:t>•  </a:t>
            </a:r>
            <a:r>
              <a:rPr sz="680" b="1" dirty="0">
                <a:solidFill>
                  <a:srgbClr val="1E2A36"/>
                </a:solidFill>
                <a:latin typeface="Calibri"/>
              </a:rPr>
              <a:t>Not professional advice.  </a:t>
            </a:r>
            <a:r>
              <a:rPr sz="680" b="0" dirty="0">
                <a:solidFill>
                  <a:srgbClr val="56646F"/>
                </a:solidFill>
                <a:latin typeface="Calibri"/>
              </a:rPr>
              <a:t>Nothing here constitutes investment, financial, legal or engineering-certification advice. Commercial terms, pricing and any third-party software licensing are set out separately in the commercial proposal.</a:t>
            </a:r>
          </a:p>
        </p:txBody>
      </p:sp>
      <p:sp>
        <p:nvSpPr>
          <p:cNvPr id="21" name="Rectangle 20"/>
          <p:cNvSpPr/>
          <p:nvPr/>
        </p:nvSpPr>
        <p:spPr>
          <a:xfrm>
            <a:off x="0" y="10104437"/>
            <a:ext cx="7562850" cy="584200"/>
          </a:xfrm>
          <a:prstGeom prst="rect">
            <a:avLst/>
          </a:prstGeom>
          <a:solidFill>
            <a:srgbClr val="152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0200" y="10206037"/>
            <a:ext cx="1498600" cy="127000"/>
          </a:xfrm>
          <a:prstGeom prst="rect">
            <a:avLst/>
          </a:prstGeom>
          <a:noFill/>
        </p:spPr>
        <p:txBody>
          <a:bodyPr wrap="square" lIns="0" tIns="0" rIns="0" bIns="0" anchor="t">
            <a:spAutoFit/>
          </a:bodyPr>
          <a:lstStyle/>
          <a:p>
            <a:pPr algn="l">
              <a:lnSpc>
                <a:spcPct val="100000"/>
              </a:lnSpc>
            </a:pPr>
            <a:r>
              <a:rPr sz="770" b="1">
                <a:solidFill>
                  <a:srgbClr val="E87A22"/>
                </a:solidFill>
                <a:latin typeface="Calibri"/>
              </a:rPr>
              <a:t>DELIVERY</a:t>
            </a:r>
          </a:p>
        </p:txBody>
      </p:sp>
      <p:sp>
        <p:nvSpPr>
          <p:cNvPr id="23" name="TextBox 22"/>
          <p:cNvSpPr txBox="1"/>
          <p:nvPr/>
        </p:nvSpPr>
        <p:spPr>
          <a:xfrm>
            <a:off x="330200" y="10320337"/>
            <a:ext cx="1498600" cy="381000"/>
          </a:xfrm>
          <a:prstGeom prst="rect">
            <a:avLst/>
          </a:prstGeom>
          <a:noFill/>
        </p:spPr>
        <p:txBody>
          <a:bodyPr wrap="square" lIns="0" tIns="0" rIns="0" bIns="0" anchor="t">
            <a:spAutoFit/>
          </a:bodyPr>
          <a:lstStyle/>
          <a:p>
            <a:pPr algn="l">
              <a:lnSpc>
                <a:spcPct val="102000"/>
              </a:lnSpc>
            </a:pPr>
            <a:r>
              <a:rPr sz="650" b="0">
                <a:solidFill>
                  <a:srgbClr val="FFFFFF"/>
                </a:solidFill>
                <a:latin typeface="Calibri"/>
              </a:rPr>
              <a:t>Configured, validated and commissioned per site by Ingenero engineers.</a:t>
            </a:r>
          </a:p>
        </p:txBody>
      </p:sp>
      <p:sp>
        <p:nvSpPr>
          <p:cNvPr id="24" name="TextBox 23"/>
          <p:cNvSpPr txBox="1"/>
          <p:nvPr/>
        </p:nvSpPr>
        <p:spPr>
          <a:xfrm>
            <a:off x="1905000" y="10206037"/>
            <a:ext cx="1498600" cy="127000"/>
          </a:xfrm>
          <a:prstGeom prst="rect">
            <a:avLst/>
          </a:prstGeom>
          <a:noFill/>
        </p:spPr>
        <p:txBody>
          <a:bodyPr wrap="square" lIns="0" tIns="0" rIns="0" bIns="0" anchor="t">
            <a:spAutoFit/>
          </a:bodyPr>
          <a:lstStyle/>
          <a:p>
            <a:pPr algn="l">
              <a:lnSpc>
                <a:spcPct val="100000"/>
              </a:lnSpc>
            </a:pPr>
            <a:r>
              <a:rPr sz="770" b="1">
                <a:solidFill>
                  <a:srgbClr val="E87A22"/>
                </a:solidFill>
                <a:latin typeface="Calibri"/>
              </a:rPr>
              <a:t>FLEXIBILITY</a:t>
            </a:r>
          </a:p>
        </p:txBody>
      </p:sp>
      <p:sp>
        <p:nvSpPr>
          <p:cNvPr id="25" name="TextBox 24"/>
          <p:cNvSpPr txBox="1"/>
          <p:nvPr/>
        </p:nvSpPr>
        <p:spPr>
          <a:xfrm>
            <a:off x="1905000" y="10320337"/>
            <a:ext cx="1498600" cy="381000"/>
          </a:xfrm>
          <a:prstGeom prst="rect">
            <a:avLst/>
          </a:prstGeom>
          <a:noFill/>
        </p:spPr>
        <p:txBody>
          <a:bodyPr wrap="square" lIns="0" tIns="0" rIns="0" bIns="0" anchor="t">
            <a:spAutoFit/>
          </a:bodyPr>
          <a:lstStyle/>
          <a:p>
            <a:pPr algn="l">
              <a:lnSpc>
                <a:spcPct val="102000"/>
              </a:lnSpc>
            </a:pPr>
            <a:r>
              <a:rPr sz="650" b="0">
                <a:solidFill>
                  <a:srgbClr val="FFFFFF"/>
                </a:solidFill>
                <a:latin typeface="Calibri"/>
              </a:rPr>
              <a:t>Any network topology; natural gas, extendable to NGL / refinery fuel gas.</a:t>
            </a:r>
          </a:p>
        </p:txBody>
      </p:sp>
      <p:sp>
        <p:nvSpPr>
          <p:cNvPr id="26" name="TextBox 25"/>
          <p:cNvSpPr txBox="1"/>
          <p:nvPr/>
        </p:nvSpPr>
        <p:spPr>
          <a:xfrm>
            <a:off x="3479800" y="10206037"/>
            <a:ext cx="1498600" cy="127000"/>
          </a:xfrm>
          <a:prstGeom prst="rect">
            <a:avLst/>
          </a:prstGeom>
          <a:noFill/>
        </p:spPr>
        <p:txBody>
          <a:bodyPr wrap="square" lIns="0" tIns="0" rIns="0" bIns="0" anchor="t">
            <a:spAutoFit/>
          </a:bodyPr>
          <a:lstStyle/>
          <a:p>
            <a:pPr algn="l">
              <a:lnSpc>
                <a:spcPct val="100000"/>
              </a:lnSpc>
            </a:pPr>
            <a:r>
              <a:rPr sz="770" b="1">
                <a:solidFill>
                  <a:srgbClr val="E87A22"/>
                </a:solidFill>
                <a:latin typeface="Calibri"/>
              </a:rPr>
              <a:t>SCALE</a:t>
            </a:r>
          </a:p>
        </p:txBody>
      </p:sp>
      <p:sp>
        <p:nvSpPr>
          <p:cNvPr id="27" name="TextBox 26"/>
          <p:cNvSpPr txBox="1"/>
          <p:nvPr/>
        </p:nvSpPr>
        <p:spPr>
          <a:xfrm>
            <a:off x="3479800" y="10320337"/>
            <a:ext cx="1498600" cy="381000"/>
          </a:xfrm>
          <a:prstGeom prst="rect">
            <a:avLst/>
          </a:prstGeom>
          <a:noFill/>
        </p:spPr>
        <p:txBody>
          <a:bodyPr wrap="square" lIns="0" tIns="0" rIns="0" bIns="0" anchor="t">
            <a:spAutoFit/>
          </a:bodyPr>
          <a:lstStyle/>
          <a:p>
            <a:pPr algn="l">
              <a:lnSpc>
                <a:spcPct val="102000"/>
              </a:lnSpc>
            </a:pPr>
            <a:r>
              <a:rPr sz="650" b="0">
                <a:solidFill>
                  <a:srgbClr val="FFFFFF"/>
                </a:solidFill>
                <a:latin typeface="Calibri"/>
              </a:rPr>
              <a:t>Repeat networks reuse the configuration, with minimal rework.</a:t>
            </a:r>
          </a:p>
        </p:txBody>
      </p:sp>
      <p:sp>
        <p:nvSpPr>
          <p:cNvPr id="28" name="Rounded Rectangle 27"/>
          <p:cNvSpPr/>
          <p:nvPr/>
        </p:nvSpPr>
        <p:spPr>
          <a:xfrm>
            <a:off x="5048250" y="10244137"/>
            <a:ext cx="2184400" cy="330200"/>
          </a:xfrm>
          <a:prstGeom prst="roundRect">
            <a:avLst>
              <a:gd name="adj" fmla="val 20000"/>
            </a:avLst>
          </a:prstGeom>
          <a:solidFill>
            <a:srgbClr val="E8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48250" y="10244137"/>
            <a:ext cx="2184400" cy="330200"/>
          </a:xfrm>
          <a:prstGeom prst="rect">
            <a:avLst/>
          </a:prstGeom>
          <a:noFill/>
        </p:spPr>
        <p:txBody>
          <a:bodyPr wrap="square" lIns="0" tIns="0" rIns="0" bIns="0" anchor="ctr">
            <a:spAutoFit/>
          </a:bodyPr>
          <a:lstStyle/>
          <a:p>
            <a:pPr algn="ctr">
              <a:lnSpc>
                <a:spcPct val="105000"/>
              </a:lnSpc>
            </a:pPr>
            <a:r>
              <a:rPr sz="770" b="1">
                <a:solidFill>
                  <a:srgbClr val="FFFFFF"/>
                </a:solidFill>
                <a:latin typeface="Calibri"/>
              </a:rPr>
              <a:t>Contact for a value assessment</a:t>
            </a:r>
          </a:p>
          <a:p>
            <a:pPr algn="ctr">
              <a:lnSpc>
                <a:spcPct val="105000"/>
              </a:lnSpc>
            </a:pPr>
            <a:r>
              <a:rPr sz="800" b="1">
                <a:solidFill>
                  <a:srgbClr val="FFFFFF"/>
                </a:solidFill>
                <a:latin typeface="Calibri"/>
              </a:rPr>
              <a:t>marketing@ingenero.com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1481</Words>
  <Application>Microsoft Office PowerPoint</Application>
  <PresentationFormat>Custom</PresentationFormat>
  <Paragraphs>170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Surendra Dalvi</cp:lastModifiedBy>
  <cp:revision>7</cp:revision>
  <dcterms:created xsi:type="dcterms:W3CDTF">2013-01-27T09:14:16Z</dcterms:created>
  <dcterms:modified xsi:type="dcterms:W3CDTF">2026-09-07T14:53:48Z</dcterms:modified>
  <cp:category/>
</cp:coreProperties>
</file>