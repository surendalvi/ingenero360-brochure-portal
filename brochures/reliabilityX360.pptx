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1CBEC5-3961-3307-0411-4595F475FB77}" v="2" dt="2026-08-19T12:03:45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30" y="-2952"/>
      </p:cViewPr>
      <p:guideLst>
        <p:guide orient="horz" pos="3366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Chandak" userId="S::achandak@ingenero.com::333cb254-d729-460a-ba16-bb709d45848c" providerId="AD" clId="Web-{DC1CBEC5-3961-3307-0411-4595F475FB77}"/>
    <pc:docChg chg="modSld">
      <pc:chgData name="Ashish Chandak" userId="S::achandak@ingenero.com::333cb254-d729-460a-ba16-bb709d45848c" providerId="AD" clId="Web-{DC1CBEC5-3961-3307-0411-4595F475FB77}" dt="2026-08-19T12:03:45.926" v="1" actId="1076"/>
      <pc:docMkLst>
        <pc:docMk/>
      </pc:docMkLst>
      <pc:sldChg chg="modSp">
        <pc:chgData name="Ashish Chandak" userId="S::achandak@ingenero.com::333cb254-d729-460a-ba16-bb709d45848c" providerId="AD" clId="Web-{DC1CBEC5-3961-3307-0411-4595F475FB77}" dt="2026-08-19T12:03:45.926" v="1" actId="1076"/>
        <pc:sldMkLst>
          <pc:docMk/>
          <pc:sldMk cId="0" sldId="256"/>
        </pc:sldMkLst>
        <pc:spChg chg="mod">
          <ac:chgData name="Ashish Chandak" userId="S::achandak@ingenero.com::333cb254-d729-460a-ba16-bb709d45848c" providerId="AD" clId="Web-{DC1CBEC5-3961-3307-0411-4595F475FB77}" dt="2026-08-19T12:03:45.926" v="1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12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87552"/>
          </a:xfrm>
          <a:prstGeom prst="rect">
            <a:avLst/>
          </a:prstGeom>
          <a:solidFill>
            <a:srgbClr val="1522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0332"/>
            <a:ext cx="1102708" cy="3236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2880"/>
            <a:ext cx="7562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   360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-762" y="566928"/>
            <a:ext cx="75628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decision support for critical assets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72050" y="377571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700" b="1" kern="0" spc="13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OF THE</a:t>
            </a:r>
            <a:endParaRPr lang="en-US" sz="7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700" b="1" kern="0" spc="13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INGENEROX360 AI SUITE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" y="1078992"/>
            <a:ext cx="6739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1480" y="1216152"/>
            <a:ext cx="6709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800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ReliabilityX360 </a:t>
            </a:r>
            <a:r>
              <a:rPr lang="en-US" sz="8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decision-support application for critical plant </a:t>
            </a:r>
            <a:r>
              <a:rPr lang="en-US" sz="800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assets. </a:t>
            </a:r>
            <a:r>
              <a:rPr lang="en-US" sz="8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problem isn't lack of alerts — it's alerts that fire too late to prevent a trip, or too often to trust. Reliability360 combines domain and ML agents configured on the asset's own build with its historian and DCS tag data, so one framework covers </a:t>
            </a:r>
            <a:r>
              <a:rPr lang="en-US" sz="800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asset without </a:t>
            </a:r>
            <a:r>
              <a:rPr lang="en-US" sz="8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model rebuild for each — catching what's developing early enough to act on and specific enough to trust. Output reaches the reliability engineer as a named failure mode, an estimated time-to-failure and a prescribed action, reported against the parameter that caused it.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1480" y="1773936"/>
            <a:ext cx="3300984" cy="3364992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865376"/>
            <a:ext cx="237744" cy="237744"/>
          </a:xfrm>
          <a:prstGeom prst="ellipse">
            <a:avLst/>
          </a:prstGeom>
          <a:solidFill>
            <a:srgbClr val="E87A2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" y="1924812"/>
            <a:ext cx="133502" cy="1335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5256" y="183794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</a:t>
            </a:r>
            <a:r>
              <a:rPr lang="en-US" sz="10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Configuration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905256" y="2093976"/>
            <a:ext cx="2642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the guided compressor build, then the train diagram it generates.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594360" y="44988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b="1" dirty="0" smtClean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r>
              <a:rPr lang="en-US" sz="650" b="1" dirty="0" smtClean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1307592" y="4498848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service, driver type, casing count and stage grouping</a:t>
            </a:r>
            <a:endParaRPr lang="en-US" sz="550" dirty="0"/>
          </a:p>
        </p:txBody>
      </p:sp>
      <p:sp>
        <p:nvSpPr>
          <p:cNvPr id="21" name="Text 15"/>
          <p:cNvSpPr/>
          <p:nvPr/>
        </p:nvSpPr>
        <p:spPr>
          <a:xfrm>
            <a:off x="594360" y="464515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Sub-systems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1307592" y="4645152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gas seals, </a:t>
            </a:r>
            <a:r>
              <a:rPr lang="en-US" sz="5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mechanical, </a:t>
            </a: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system, turbine, condenser, process </a:t>
            </a:r>
            <a:r>
              <a:rPr lang="en-US" sz="5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550" dirty="0"/>
          </a:p>
        </p:txBody>
      </p:sp>
      <p:sp>
        <p:nvSpPr>
          <p:cNvPr id="23" name="Text 17"/>
          <p:cNvSpPr/>
          <p:nvPr/>
        </p:nvSpPr>
        <p:spPr>
          <a:xfrm>
            <a:off x="594360" y="47914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mapping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1307592" y="4791456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tags mapped against a predefined </a:t>
            </a:r>
            <a:r>
              <a:rPr lang="en-US" sz="5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</a:t>
            </a: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automatically </a:t>
            </a:r>
            <a:endParaRPr lang="en-US" sz="550" dirty="0"/>
          </a:p>
        </p:txBody>
      </p:sp>
      <p:sp>
        <p:nvSpPr>
          <p:cNvPr id="25" name="Text 19"/>
          <p:cNvSpPr/>
          <p:nvPr/>
        </p:nvSpPr>
        <p:spPr>
          <a:xfrm>
            <a:off x="594360" y="49377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depth</a:t>
            </a:r>
            <a:endParaRPr lang="en-US" sz="650" dirty="0"/>
          </a:p>
        </p:txBody>
      </p:sp>
      <p:sp>
        <p:nvSpPr>
          <p:cNvPr id="26" name="Text 20"/>
          <p:cNvSpPr/>
          <p:nvPr/>
        </p:nvSpPr>
        <p:spPr>
          <a:xfrm>
            <a:off x="1307592" y="4937760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detection, failure mode identification, </a:t>
            </a:r>
            <a:r>
              <a:rPr lang="en-US" sz="5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</a:t>
            </a:r>
            <a:endParaRPr lang="en-US" sz="550" dirty="0"/>
          </a:p>
        </p:txBody>
      </p:sp>
      <p:sp>
        <p:nvSpPr>
          <p:cNvPr id="27" name="Shape 21"/>
          <p:cNvSpPr/>
          <p:nvPr/>
        </p:nvSpPr>
        <p:spPr>
          <a:xfrm>
            <a:off x="3849624" y="1773936"/>
            <a:ext cx="3300984" cy="3364992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014216" y="1865376"/>
            <a:ext cx="237744" cy="237744"/>
          </a:xfrm>
          <a:prstGeom prst="ellipse">
            <a:avLst/>
          </a:prstGeom>
          <a:solidFill>
            <a:srgbClr val="E87A22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52" y="1924812"/>
            <a:ext cx="133502" cy="1335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343400" y="183794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</a:t>
            </a:r>
            <a:r>
              <a:rPr lang="en-US" sz="10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Data and Model Execution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4343400" y="2093976"/>
            <a:ext cx="2642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the machine as a live schematic, and </a:t>
            </a:r>
            <a:r>
              <a:rPr lang="en-US" sz="6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behavior</a:t>
            </a:r>
            <a:endParaRPr lang="en-US" sz="650" dirty="0"/>
          </a:p>
        </p:txBody>
      </p:sp>
      <p:sp>
        <p:nvSpPr>
          <p:cNvPr id="36" name="Text 27"/>
          <p:cNvSpPr/>
          <p:nvPr/>
        </p:nvSpPr>
        <p:spPr>
          <a:xfrm>
            <a:off x="4032504" y="449884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650" dirty="0"/>
          </a:p>
        </p:txBody>
      </p:sp>
      <p:sp>
        <p:nvSpPr>
          <p:cNvPr id="37" name="Text 28"/>
          <p:cNvSpPr/>
          <p:nvPr/>
        </p:nvSpPr>
        <p:spPr>
          <a:xfrm>
            <a:off x="4745736" y="4498848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tag entry, OEM/rated/design data, configuration details</a:t>
            </a:r>
            <a:endParaRPr lang="en-US" sz="550" dirty="0"/>
          </a:p>
        </p:txBody>
      </p:sp>
      <p:sp>
        <p:nvSpPr>
          <p:cNvPr id="38" name="Text 29"/>
          <p:cNvSpPr/>
          <p:nvPr/>
        </p:nvSpPr>
        <p:spPr>
          <a:xfrm>
            <a:off x="4032504" y="464515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650" dirty="0"/>
          </a:p>
        </p:txBody>
      </p:sp>
      <p:sp>
        <p:nvSpPr>
          <p:cNvPr id="39" name="Text 30"/>
          <p:cNvSpPr/>
          <p:nvPr/>
        </p:nvSpPr>
        <p:spPr>
          <a:xfrm>
            <a:off x="4745736" y="4645152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validation, </a:t>
            </a:r>
            <a:r>
              <a:rPr lang="en-US" sz="5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</a:t>
            </a: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matrix </a:t>
            </a:r>
            <a:r>
              <a:rPr lang="en-US" sz="5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scoring, failure prediction</a:t>
            </a:r>
            <a:endParaRPr lang="en-US" sz="550" dirty="0"/>
          </a:p>
        </p:txBody>
      </p:sp>
      <p:sp>
        <p:nvSpPr>
          <p:cNvPr id="40" name="Text 31"/>
          <p:cNvSpPr/>
          <p:nvPr/>
        </p:nvSpPr>
        <p:spPr>
          <a:xfrm>
            <a:off x="4032504" y="47914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650" dirty="0"/>
          </a:p>
        </p:txBody>
      </p:sp>
      <p:sp>
        <p:nvSpPr>
          <p:cNvPr id="41" name="Text 32"/>
          <p:cNvSpPr/>
          <p:nvPr/>
        </p:nvSpPr>
        <p:spPr>
          <a:xfrm>
            <a:off x="4745736" y="4791456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failure mode, parameter forecast, estimated TTF, prescription, alerts</a:t>
            </a:r>
            <a:endParaRPr lang="en-US" sz="550" dirty="0"/>
          </a:p>
        </p:txBody>
      </p:sp>
      <p:sp>
        <p:nvSpPr>
          <p:cNvPr id="42" name="Shape 33"/>
          <p:cNvSpPr/>
          <p:nvPr/>
        </p:nvSpPr>
        <p:spPr>
          <a:xfrm>
            <a:off x="411480" y="5202936"/>
            <a:ext cx="6739128" cy="1472184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76072" y="5294376"/>
            <a:ext cx="237744" cy="237744"/>
          </a:xfrm>
          <a:prstGeom prst="ellipse">
            <a:avLst/>
          </a:prstGeom>
          <a:solidFill>
            <a:srgbClr val="E87A22"/>
          </a:solidFill>
          <a:ln/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" y="5353812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05256" y="5266944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2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</a:t>
            </a:r>
            <a:r>
              <a:rPr lang="en-US" sz="10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Model Agent Suite</a:t>
            </a:r>
            <a:endParaRPr lang="en-US" sz="800" dirty="0"/>
          </a:p>
        </p:txBody>
      </p:sp>
      <p:sp>
        <p:nvSpPr>
          <p:cNvPr id="46" name="Text 36"/>
          <p:cNvSpPr/>
          <p:nvPr/>
        </p:nvSpPr>
        <p:spPr>
          <a:xfrm>
            <a:off x="905256" y="5522976"/>
            <a:ext cx="6080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is shared across assets — each model's </a:t>
            </a:r>
            <a:r>
              <a:rPr lang="en-US" sz="650" i="1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</a:t>
            </a:r>
            <a:r>
              <a:rPr lang="en-US" sz="650" i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tuned to the asset's own failure modes</a:t>
            </a:r>
            <a:endParaRPr lang="en-US" sz="650" dirty="0"/>
          </a:p>
        </p:txBody>
      </p:sp>
      <p:grpSp>
        <p:nvGrpSpPr>
          <p:cNvPr id="9" name="Group 8"/>
          <p:cNvGrpSpPr/>
          <p:nvPr/>
        </p:nvGrpSpPr>
        <p:grpSpPr>
          <a:xfrm>
            <a:off x="557784" y="5715000"/>
            <a:ext cx="3172968" cy="137160"/>
            <a:chOff x="557784" y="5715000"/>
            <a:chExt cx="3172968" cy="137160"/>
          </a:xfrm>
        </p:grpSpPr>
        <p:sp>
          <p:nvSpPr>
            <p:cNvPr id="47" name="Shape 37"/>
            <p:cNvSpPr/>
            <p:nvPr/>
          </p:nvSpPr>
          <p:spPr>
            <a:xfrm>
              <a:off x="557784" y="5715000"/>
              <a:ext cx="3154680" cy="137160"/>
            </a:xfrm>
            <a:prstGeom prst="rect">
              <a:avLst/>
            </a:prstGeom>
            <a:solidFill>
              <a:srgbClr val="F7F9FB"/>
            </a:solidFill>
            <a:ln w="3175">
              <a:solidFill>
                <a:srgbClr val="F7F9FB"/>
              </a:solidFill>
              <a:prstDash val="solid"/>
            </a:ln>
          </p:spPr>
        </p:sp>
        <p:pic>
          <p:nvPicPr>
            <p:cNvPr id="48" name="Image 8" descr="preencoded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630936" y="5733288"/>
              <a:ext cx="109728" cy="109728"/>
            </a:xfrm>
            <a:prstGeom prst="rect">
              <a:avLst/>
            </a:prstGeom>
          </p:spPr>
        </p:pic>
        <p:sp>
          <p:nvSpPr>
            <p:cNvPr id="49" name="Text 38"/>
            <p:cNvSpPr/>
            <p:nvPr/>
          </p:nvSpPr>
          <p:spPr>
            <a:xfrm>
              <a:off x="786384" y="5715000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 Feature Engineering</a:t>
              </a:r>
              <a:endParaRPr lang="en-US" sz="600" dirty="0"/>
            </a:p>
          </p:txBody>
        </p:sp>
        <p:sp>
          <p:nvSpPr>
            <p:cNvPr id="50" name="Text 39"/>
            <p:cNvSpPr/>
            <p:nvPr/>
          </p:nvSpPr>
          <p:spPr>
            <a:xfrm>
              <a:off x="1792224" y="5715000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Inferred tags engineered per asset from asset specific domain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knowledge</a:t>
              </a:r>
              <a:endParaRPr lang="en-US" sz="5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24463" y="5886450"/>
            <a:ext cx="3099816" cy="137160"/>
            <a:chOff x="630936" y="5856732"/>
            <a:chExt cx="3099816" cy="137160"/>
          </a:xfrm>
        </p:grpSpPr>
        <p:pic>
          <p:nvPicPr>
            <p:cNvPr id="51" name="Image 9" descr="preencoded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630936" y="5875020"/>
              <a:ext cx="109728" cy="109728"/>
            </a:xfrm>
            <a:prstGeom prst="rect">
              <a:avLst/>
            </a:prstGeom>
          </p:spPr>
        </p:pic>
        <p:sp>
          <p:nvSpPr>
            <p:cNvPr id="52" name="Text 40"/>
            <p:cNvSpPr/>
            <p:nvPr/>
          </p:nvSpPr>
          <p:spPr>
            <a:xfrm>
              <a:off x="786384" y="5856732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Tacit Knowledge, Encoded</a:t>
              </a:r>
              <a:endParaRPr lang="en-US" sz="600" dirty="0"/>
            </a:p>
          </p:txBody>
        </p:sp>
        <p:sp>
          <p:nvSpPr>
            <p:cNvPr id="53" name="Text 41"/>
            <p:cNvSpPr/>
            <p:nvPr/>
          </p:nvSpPr>
          <p:spPr>
            <a:xfrm>
              <a:off x="1792224" y="5856732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Engineers' tacit knowledge built directly into every model and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</a:t>
              </a:r>
              <a:endParaRPr lang="en-US" sz="5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57784" y="6057900"/>
            <a:ext cx="3172968" cy="137160"/>
            <a:chOff x="557784" y="5998464"/>
            <a:chExt cx="3172968" cy="137160"/>
          </a:xfrm>
        </p:grpSpPr>
        <p:sp>
          <p:nvSpPr>
            <p:cNvPr id="54" name="Shape 42"/>
            <p:cNvSpPr/>
            <p:nvPr/>
          </p:nvSpPr>
          <p:spPr>
            <a:xfrm>
              <a:off x="557784" y="5998464"/>
              <a:ext cx="3154680" cy="137160"/>
            </a:xfrm>
            <a:prstGeom prst="rect">
              <a:avLst/>
            </a:prstGeom>
            <a:solidFill>
              <a:srgbClr val="F7F9FB"/>
            </a:solidFill>
            <a:ln w="3175">
              <a:solidFill>
                <a:srgbClr val="F7F9FB"/>
              </a:solidFill>
              <a:prstDash val="solid"/>
            </a:ln>
          </p:spPr>
        </p:sp>
        <p:pic>
          <p:nvPicPr>
            <p:cNvPr id="55" name="Image 10" descr="preencoded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630936" y="6016751"/>
              <a:ext cx="109728" cy="109728"/>
            </a:xfrm>
            <a:prstGeom prst="rect">
              <a:avLst/>
            </a:prstGeom>
          </p:spPr>
        </p:pic>
        <p:sp>
          <p:nvSpPr>
            <p:cNvPr id="56" name="Text 43"/>
            <p:cNvSpPr/>
            <p:nvPr/>
          </p:nvSpPr>
          <p:spPr>
            <a:xfrm>
              <a:off x="786384" y="5998464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 from Design</a:t>
              </a:r>
              <a:endParaRPr lang="en-US" sz="600" dirty="0"/>
            </a:p>
          </p:txBody>
        </p:sp>
        <p:sp>
          <p:nvSpPr>
            <p:cNvPr id="57" name="Text 44"/>
            <p:cNvSpPr/>
            <p:nvPr/>
          </p:nvSpPr>
          <p:spPr>
            <a:xfrm>
              <a:off x="1792224" y="5998464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cs typeface="Calibri" pitchFamily="34" charset="-120"/>
                </a:rPr>
                <a:t>Tracks how equipment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cs typeface="Calibri" pitchFamily="34" charset="-120"/>
                </a:rPr>
                <a:t>behavior </a:t>
              </a: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cs typeface="Calibri" pitchFamily="34" charset="-120"/>
                </a:rPr>
                <a:t>drifts from design and rated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cs typeface="Calibri" pitchFamily="34" charset="-120"/>
                </a:rPr>
                <a:t>conditions</a:t>
              </a:r>
              <a:endParaRPr lang="en-US" sz="5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24461" y="6229350"/>
            <a:ext cx="3099816" cy="137160"/>
            <a:chOff x="630936" y="6140196"/>
            <a:chExt cx="3099816" cy="137160"/>
          </a:xfrm>
        </p:grpSpPr>
        <p:pic>
          <p:nvPicPr>
            <p:cNvPr id="58" name="Image 11" descr="preencoded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630936" y="6158483"/>
              <a:ext cx="109728" cy="109728"/>
            </a:xfrm>
            <a:prstGeom prst="rect">
              <a:avLst/>
            </a:prstGeom>
          </p:spPr>
        </p:pic>
        <p:sp>
          <p:nvSpPr>
            <p:cNvPr id="59" name="Text 45"/>
            <p:cNvSpPr/>
            <p:nvPr/>
          </p:nvSpPr>
          <p:spPr>
            <a:xfrm>
              <a:off x="786384" y="6140196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Deviation Detection</a:t>
              </a:r>
              <a:endParaRPr lang="en-US" sz="600" dirty="0"/>
            </a:p>
          </p:txBody>
        </p:sp>
        <p:sp>
          <p:nvSpPr>
            <p:cNvPr id="60" name="Text 46"/>
            <p:cNvSpPr/>
            <p:nvPr/>
          </p:nvSpPr>
          <p:spPr>
            <a:xfrm>
              <a:off x="1792224" y="6140196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learning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models learns </a:t>
              </a: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normal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behavior </a:t>
              </a: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and catches deviations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</a:t>
              </a:r>
              <a:endParaRPr lang="en-US" sz="500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57784" y="6400800"/>
            <a:ext cx="3172968" cy="137160"/>
            <a:chOff x="557784" y="6281928"/>
            <a:chExt cx="3172968" cy="137160"/>
          </a:xfrm>
        </p:grpSpPr>
        <p:sp>
          <p:nvSpPr>
            <p:cNvPr id="61" name="Shape 47"/>
            <p:cNvSpPr/>
            <p:nvPr/>
          </p:nvSpPr>
          <p:spPr>
            <a:xfrm>
              <a:off x="557784" y="6281928"/>
              <a:ext cx="3154680" cy="137160"/>
            </a:xfrm>
            <a:prstGeom prst="rect">
              <a:avLst/>
            </a:prstGeom>
            <a:solidFill>
              <a:srgbClr val="F7F9FB"/>
            </a:solidFill>
            <a:ln w="3175">
              <a:solidFill>
                <a:srgbClr val="F7F9FB"/>
              </a:solidFill>
              <a:prstDash val="solid"/>
            </a:ln>
          </p:spPr>
        </p:sp>
        <p:pic>
          <p:nvPicPr>
            <p:cNvPr id="62" name="Image 12" descr="preencoded.png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>
            <a:xfrm>
              <a:off x="630936" y="6300216"/>
              <a:ext cx="109728" cy="109728"/>
            </a:xfrm>
            <a:prstGeom prst="rect">
              <a:avLst/>
            </a:prstGeom>
          </p:spPr>
        </p:pic>
        <p:sp>
          <p:nvSpPr>
            <p:cNvPr id="63" name="Text 48"/>
            <p:cNvSpPr/>
            <p:nvPr/>
          </p:nvSpPr>
          <p:spPr>
            <a:xfrm>
              <a:off x="786384" y="6281928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Failure Mode Matrix</a:t>
              </a:r>
              <a:endParaRPr lang="en-US" sz="600" dirty="0"/>
            </a:p>
          </p:txBody>
        </p:sp>
        <p:sp>
          <p:nvSpPr>
            <p:cNvPr id="64" name="Text 49"/>
            <p:cNvSpPr/>
            <p:nvPr/>
          </p:nvSpPr>
          <p:spPr>
            <a:xfrm>
              <a:off x="1792224" y="6281928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 setup run builds the asset's symptom, mode and parameter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matrix</a:t>
              </a:r>
              <a:endParaRPr lang="en-US" sz="500" dirty="0"/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3928302" y="5884164"/>
            <a:ext cx="3099817" cy="137160"/>
            <a:chOff x="3904487" y="5856732"/>
            <a:chExt cx="3099817" cy="137160"/>
          </a:xfrm>
        </p:grpSpPr>
        <p:pic>
          <p:nvPicPr>
            <p:cNvPr id="72" name="Image 15" descr="preencoded.png"/>
            <p:cNvPicPr>
              <a:picLocks noChangeAspect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>
            <a:xfrm>
              <a:off x="3904487" y="5875020"/>
              <a:ext cx="109728" cy="109728"/>
            </a:xfrm>
            <a:prstGeom prst="rect">
              <a:avLst/>
            </a:prstGeom>
          </p:spPr>
        </p:pic>
        <p:sp>
          <p:nvSpPr>
            <p:cNvPr id="73" name="Text 55"/>
            <p:cNvSpPr/>
            <p:nvPr/>
          </p:nvSpPr>
          <p:spPr>
            <a:xfrm>
              <a:off x="4059936" y="5856732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Time-to-Failure Estimation</a:t>
              </a:r>
              <a:endParaRPr lang="en-US" sz="600" dirty="0"/>
            </a:p>
          </p:txBody>
        </p:sp>
        <p:sp>
          <p:nvSpPr>
            <p:cNvPr id="74" name="Text 56"/>
            <p:cNvSpPr/>
            <p:nvPr/>
          </p:nvSpPr>
          <p:spPr>
            <a:xfrm>
              <a:off x="5065776" y="5856732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Estimates time to failure before a parameter crosses a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threshold</a:t>
              </a:r>
              <a:endParaRPr lang="en-US" sz="500" dirty="0"/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3854578" y="6057900"/>
            <a:ext cx="3172968" cy="137160"/>
            <a:chOff x="3831336" y="5998464"/>
            <a:chExt cx="3172968" cy="137160"/>
          </a:xfrm>
        </p:grpSpPr>
        <p:sp>
          <p:nvSpPr>
            <p:cNvPr id="75" name="Shape 57"/>
            <p:cNvSpPr/>
            <p:nvPr/>
          </p:nvSpPr>
          <p:spPr>
            <a:xfrm>
              <a:off x="3831336" y="5998464"/>
              <a:ext cx="3154680" cy="137160"/>
            </a:xfrm>
            <a:prstGeom prst="rect">
              <a:avLst/>
            </a:prstGeom>
            <a:solidFill>
              <a:srgbClr val="F7F9FB"/>
            </a:solidFill>
            <a:ln w="3175">
              <a:solidFill>
                <a:srgbClr val="F7F9FB"/>
              </a:solidFill>
              <a:prstDash val="solid"/>
            </a:ln>
          </p:spPr>
        </p:sp>
        <p:pic>
          <p:nvPicPr>
            <p:cNvPr id="76" name="Image 16" descr="preencoded.png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3904487" y="6016751"/>
              <a:ext cx="109728" cy="109728"/>
            </a:xfrm>
            <a:prstGeom prst="rect">
              <a:avLst/>
            </a:prstGeom>
          </p:spPr>
        </p:pic>
        <p:sp>
          <p:nvSpPr>
            <p:cNvPr id="77" name="Text 58"/>
            <p:cNvSpPr/>
            <p:nvPr/>
          </p:nvSpPr>
          <p:spPr>
            <a:xfrm>
              <a:off x="4059936" y="5998464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Parameter Contribution</a:t>
              </a:r>
              <a:endParaRPr lang="en-US" sz="600" dirty="0"/>
            </a:p>
          </p:txBody>
        </p:sp>
        <p:sp>
          <p:nvSpPr>
            <p:cNvPr id="78" name="Text 59"/>
            <p:cNvSpPr/>
            <p:nvPr/>
          </p:nvSpPr>
          <p:spPr>
            <a:xfrm>
              <a:off x="5065776" y="5998464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Ranks each parameter's contribution to the active failure mode</a:t>
              </a:r>
              <a:endParaRPr lang="en-US" sz="500" dirty="0"/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3929255" y="6231636"/>
            <a:ext cx="3099817" cy="137160"/>
            <a:chOff x="3904487" y="6140196"/>
            <a:chExt cx="3099817" cy="137160"/>
          </a:xfrm>
        </p:grpSpPr>
        <p:pic>
          <p:nvPicPr>
            <p:cNvPr id="79" name="Image 17" descr="preencoded.png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3904487" y="6158483"/>
              <a:ext cx="109728" cy="109728"/>
            </a:xfrm>
            <a:prstGeom prst="rect">
              <a:avLst/>
            </a:prstGeom>
          </p:spPr>
        </p:pic>
        <p:sp>
          <p:nvSpPr>
            <p:cNvPr id="80" name="Text 60"/>
            <p:cNvSpPr/>
            <p:nvPr/>
          </p:nvSpPr>
          <p:spPr>
            <a:xfrm>
              <a:off x="4059936" y="6140196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Sub-System Health Ranking</a:t>
              </a:r>
              <a:endParaRPr lang="en-US" sz="600" dirty="0"/>
            </a:p>
          </p:txBody>
        </p:sp>
        <p:sp>
          <p:nvSpPr>
            <p:cNvPr id="81" name="Text 61"/>
            <p:cNvSpPr/>
            <p:nvPr/>
          </p:nvSpPr>
          <p:spPr>
            <a:xfrm>
              <a:off x="5065776" y="6140196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Scores every sub-system and names the one limiting the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asset</a:t>
              </a:r>
              <a:endParaRPr lang="en-US" sz="500" dirty="0"/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3845052" y="6405372"/>
            <a:ext cx="3172968" cy="137160"/>
            <a:chOff x="3831336" y="6281928"/>
            <a:chExt cx="3172968" cy="137160"/>
          </a:xfrm>
        </p:grpSpPr>
        <p:sp>
          <p:nvSpPr>
            <p:cNvPr id="82" name="Shape 62"/>
            <p:cNvSpPr/>
            <p:nvPr/>
          </p:nvSpPr>
          <p:spPr>
            <a:xfrm>
              <a:off x="3831336" y="6281928"/>
              <a:ext cx="3154680" cy="137160"/>
            </a:xfrm>
            <a:prstGeom prst="rect">
              <a:avLst/>
            </a:prstGeom>
            <a:solidFill>
              <a:srgbClr val="F7F9FB"/>
            </a:solidFill>
            <a:ln w="3175">
              <a:solidFill>
                <a:srgbClr val="F7F9FB"/>
              </a:solidFill>
              <a:prstDash val="solid"/>
            </a:ln>
          </p:spPr>
        </p:sp>
        <p:pic>
          <p:nvPicPr>
            <p:cNvPr id="83" name="Image 18" descr="preencoded.png"/>
            <p:cNvPicPr>
              <a:picLocks noChangeAspect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>
            <a:xfrm>
              <a:off x="3904487" y="6300216"/>
              <a:ext cx="109728" cy="109728"/>
            </a:xfrm>
            <a:prstGeom prst="rect">
              <a:avLst/>
            </a:prstGeom>
          </p:spPr>
        </p:pic>
        <p:sp>
          <p:nvSpPr>
            <p:cNvPr id="84" name="Text 63"/>
            <p:cNvSpPr/>
            <p:nvPr/>
          </p:nvSpPr>
          <p:spPr>
            <a:xfrm>
              <a:off x="4059936" y="6281928"/>
              <a:ext cx="96926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600" b="1" dirty="0">
                  <a:solidFill>
                    <a:srgbClr val="152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Workflow Suggestions</a:t>
              </a:r>
              <a:endParaRPr lang="en-US" sz="600" dirty="0"/>
            </a:p>
          </p:txBody>
        </p:sp>
        <p:sp>
          <p:nvSpPr>
            <p:cNvPr id="85" name="Text 64"/>
            <p:cNvSpPr/>
            <p:nvPr/>
          </p:nvSpPr>
          <p:spPr>
            <a:xfrm>
              <a:off x="5065776" y="6281928"/>
              <a:ext cx="19385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500" i="1" dirty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Prescribed action per mode, routed to the engineer for </a:t>
              </a:r>
              <a:r>
                <a:rPr lang="en-US" sz="500" i="1" dirty="0" smtClean="0">
                  <a:solidFill>
                    <a:srgbClr val="56646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closeout</a:t>
              </a:r>
              <a:endParaRPr lang="en-US" sz="500" dirty="0"/>
            </a:p>
          </p:txBody>
        </p:sp>
      </p:grpSp>
      <p:sp>
        <p:nvSpPr>
          <p:cNvPr id="89" name="Shape 67"/>
          <p:cNvSpPr/>
          <p:nvPr/>
        </p:nvSpPr>
        <p:spPr>
          <a:xfrm>
            <a:off x="411480" y="6739128"/>
            <a:ext cx="6739128" cy="2167128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90" name="Shape 68"/>
          <p:cNvSpPr/>
          <p:nvPr/>
        </p:nvSpPr>
        <p:spPr>
          <a:xfrm>
            <a:off x="576072" y="6830568"/>
            <a:ext cx="237744" cy="237744"/>
          </a:xfrm>
          <a:prstGeom prst="ellipse">
            <a:avLst/>
          </a:prstGeom>
          <a:solidFill>
            <a:srgbClr val="E87A22"/>
          </a:solidFill>
          <a:ln/>
        </p:spPr>
      </p:sp>
      <p:pic>
        <p:nvPicPr>
          <p:cNvPr id="91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508" y="6890004"/>
            <a:ext cx="133502" cy="133502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905256" y="680313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</a:t>
            </a:r>
            <a:r>
              <a:rPr lang="en-US" sz="10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and Operator Actions</a:t>
            </a:r>
            <a:endParaRPr lang="en-US" sz="800" dirty="0"/>
          </a:p>
        </p:txBody>
      </p:sp>
      <p:sp>
        <p:nvSpPr>
          <p:cNvPr id="97" name="Shape 72"/>
          <p:cNvSpPr/>
          <p:nvPr/>
        </p:nvSpPr>
        <p:spPr>
          <a:xfrm>
            <a:off x="594360" y="8321040"/>
            <a:ext cx="2016000" cy="292608"/>
          </a:xfrm>
          <a:prstGeom prst="roundRect">
            <a:avLst>
              <a:gd name="adj" fmla="val 9375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98" name="Text 73"/>
          <p:cNvSpPr/>
          <p:nvPr/>
        </p:nvSpPr>
        <p:spPr>
          <a:xfrm>
            <a:off x="704088" y="832104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1050" dirty="0"/>
          </a:p>
        </p:txBody>
      </p:sp>
      <p:sp>
        <p:nvSpPr>
          <p:cNvPr id="99" name="Text 74"/>
          <p:cNvSpPr/>
          <p:nvPr/>
        </p:nvSpPr>
        <p:spPr>
          <a:xfrm>
            <a:off x="1572768" y="836218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</a:t>
            </a:r>
            <a:endParaRPr lang="en-US" sz="650" dirty="0"/>
          </a:p>
        </p:txBody>
      </p:sp>
      <p:sp>
        <p:nvSpPr>
          <p:cNvPr id="100" name="Text 75"/>
          <p:cNvSpPr/>
          <p:nvPr/>
        </p:nvSpPr>
        <p:spPr>
          <a:xfrm>
            <a:off x="1572768" y="848106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alert, before failure</a:t>
            </a:r>
            <a:endParaRPr lang="en-US" sz="550" dirty="0"/>
          </a:p>
        </p:txBody>
      </p:sp>
      <p:sp>
        <p:nvSpPr>
          <p:cNvPr id="101" name="Shape 76"/>
          <p:cNvSpPr/>
          <p:nvPr/>
        </p:nvSpPr>
        <p:spPr>
          <a:xfrm>
            <a:off x="2737104" y="8321040"/>
            <a:ext cx="2016000" cy="292608"/>
          </a:xfrm>
          <a:prstGeom prst="roundRect">
            <a:avLst>
              <a:gd name="adj" fmla="val 9375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02" name="Text 77"/>
          <p:cNvSpPr/>
          <p:nvPr/>
        </p:nvSpPr>
        <p:spPr>
          <a:xfrm>
            <a:off x="2862072" y="832104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$2M+/yr</a:t>
            </a:r>
            <a:endParaRPr lang="en-US" sz="1050" dirty="0"/>
          </a:p>
        </p:txBody>
      </p:sp>
      <p:sp>
        <p:nvSpPr>
          <p:cNvPr id="103" name="Text 78"/>
          <p:cNvSpPr/>
          <p:nvPr/>
        </p:nvSpPr>
        <p:spPr>
          <a:xfrm>
            <a:off x="3730752" y="836218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potential</a:t>
            </a:r>
            <a:endParaRPr lang="en-US" sz="650" dirty="0"/>
          </a:p>
        </p:txBody>
      </p:sp>
      <p:sp>
        <p:nvSpPr>
          <p:cNvPr id="104" name="Text 79"/>
          <p:cNvSpPr/>
          <p:nvPr/>
        </p:nvSpPr>
        <p:spPr>
          <a:xfrm>
            <a:off x="3730752" y="848106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critical asset protected</a:t>
            </a:r>
            <a:endParaRPr lang="en-US" sz="550" dirty="0"/>
          </a:p>
        </p:txBody>
      </p:sp>
      <p:sp>
        <p:nvSpPr>
          <p:cNvPr id="105" name="Shape 80"/>
          <p:cNvSpPr/>
          <p:nvPr/>
        </p:nvSpPr>
        <p:spPr>
          <a:xfrm>
            <a:off x="4887216" y="8321040"/>
            <a:ext cx="2016000" cy="292608"/>
          </a:xfrm>
          <a:prstGeom prst="roundRect">
            <a:avLst>
              <a:gd name="adj" fmla="val 9375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06" name="Text 81"/>
          <p:cNvSpPr/>
          <p:nvPr/>
        </p:nvSpPr>
        <p:spPr>
          <a:xfrm>
            <a:off x="5020056" y="832104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1050" dirty="0"/>
          </a:p>
        </p:txBody>
      </p:sp>
      <p:sp>
        <p:nvSpPr>
          <p:cNvPr id="107" name="Text 82"/>
          <p:cNvSpPr/>
          <p:nvPr/>
        </p:nvSpPr>
        <p:spPr>
          <a:xfrm>
            <a:off x="5888736" y="836218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 rate</a:t>
            </a:r>
            <a:endParaRPr lang="en-US" sz="650" dirty="0"/>
          </a:p>
        </p:txBody>
      </p:sp>
      <p:sp>
        <p:nvSpPr>
          <p:cNvPr id="108" name="Text 83"/>
          <p:cNvSpPr/>
          <p:nvPr/>
        </p:nvSpPr>
        <p:spPr>
          <a:xfrm>
            <a:off x="5888736" y="848106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 engineer can act on</a:t>
            </a:r>
            <a:endParaRPr lang="en-US" sz="550" dirty="0"/>
          </a:p>
        </p:txBody>
      </p:sp>
      <p:sp>
        <p:nvSpPr>
          <p:cNvPr id="109" name="Text 84"/>
          <p:cNvSpPr/>
          <p:nvPr/>
        </p:nvSpPr>
        <p:spPr>
          <a:xfrm>
            <a:off x="594360" y="8686800"/>
            <a:ext cx="6373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 </a:t>
            </a:r>
            <a:r>
              <a:rPr lang="en-US" sz="65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unplanned trips, controlled versus forced </a:t>
            </a:r>
            <a:r>
              <a:rPr lang="en-US" sz="650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shutdown, lead </a:t>
            </a:r>
            <a:r>
              <a:rPr lang="en-US" sz="65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false alert rate measured </a:t>
            </a:r>
            <a:r>
              <a:rPr lang="en-US" sz="650" dirty="0" smtClean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actual </a:t>
            </a:r>
            <a:r>
              <a:rPr lang="en-US" sz="65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data</a:t>
            </a:r>
            <a:endParaRPr lang="en-US" sz="650" dirty="0"/>
          </a:p>
        </p:txBody>
      </p:sp>
      <p:sp>
        <p:nvSpPr>
          <p:cNvPr id="110" name="Shape 85"/>
          <p:cNvSpPr/>
          <p:nvPr/>
        </p:nvSpPr>
        <p:spPr>
          <a:xfrm>
            <a:off x="411480" y="8970264"/>
            <a:ext cx="6739128" cy="886968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11" name="Shape 86"/>
          <p:cNvSpPr/>
          <p:nvPr/>
        </p:nvSpPr>
        <p:spPr>
          <a:xfrm>
            <a:off x="576072" y="9061704"/>
            <a:ext cx="237744" cy="237744"/>
          </a:xfrm>
          <a:prstGeom prst="ellipse">
            <a:avLst/>
          </a:prstGeom>
          <a:solidFill>
            <a:srgbClr val="E87A22"/>
          </a:solidFill>
          <a:ln/>
        </p:spPr>
      </p:sp>
      <p:pic>
        <p:nvPicPr>
          <p:cNvPr id="112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508" y="9121140"/>
            <a:ext cx="133502" cy="133502"/>
          </a:xfrm>
          <a:prstGeom prst="rect">
            <a:avLst/>
          </a:prstGeom>
        </p:spPr>
      </p:pic>
      <p:sp>
        <p:nvSpPr>
          <p:cNvPr id="113" name="Text 87"/>
          <p:cNvSpPr/>
          <p:nvPr/>
        </p:nvSpPr>
        <p:spPr>
          <a:xfrm>
            <a:off x="905256" y="903427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0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114" name="Shape 88"/>
          <p:cNvSpPr/>
          <p:nvPr/>
        </p:nvSpPr>
        <p:spPr>
          <a:xfrm>
            <a:off x="594360" y="9381744"/>
            <a:ext cx="1225296" cy="420624"/>
          </a:xfrm>
          <a:prstGeom prst="roundRect">
            <a:avLst>
              <a:gd name="adj" fmla="val 6522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15" name="Text 89"/>
          <p:cNvSpPr/>
          <p:nvPr/>
        </p:nvSpPr>
        <p:spPr>
          <a:xfrm>
            <a:off x="658368" y="9445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 connectivity</a:t>
            </a:r>
            <a:endParaRPr lang="en-US" sz="650" dirty="0"/>
          </a:p>
        </p:txBody>
      </p:sp>
      <p:sp>
        <p:nvSpPr>
          <p:cNvPr id="116" name="Text 90"/>
          <p:cNvSpPr/>
          <p:nvPr/>
        </p:nvSpPr>
        <p:spPr>
          <a:xfrm>
            <a:off x="658368" y="95874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and play with leading plant historians</a:t>
            </a:r>
            <a:endParaRPr lang="en-US" sz="600" dirty="0"/>
          </a:p>
        </p:txBody>
      </p:sp>
      <p:sp>
        <p:nvSpPr>
          <p:cNvPr id="117" name="Shape 91"/>
          <p:cNvSpPr/>
          <p:nvPr/>
        </p:nvSpPr>
        <p:spPr>
          <a:xfrm>
            <a:off x="1874520" y="9381744"/>
            <a:ext cx="1225296" cy="420624"/>
          </a:xfrm>
          <a:prstGeom prst="roundRect">
            <a:avLst>
              <a:gd name="adj" fmla="val 6522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18" name="Text 92"/>
          <p:cNvSpPr/>
          <p:nvPr/>
        </p:nvSpPr>
        <p:spPr>
          <a:xfrm>
            <a:off x="1938528" y="9445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650" dirty="0"/>
          </a:p>
        </p:txBody>
      </p:sp>
      <p:sp>
        <p:nvSpPr>
          <p:cNvPr id="119" name="Text 93"/>
          <p:cNvSpPr/>
          <p:nvPr/>
        </p:nvSpPr>
        <p:spPr>
          <a:xfrm>
            <a:off x="1938528" y="95874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models with CMMS/EAM history</a:t>
            </a:r>
            <a:endParaRPr lang="en-US" sz="600" dirty="0"/>
          </a:p>
        </p:txBody>
      </p:sp>
      <p:sp>
        <p:nvSpPr>
          <p:cNvPr id="120" name="Shape 94"/>
          <p:cNvSpPr/>
          <p:nvPr/>
        </p:nvSpPr>
        <p:spPr>
          <a:xfrm>
            <a:off x="3154680" y="9381744"/>
            <a:ext cx="1225296" cy="420624"/>
          </a:xfrm>
          <a:prstGeom prst="roundRect">
            <a:avLst>
              <a:gd name="adj" fmla="val 6522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21" name="Text 95"/>
          <p:cNvSpPr/>
          <p:nvPr/>
        </p:nvSpPr>
        <p:spPr>
          <a:xfrm>
            <a:off x="3218688" y="9445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reporting</a:t>
            </a:r>
            <a:endParaRPr lang="en-US" sz="650" dirty="0"/>
          </a:p>
        </p:txBody>
      </p:sp>
      <p:sp>
        <p:nvSpPr>
          <p:cNvPr id="122" name="Text 96"/>
          <p:cNvSpPr/>
          <p:nvPr/>
        </p:nvSpPr>
        <p:spPr>
          <a:xfrm>
            <a:off x="3218688" y="95874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daily reports with interactive trends</a:t>
            </a:r>
            <a:endParaRPr lang="en-US" sz="600" dirty="0"/>
          </a:p>
        </p:txBody>
      </p:sp>
      <p:sp>
        <p:nvSpPr>
          <p:cNvPr id="123" name="Shape 97"/>
          <p:cNvSpPr/>
          <p:nvPr/>
        </p:nvSpPr>
        <p:spPr>
          <a:xfrm>
            <a:off x="4434840" y="9381744"/>
            <a:ext cx="1225296" cy="420624"/>
          </a:xfrm>
          <a:prstGeom prst="roundRect">
            <a:avLst>
              <a:gd name="adj" fmla="val 6522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24" name="Text 98"/>
          <p:cNvSpPr/>
          <p:nvPr/>
        </p:nvSpPr>
        <p:spPr>
          <a:xfrm>
            <a:off x="4498848" y="9445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assistant</a:t>
            </a:r>
            <a:endParaRPr lang="en-US" sz="650" dirty="0"/>
          </a:p>
        </p:txBody>
      </p:sp>
      <p:sp>
        <p:nvSpPr>
          <p:cNvPr id="125" name="Text 99"/>
          <p:cNvSpPr/>
          <p:nvPr/>
        </p:nvSpPr>
        <p:spPr>
          <a:xfrm>
            <a:off x="4498848" y="95874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plant questions in the operating workflow</a:t>
            </a:r>
            <a:endParaRPr lang="en-US" sz="600" dirty="0"/>
          </a:p>
        </p:txBody>
      </p:sp>
      <p:sp>
        <p:nvSpPr>
          <p:cNvPr id="126" name="Shape 100"/>
          <p:cNvSpPr/>
          <p:nvPr/>
        </p:nvSpPr>
        <p:spPr>
          <a:xfrm>
            <a:off x="5715000" y="9381744"/>
            <a:ext cx="1225296" cy="420624"/>
          </a:xfrm>
          <a:prstGeom prst="roundRect">
            <a:avLst>
              <a:gd name="adj" fmla="val 6522"/>
            </a:avLst>
          </a:prstGeom>
          <a:solidFill>
            <a:srgbClr val="FAFBFD"/>
          </a:solidFill>
          <a:ln w="9525">
            <a:solidFill>
              <a:srgbClr val="DFE5EC"/>
            </a:solidFill>
            <a:prstDash val="solid"/>
          </a:ln>
        </p:spPr>
      </p:sp>
      <p:sp>
        <p:nvSpPr>
          <p:cNvPr id="127" name="Text 101"/>
          <p:cNvSpPr/>
          <p:nvPr/>
        </p:nvSpPr>
        <p:spPr>
          <a:xfrm>
            <a:off x="5779008" y="9445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5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dashboard</a:t>
            </a:r>
            <a:endParaRPr lang="en-US" sz="650" dirty="0"/>
          </a:p>
        </p:txBody>
      </p:sp>
      <p:sp>
        <p:nvSpPr>
          <p:cNvPr id="128" name="Text 102"/>
          <p:cNvSpPr/>
          <p:nvPr/>
        </p:nvSpPr>
        <p:spPr>
          <a:xfrm>
            <a:off x="5779008" y="95874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assemble the views their reliability team needs</a:t>
            </a:r>
            <a:endParaRPr lang="en-US" sz="600" dirty="0"/>
          </a:p>
        </p:txBody>
      </p:sp>
      <p:sp>
        <p:nvSpPr>
          <p:cNvPr id="129" name="Shape 103"/>
          <p:cNvSpPr/>
          <p:nvPr/>
        </p:nvSpPr>
        <p:spPr>
          <a:xfrm>
            <a:off x="411480" y="9921240"/>
            <a:ext cx="6739128" cy="512064"/>
          </a:xfrm>
          <a:prstGeom prst="roundRect">
            <a:avLst>
              <a:gd name="adj" fmla="val 10714"/>
            </a:avLst>
          </a:prstGeom>
          <a:solidFill>
            <a:srgbClr val="152232"/>
          </a:solidFill>
          <a:ln/>
        </p:spPr>
      </p:sp>
      <p:sp>
        <p:nvSpPr>
          <p:cNvPr id="130" name="Text 104"/>
          <p:cNvSpPr/>
          <p:nvPr/>
        </p:nvSpPr>
        <p:spPr>
          <a:xfrm>
            <a:off x="612648" y="9985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1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650" dirty="0"/>
          </a:p>
        </p:txBody>
      </p:sp>
      <p:sp>
        <p:nvSpPr>
          <p:cNvPr id="131" name="Text 105"/>
          <p:cNvSpPr/>
          <p:nvPr/>
        </p:nvSpPr>
        <p:spPr>
          <a:xfrm>
            <a:off x="612648" y="10113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Configured, validated and commissioned by Ingenero reliability engineers.</a:t>
            </a:r>
            <a:endParaRPr lang="en-US" sz="650" dirty="0"/>
          </a:p>
        </p:txBody>
      </p:sp>
      <p:sp>
        <p:nvSpPr>
          <p:cNvPr id="132" name="Text 106"/>
          <p:cNvSpPr/>
          <p:nvPr/>
        </p:nvSpPr>
        <p:spPr>
          <a:xfrm>
            <a:off x="2093976" y="9985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1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650" dirty="0"/>
          </a:p>
        </p:txBody>
      </p:sp>
      <p:sp>
        <p:nvSpPr>
          <p:cNvPr id="133" name="Text 107"/>
          <p:cNvSpPr/>
          <p:nvPr/>
        </p:nvSpPr>
        <p:spPr>
          <a:xfrm>
            <a:off x="2093976" y="10113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</a:t>
            </a:r>
            <a:r>
              <a:rPr lang="en-US" sz="650" dirty="0" smtClean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</a:t>
            </a:r>
            <a:r>
              <a:rPr lang="en-US" sz="65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build; selectable model depth; selectable sensor set</a:t>
            </a:r>
            <a:endParaRPr lang="en-US" sz="650" dirty="0"/>
          </a:p>
        </p:txBody>
      </p:sp>
      <p:sp>
        <p:nvSpPr>
          <p:cNvPr id="134" name="Text 108"/>
          <p:cNvSpPr/>
          <p:nvPr/>
        </p:nvSpPr>
        <p:spPr>
          <a:xfrm>
            <a:off x="3575304" y="99852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10" dirty="0">
                <a:solidFill>
                  <a:srgbClr val="E8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650" dirty="0"/>
          </a:p>
        </p:txBody>
      </p:sp>
      <p:sp>
        <p:nvSpPr>
          <p:cNvPr id="135" name="Text 109"/>
          <p:cNvSpPr/>
          <p:nvPr/>
        </p:nvSpPr>
        <p:spPr>
          <a:xfrm>
            <a:off x="3575304" y="10113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assets and sites reuse the configuration, with no/minimal rework.</a:t>
            </a:r>
            <a:endParaRPr lang="en-US" sz="650" dirty="0"/>
          </a:p>
        </p:txBody>
      </p:sp>
      <p:sp>
        <p:nvSpPr>
          <p:cNvPr id="136" name="Shape 110"/>
          <p:cNvSpPr/>
          <p:nvPr/>
        </p:nvSpPr>
        <p:spPr>
          <a:xfrm>
            <a:off x="4956048" y="10012680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E87A22"/>
          </a:solidFill>
          <a:ln/>
        </p:spPr>
      </p:sp>
      <p:sp>
        <p:nvSpPr>
          <p:cNvPr id="137" name="Text 111"/>
          <p:cNvSpPr/>
          <p:nvPr/>
        </p:nvSpPr>
        <p:spPr>
          <a:xfrm>
            <a:off x="4956048" y="10012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 a free trial: marketing@ingenero.com</a:t>
            </a:r>
            <a:endParaRPr lang="en-US" sz="800" dirty="0"/>
          </a:p>
        </p:txBody>
      </p:sp>
      <p:pic>
        <p:nvPicPr>
          <p:cNvPr id="138" name="Image 0" descr="preencoded.png"/>
          <p:cNvPicPr>
            <a:picLocks noChangeAspect="1"/>
          </p:cNvPicPr>
          <p:nvPr/>
        </p:nvPicPr>
        <p:blipFill rotWithShape="1">
          <a:blip r:embed="rId3"/>
          <a:srcRect l="64926" t="-1569" r="9828" b="13284"/>
          <a:stretch/>
        </p:blipFill>
        <p:spPr>
          <a:xfrm>
            <a:off x="4078655" y="251993"/>
            <a:ext cx="262251" cy="269215"/>
          </a:xfrm>
          <a:prstGeom prst="rect">
            <a:avLst/>
          </a:prstGeom>
        </p:spPr>
      </p:pic>
      <p:grpSp>
        <p:nvGrpSpPr>
          <p:cNvPr id="147" name="Group 146"/>
          <p:cNvGrpSpPr/>
          <p:nvPr/>
        </p:nvGrpSpPr>
        <p:grpSpPr>
          <a:xfrm>
            <a:off x="3854196" y="5710428"/>
            <a:ext cx="3172968" cy="137160"/>
            <a:chOff x="3831336" y="5695759"/>
            <a:chExt cx="3172968" cy="137160"/>
          </a:xfrm>
        </p:grpSpPr>
        <p:grpSp>
          <p:nvGrpSpPr>
            <p:cNvPr id="142" name="Group 141"/>
            <p:cNvGrpSpPr/>
            <p:nvPr/>
          </p:nvGrpSpPr>
          <p:grpSpPr>
            <a:xfrm>
              <a:off x="3831336" y="5695759"/>
              <a:ext cx="3172968" cy="137160"/>
              <a:chOff x="557784" y="5715000"/>
              <a:chExt cx="3172968" cy="137160"/>
            </a:xfrm>
          </p:grpSpPr>
          <p:sp>
            <p:nvSpPr>
              <p:cNvPr id="143" name="Shape 37"/>
              <p:cNvSpPr/>
              <p:nvPr/>
            </p:nvSpPr>
            <p:spPr>
              <a:xfrm>
                <a:off x="557784" y="5715000"/>
                <a:ext cx="3154680" cy="137160"/>
              </a:xfrm>
              <a:prstGeom prst="rect">
                <a:avLst/>
              </a:prstGeom>
              <a:solidFill>
                <a:srgbClr val="F7F9FB"/>
              </a:solidFill>
              <a:ln w="3175">
                <a:solidFill>
                  <a:srgbClr val="F7F9FB"/>
                </a:solidFill>
                <a:prstDash val="solid"/>
              </a:ln>
            </p:spPr>
          </p:sp>
          <p:sp>
            <p:nvSpPr>
              <p:cNvPr id="145" name="Text 38"/>
              <p:cNvSpPr/>
              <p:nvPr/>
            </p:nvSpPr>
            <p:spPr>
              <a:xfrm>
                <a:off x="786384" y="5715000"/>
                <a:ext cx="969264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600" b="1" dirty="0">
                    <a:solidFill>
                      <a:srgbClr val="15223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Failure Mode Identification</a:t>
                </a:r>
                <a:endParaRPr lang="en-US" sz="600" dirty="0"/>
              </a:p>
            </p:txBody>
          </p:sp>
          <p:sp>
            <p:nvSpPr>
              <p:cNvPr id="146" name="Text 39"/>
              <p:cNvSpPr/>
              <p:nvPr/>
            </p:nvSpPr>
            <p:spPr>
              <a:xfrm>
                <a:off x="1792224" y="5715000"/>
                <a:ext cx="1938528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500" i="1" dirty="0">
                    <a:solidFill>
                      <a:srgbClr val="56646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Correlates parameters against domain logic to name </a:t>
                </a:r>
                <a:r>
                  <a:rPr lang="en-US" sz="500" i="1" dirty="0" smtClean="0">
                    <a:solidFill>
                      <a:srgbClr val="56646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</a:t>
                </a:r>
                <a:r>
                  <a:rPr lang="en-US" sz="500" i="1" dirty="0">
                    <a:solidFill>
                      <a:srgbClr val="56646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failure mode</a:t>
                </a:r>
                <a:endParaRPr lang="en-US" sz="500" dirty="0"/>
              </a:p>
            </p:txBody>
          </p:sp>
        </p:grpSp>
        <p:pic>
          <p:nvPicPr>
            <p:cNvPr id="65" name="Image 13" descr="preencoded.png"/>
            <p:cNvPicPr>
              <a:picLocks noChangeAspect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>
            <a:xfrm>
              <a:off x="3905630" y="5708142"/>
              <a:ext cx="109728" cy="109728"/>
            </a:xfrm>
            <a:prstGeom prst="rect">
              <a:avLst/>
            </a:prstGeom>
          </p:spPr>
        </p:pic>
      </p:grpSp>
      <p:pic>
        <p:nvPicPr>
          <p:cNvPr id="157" name="Picture 1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551" y="7151756"/>
            <a:ext cx="3281652" cy="108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58" name="Picture 157"/>
          <p:cNvPicPr>
            <a:picLocks noChangeAspect="1"/>
          </p:cNvPicPr>
          <p:nvPr/>
        </p:nvPicPr>
        <p:blipFill rotWithShape="1">
          <a:blip r:embed="rId20"/>
          <a:srcRect t="15411"/>
          <a:stretch/>
        </p:blipFill>
        <p:spPr>
          <a:xfrm>
            <a:off x="4037457" y="7151756"/>
            <a:ext cx="2864400" cy="108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59" name="Picture 15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8" y="2331720"/>
            <a:ext cx="2918244" cy="1171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60" name="Picture 15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0936" y="3596148"/>
            <a:ext cx="2916936" cy="8219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61" name="Picture 16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44466" y="2331088"/>
            <a:ext cx="2941549" cy="11063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62" name="Picture 161"/>
          <p:cNvPicPr>
            <a:picLocks noChangeAspect="1"/>
          </p:cNvPicPr>
          <p:nvPr/>
        </p:nvPicPr>
        <p:blipFill rotWithShape="1">
          <a:blip r:embed="rId24"/>
          <a:srcRect b="22942"/>
          <a:stretch/>
        </p:blipFill>
        <p:spPr>
          <a:xfrm>
            <a:off x="4043160" y="3492334"/>
            <a:ext cx="2956572" cy="9764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558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Gupta</cp:lastModifiedBy>
  <cp:revision>13</cp:revision>
  <dcterms:created xsi:type="dcterms:W3CDTF">2026-08-19T09:31:57Z</dcterms:created>
  <dcterms:modified xsi:type="dcterms:W3CDTF">2026-08-26T15:27:35Z</dcterms:modified>
</cp:coreProperties>
</file>